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 id="2147483662" r:id="rId2"/>
  </p:sldMasterIdLst>
  <p:notesMasterIdLst>
    <p:notesMasterId r:id="rId72"/>
  </p:notesMasterIdLst>
  <p:sldIdLst>
    <p:sldId id="298" r:id="rId3"/>
    <p:sldId id="544" r:id="rId4"/>
    <p:sldId id="545" r:id="rId5"/>
    <p:sldId id="441" r:id="rId6"/>
    <p:sldId id="420" r:id="rId7"/>
    <p:sldId id="425" r:id="rId8"/>
    <p:sldId id="423" r:id="rId9"/>
    <p:sldId id="442" r:id="rId10"/>
    <p:sldId id="445" r:id="rId11"/>
    <p:sldId id="424" r:id="rId12"/>
    <p:sldId id="340" r:id="rId13"/>
    <p:sldId id="427" r:id="rId14"/>
    <p:sldId id="417" r:id="rId15"/>
    <p:sldId id="469" r:id="rId16"/>
    <p:sldId id="448" r:id="rId17"/>
    <p:sldId id="449" r:id="rId18"/>
    <p:sldId id="450" r:id="rId19"/>
    <p:sldId id="451" r:id="rId20"/>
    <p:sldId id="452" r:id="rId21"/>
    <p:sldId id="453" r:id="rId22"/>
    <p:sldId id="464" r:id="rId23"/>
    <p:sldId id="465" r:id="rId24"/>
    <p:sldId id="466" r:id="rId25"/>
    <p:sldId id="467" r:id="rId26"/>
    <p:sldId id="537" r:id="rId27"/>
    <p:sldId id="468" r:id="rId28"/>
    <p:sldId id="559" r:id="rId29"/>
    <p:sldId id="433" r:id="rId30"/>
    <p:sldId id="434" r:id="rId31"/>
    <p:sldId id="435" r:id="rId32"/>
    <p:sldId id="436" r:id="rId33"/>
    <p:sldId id="548" r:id="rId34"/>
    <p:sldId id="549" r:id="rId35"/>
    <p:sldId id="550" r:id="rId36"/>
    <p:sldId id="560" r:id="rId37"/>
    <p:sldId id="489" r:id="rId38"/>
    <p:sldId id="491" r:id="rId39"/>
    <p:sldId id="538" r:id="rId40"/>
    <p:sldId id="539" r:id="rId41"/>
    <p:sldId id="540" r:id="rId42"/>
    <p:sldId id="542" r:id="rId43"/>
    <p:sldId id="503" r:id="rId44"/>
    <p:sldId id="541" r:id="rId45"/>
    <p:sldId id="490" r:id="rId46"/>
    <p:sldId id="492" r:id="rId47"/>
    <p:sldId id="543" r:id="rId48"/>
    <p:sldId id="501" r:id="rId49"/>
    <p:sldId id="497" r:id="rId50"/>
    <p:sldId id="499" r:id="rId51"/>
    <p:sldId id="498" r:id="rId52"/>
    <p:sldId id="500" r:id="rId53"/>
    <p:sldId id="493" r:id="rId54"/>
    <p:sldId id="437" r:id="rId55"/>
    <p:sldId id="422" r:id="rId56"/>
    <p:sldId id="557" r:id="rId57"/>
    <p:sldId id="556" r:id="rId58"/>
    <p:sldId id="558" r:id="rId59"/>
    <p:sldId id="443" r:id="rId60"/>
    <p:sldId id="509" r:id="rId61"/>
    <p:sldId id="510" r:id="rId62"/>
    <p:sldId id="511" r:id="rId63"/>
    <p:sldId id="512" r:id="rId64"/>
    <p:sldId id="513" r:id="rId65"/>
    <p:sldId id="514" r:id="rId66"/>
    <p:sldId id="515" r:id="rId67"/>
    <p:sldId id="516" r:id="rId68"/>
    <p:sldId id="517" r:id="rId69"/>
    <p:sldId id="444" r:id="rId70"/>
    <p:sldId id="440" r:id="rId71"/>
  </p:sldIdLst>
  <p:sldSz cx="9144000" cy="5143500" type="screen16x9"/>
  <p:notesSz cx="6858000" cy="9144000"/>
  <p:embeddedFontLst>
    <p:embeddedFont>
      <p:font typeface="Tw Cen MT" panose="020B0602020104020603"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81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8E8C"/>
    <a:srgbClr val="00454E"/>
    <a:srgbClr val="66FF33"/>
    <a:srgbClr val="438E77"/>
    <a:srgbClr val="E6FAEB"/>
    <a:srgbClr val="ADD8AC"/>
    <a:srgbClr val="93C3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72535" autoAdjust="0"/>
  </p:normalViewPr>
  <p:slideViewPr>
    <p:cSldViewPr snapToGrid="0">
      <p:cViewPr varScale="1">
        <p:scale>
          <a:sx n="107" d="100"/>
          <a:sy n="107" d="100"/>
        </p:scale>
        <p:origin x="1680" y="102"/>
      </p:cViewPr>
      <p:guideLst>
        <p:guide orient="horz" pos="1620"/>
        <p:guide pos="2880"/>
        <p:guide pos="8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2.fntdata"/><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1.fntdata"/><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4.fntdata"/><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en-US" dirty="0" err="1"/>
              <a:t>Gevær</a:t>
            </a:r>
            <a:endParaRPr lang="en-US" dirty="0"/>
          </a:p>
        </p:txBody>
      </p:sp>
    </p:spTree>
    <p:extLst>
      <p:ext uri="{BB962C8B-B14F-4D97-AF65-F5344CB8AC3E}">
        <p14:creationId xmlns:p14="http://schemas.microsoft.com/office/powerpoint/2010/main" val="2758086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a:p>
            <a:r>
              <a:rPr lang="da-DK" dirty="0"/>
              <a:t>konkret: sociale medier, søgninger, billeder, nyheder </a:t>
            </a:r>
          </a:p>
          <a:p>
            <a:r>
              <a:rPr lang="da-DK" dirty="0"/>
              <a:t>mange møder AI uden at vide det </a:t>
            </a:r>
          </a:p>
          <a:p>
            <a:r>
              <a:rPr lang="da-DK" dirty="0"/>
              <a:t>Pointe: det handler lige så meget om at gennemskue som at bruge </a:t>
            </a:r>
          </a:p>
          <a:p>
            <a:r>
              <a:rPr lang="da-DK" dirty="0"/>
              <a:t>Kobling til senere: bias, </a:t>
            </a:r>
            <a:r>
              <a:rPr lang="da-DK" dirty="0" err="1"/>
              <a:t>deepfakes</a:t>
            </a:r>
            <a:r>
              <a:rPr lang="da-DK" dirty="0"/>
              <a:t>, hallucinationer </a:t>
            </a:r>
          </a:p>
          <a:p>
            <a:r>
              <a:rPr lang="da-DK" dirty="0"/>
              <a:t>Afslut: “Det her er en ny form for digital dannelse”</a:t>
            </a:r>
          </a:p>
          <a:p>
            <a:endParaRPr lang="en-US" dirty="0"/>
          </a:p>
        </p:txBody>
      </p:sp>
    </p:spTree>
    <p:extLst>
      <p:ext uri="{BB962C8B-B14F-4D97-AF65-F5344CB8AC3E}">
        <p14:creationId xmlns:p14="http://schemas.microsoft.com/office/powerpoint/2010/main" val="2195787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33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1652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da-DK" dirty="0"/>
              <a:t>Papegøjer har </a:t>
            </a:r>
            <a:r>
              <a:rPr lang="da-DK" dirty="0" err="1"/>
              <a:t>zygodactyle</a:t>
            </a:r>
            <a:r>
              <a:rPr lang="da-DK" dirty="0"/>
              <a:t> fødder (to tæer frem, to tilbage), hvilket gør dem i stand til at gribe mad og føre det op til næbbet – noget meget få fugle gør så avanceret. – Meget lig menneskers hænder, tommelfingeren</a:t>
            </a:r>
            <a:r>
              <a:rPr lang="da-DK" baseline="0" dirty="0"/>
              <a:t> og øvrige fingre</a:t>
            </a:r>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9783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A106-C978-9A32-F084-E68209DD619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FB7D3B2C-FF9D-9B59-8333-4368108E686A}"/>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BDFEC5D6-36DA-8975-4AB8-6A9F3922C75D}"/>
              </a:ext>
            </a:extLst>
          </p:cNvPr>
          <p:cNvSpPr>
            <a:spLocks noGrp="1"/>
          </p:cNvSpPr>
          <p:nvPr>
            <p:ph type="body" idx="1"/>
          </p:nvPr>
        </p:nvSpPr>
        <p:spPr/>
        <p:txBody>
          <a:bodyPr/>
          <a:lstStyle/>
          <a:p>
            <a:r>
              <a:rPr lang="da-DK" dirty="0"/>
              <a:t>AI er en papegøje</a:t>
            </a:r>
          </a:p>
          <a:p>
            <a:endParaRPr lang="da-DK" b="1" dirty="0"/>
          </a:p>
          <a:p>
            <a:r>
              <a:rPr lang="da-DK" b="1" dirty="0"/>
              <a:t>Gentager uden forståelse</a:t>
            </a:r>
            <a:r>
              <a:rPr lang="da-DK" dirty="0"/>
              <a:t> → forudsiger ord, “ved” ikke noget </a:t>
            </a:r>
          </a:p>
          <a:p>
            <a:r>
              <a:rPr lang="da-DK" b="1" dirty="0"/>
              <a:t>Trænet på det, den har hørt</a:t>
            </a:r>
            <a:r>
              <a:rPr lang="da-DK" dirty="0"/>
              <a:t> → afhængig af data </a:t>
            </a:r>
          </a:p>
          <a:p>
            <a:r>
              <a:rPr lang="da-DK" b="1" dirty="0"/>
              <a:t>Lyder klog</a:t>
            </a:r>
            <a:r>
              <a:rPr lang="da-DK" dirty="0"/>
              <a:t> → men kan tage fejl (hallucinationer) </a:t>
            </a:r>
          </a:p>
          <a:p>
            <a:r>
              <a:rPr lang="da-DK" b="1" dirty="0"/>
              <a:t>Gentager bias og fejl</a:t>
            </a:r>
            <a:r>
              <a:rPr lang="da-DK" dirty="0"/>
              <a:t> fra data </a:t>
            </a:r>
          </a:p>
          <a:p>
            <a:r>
              <a:rPr lang="da-DK" b="1" dirty="0"/>
              <a:t>Afhænger af spørgsmål</a:t>
            </a:r>
            <a:r>
              <a:rPr lang="da-DK" dirty="0"/>
              <a:t> → dårlige prompts = dårlige svar </a:t>
            </a:r>
          </a:p>
          <a:p>
            <a:r>
              <a:rPr lang="da-DK" b="1" dirty="0"/>
              <a:t>Ingen dømmekraft</a:t>
            </a:r>
            <a:r>
              <a:rPr lang="da-DK" dirty="0"/>
              <a:t> → forstår ikke konsekvenser </a:t>
            </a:r>
          </a:p>
          <a:p>
            <a:r>
              <a:rPr lang="da-DK" b="1" dirty="0"/>
              <a:t>Pointe:</a:t>
            </a:r>
            <a:r>
              <a:rPr lang="da-DK" dirty="0"/>
              <a:t> AI virker intelligent – men er det ikke.</a:t>
            </a:r>
            <a:br>
              <a:rPr lang="da-DK" dirty="0"/>
            </a:br>
            <a:r>
              <a:rPr lang="da-DK" b="1" dirty="0"/>
              <a:t>Ansvar ligger hos brugeren</a:t>
            </a:r>
            <a:r>
              <a:rPr lang="da-DK" dirty="0"/>
              <a:t>.</a:t>
            </a:r>
          </a:p>
          <a:p>
            <a:endParaRPr lang="da-DK" dirty="0"/>
          </a:p>
        </p:txBody>
      </p:sp>
      <p:sp>
        <p:nvSpPr>
          <p:cNvPr id="4" name="Pladsholder til dato 3">
            <a:extLst>
              <a:ext uri="{FF2B5EF4-FFF2-40B4-BE49-F238E27FC236}">
                <a16:creationId xmlns:a16="http://schemas.microsoft.com/office/drawing/2014/main" id="{DA94F69B-968A-A37E-9ACF-A742D05A6D4C}"/>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a:extLst>
              <a:ext uri="{FF2B5EF4-FFF2-40B4-BE49-F238E27FC236}">
                <a16:creationId xmlns:a16="http://schemas.microsoft.com/office/drawing/2014/main" id="{1E646522-7888-7C17-219A-3D1459CD3986}"/>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5243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FB9C-6EB7-EA2D-DF0C-2D92ABF02EB5}"/>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1D7B538-3FF0-ED9A-3FAA-721FC6500F8D}"/>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92F8E4EB-7C20-C0B4-219B-7CE64B99B7E0}"/>
              </a:ext>
            </a:extLst>
          </p:cNvPr>
          <p:cNvSpPr>
            <a:spLocks noGrp="1"/>
          </p:cNvSpPr>
          <p:nvPr>
            <p:ph type="body" idx="1"/>
          </p:nvPr>
        </p:nvSpPr>
        <p:spPr/>
        <p:txBody>
          <a:bodyPr/>
          <a:lstStyle/>
          <a:p>
            <a:r>
              <a:rPr lang="da-DK" sz="1100" b="0" i="0" u="none" strike="noStrike" cap="none" dirty="0">
                <a:solidFill>
                  <a:srgbClr val="000000"/>
                </a:solidFill>
                <a:effectLst/>
                <a:latin typeface="Arial"/>
                <a:ea typeface="Arial"/>
                <a:cs typeface="Arial"/>
                <a:sym typeface="Arial"/>
              </a:rPr>
              <a:t>Man lagde en </a:t>
            </a:r>
            <a:r>
              <a:rPr lang="da-DK" sz="1100" b="1" i="0" u="none" strike="noStrike" cap="none" dirty="0" err="1">
                <a:solidFill>
                  <a:srgbClr val="000000"/>
                </a:solidFill>
                <a:effectLst/>
                <a:latin typeface="Arial"/>
                <a:ea typeface="Arial"/>
                <a:cs typeface="Arial"/>
                <a:sym typeface="Arial"/>
              </a:rPr>
              <a:t>shem</a:t>
            </a:r>
            <a:r>
              <a:rPr lang="da-DK" sz="1100" b="0" i="0" u="none" strike="noStrike" cap="none" dirty="0">
                <a:solidFill>
                  <a:srgbClr val="000000"/>
                </a:solidFill>
                <a:effectLst/>
                <a:latin typeface="Arial"/>
                <a:ea typeface="Arial"/>
                <a:cs typeface="Arial"/>
                <a:sym typeface="Arial"/>
              </a:rPr>
              <a:t> i munden på en </a:t>
            </a:r>
            <a:r>
              <a:rPr lang="da-DK" sz="1100" b="0" i="0" u="none" strike="noStrike" cap="none" dirty="0" err="1">
                <a:solidFill>
                  <a:srgbClr val="000000"/>
                </a:solidFill>
                <a:effectLst/>
                <a:latin typeface="Arial"/>
                <a:ea typeface="Arial"/>
                <a:cs typeface="Arial"/>
                <a:sym typeface="Arial"/>
              </a:rPr>
              <a:t>golem</a:t>
            </a:r>
            <a:r>
              <a:rPr lang="da-DK" sz="1100" b="0" i="0" u="none" strike="noStrike" cap="none" dirty="0">
                <a:solidFill>
                  <a:srgbClr val="000000"/>
                </a:solidFill>
                <a:effectLst/>
                <a:latin typeface="Arial"/>
                <a:ea typeface="Arial"/>
                <a:cs typeface="Arial"/>
                <a:sym typeface="Arial"/>
              </a:rPr>
              <a:t> for at give den liv. </a:t>
            </a:r>
          </a:p>
          <a:p>
            <a:r>
              <a:rPr lang="da-DK" sz="1100" b="0" i="0" u="none" strike="noStrike" cap="none" dirty="0">
                <a:solidFill>
                  <a:srgbClr val="000000"/>
                </a:solidFill>
                <a:effectLst/>
                <a:latin typeface="Arial"/>
                <a:ea typeface="Arial"/>
                <a:cs typeface="Arial"/>
                <a:sym typeface="Arial"/>
              </a:rPr>
              <a:t>En </a:t>
            </a:r>
            <a:r>
              <a:rPr lang="da-DK" sz="1100" b="0" i="1" u="none" strike="noStrike" cap="none" dirty="0" err="1">
                <a:solidFill>
                  <a:srgbClr val="000000"/>
                </a:solidFill>
                <a:effectLst/>
                <a:latin typeface="Arial"/>
                <a:ea typeface="Arial"/>
                <a:cs typeface="Arial"/>
                <a:sym typeface="Arial"/>
              </a:rPr>
              <a:t>shem</a:t>
            </a:r>
            <a:r>
              <a:rPr lang="da-DK" sz="1100" b="0" i="0" u="none" strike="noStrike" cap="none" dirty="0">
                <a:solidFill>
                  <a:srgbClr val="000000"/>
                </a:solidFill>
                <a:effectLst/>
                <a:latin typeface="Arial"/>
                <a:ea typeface="Arial"/>
                <a:cs typeface="Arial"/>
                <a:sym typeface="Arial"/>
              </a:rPr>
              <a:t> er en lille seddel eller pergamentrulle med en hellig tekst, ofte bestående af et af Guds hemmelige navne eller ordet </a:t>
            </a:r>
            <a:r>
              <a:rPr lang="da-DK" sz="1100" b="0" i="1" u="none" strike="noStrike" cap="none" dirty="0" err="1">
                <a:solidFill>
                  <a:srgbClr val="000000"/>
                </a:solidFill>
                <a:effectLst/>
                <a:latin typeface="Arial"/>
                <a:ea typeface="Arial"/>
                <a:cs typeface="Arial"/>
                <a:sym typeface="Arial"/>
              </a:rPr>
              <a:t>Emet</a:t>
            </a:r>
            <a:r>
              <a:rPr lang="da-DK" sz="1100" b="0" i="0" u="none" strike="noStrike" cap="none" dirty="0">
                <a:solidFill>
                  <a:srgbClr val="000000"/>
                </a:solidFill>
                <a:effectLst/>
                <a:latin typeface="Arial"/>
                <a:ea typeface="Arial"/>
                <a:cs typeface="Arial"/>
                <a:sym typeface="Arial"/>
              </a:rPr>
              <a:t> (sandhed) skrevet på hebraisk</a:t>
            </a:r>
            <a:endParaRPr lang="da-DK" sz="1100" b="1" i="0" u="none" strike="noStrike" cap="none" dirty="0">
              <a:solidFill>
                <a:srgbClr val="000000"/>
              </a:solidFill>
              <a:effectLst/>
              <a:latin typeface="Arial"/>
              <a:ea typeface="Arial"/>
              <a:cs typeface="Arial"/>
              <a:sym typeface="Arial"/>
            </a:endParaRPr>
          </a:p>
          <a:p>
            <a:r>
              <a:rPr lang="da-DK" sz="1100" b="1" i="0" u="none" strike="noStrike" cap="none" dirty="0">
                <a:solidFill>
                  <a:srgbClr val="000000"/>
                </a:solidFill>
                <a:effectLst/>
                <a:latin typeface="Arial"/>
                <a:ea typeface="Arial"/>
                <a:cs typeface="Arial"/>
                <a:sym typeface="Arial"/>
              </a:rPr>
              <a:t>Middelalderen:</a:t>
            </a:r>
            <a:r>
              <a:rPr lang="da-DK" sz="1100" b="0" i="0" u="none" strike="noStrike" cap="none" dirty="0">
                <a:solidFill>
                  <a:srgbClr val="000000"/>
                </a:solidFill>
                <a:effectLst/>
                <a:latin typeface="Arial"/>
                <a:ea typeface="Arial"/>
                <a:cs typeface="Arial"/>
                <a:sym typeface="Arial"/>
              </a:rPr>
              <a:t> De tidligste fortællinger om skabelsen af en </a:t>
            </a:r>
            <a:r>
              <a:rPr lang="da-DK" sz="1100" b="0" i="0" u="none" strike="noStrike" cap="none" dirty="0" err="1">
                <a:solidFill>
                  <a:srgbClr val="000000"/>
                </a:solidFill>
                <a:effectLst/>
                <a:latin typeface="Arial"/>
                <a:ea typeface="Arial"/>
                <a:cs typeface="Arial"/>
                <a:sym typeface="Arial"/>
              </a:rPr>
              <a:t>Golem</a:t>
            </a:r>
            <a:r>
              <a:rPr lang="da-DK" sz="1100" b="0" i="0" u="none" strike="noStrike" cap="none" dirty="0">
                <a:solidFill>
                  <a:srgbClr val="000000"/>
                </a:solidFill>
                <a:effectLst/>
                <a:latin typeface="Arial"/>
                <a:ea typeface="Arial"/>
                <a:cs typeface="Arial"/>
                <a:sym typeface="Arial"/>
              </a:rPr>
              <a:t> (en menneskefigur skabt af ler/mudder) findes i jødisk mystik, især forbundet med </a:t>
            </a:r>
            <a:r>
              <a:rPr lang="da-DK" sz="1100" b="0" i="0" u="none" strike="noStrike" cap="none" dirty="0" err="1">
                <a:solidFill>
                  <a:srgbClr val="000000"/>
                </a:solidFill>
                <a:effectLst/>
                <a:latin typeface="Arial"/>
                <a:ea typeface="Arial"/>
                <a:cs typeface="Arial"/>
                <a:sym typeface="Arial"/>
              </a:rPr>
              <a:t>Kabbalah</a:t>
            </a:r>
            <a:r>
              <a:rPr lang="da-DK" sz="1100" b="0" i="0" u="none" strike="noStrike" cap="none" dirty="0">
                <a:solidFill>
                  <a:srgbClr val="000000"/>
                </a:solidFill>
                <a:effectLst/>
                <a:latin typeface="Arial"/>
                <a:ea typeface="Arial"/>
                <a:cs typeface="Arial"/>
                <a:sym typeface="Arial"/>
              </a:rPr>
              <a:t> i Spanien og Portugal, hvor lærde beskrev metoder til at give liv til dødt materiale gennem hellige navne.</a:t>
            </a:r>
          </a:p>
          <a:p>
            <a:r>
              <a:rPr lang="da-DK" sz="1100" b="1" i="0" u="none" strike="noStrike" cap="none" dirty="0">
                <a:solidFill>
                  <a:srgbClr val="000000"/>
                </a:solidFill>
                <a:effectLst/>
                <a:latin typeface="Arial"/>
                <a:ea typeface="Arial"/>
                <a:cs typeface="Arial"/>
                <a:sym typeface="Arial"/>
              </a:rPr>
              <a:t>1800-tallet:</a:t>
            </a:r>
            <a:r>
              <a:rPr lang="da-DK" sz="1100" b="0" i="0" u="none" strike="noStrike" cap="none" dirty="0">
                <a:solidFill>
                  <a:srgbClr val="000000"/>
                </a:solidFill>
                <a:effectLst/>
                <a:latin typeface="Arial"/>
                <a:ea typeface="Arial"/>
                <a:cs typeface="Arial"/>
                <a:sym typeface="Arial"/>
              </a:rPr>
              <a:t> Den mest berømte version af historien, hvor rabbineren </a:t>
            </a:r>
            <a:r>
              <a:rPr lang="da-DK" sz="1100" b="0" i="0" u="none" strike="noStrike" cap="none" dirty="0" err="1">
                <a:solidFill>
                  <a:srgbClr val="000000"/>
                </a:solidFill>
                <a:effectLst/>
                <a:latin typeface="Arial"/>
                <a:ea typeface="Arial"/>
                <a:cs typeface="Arial"/>
                <a:sym typeface="Arial"/>
              </a:rPr>
              <a:t>Loew</a:t>
            </a:r>
            <a:r>
              <a:rPr lang="da-DK" sz="1100" b="0" i="0" u="none" strike="noStrike" cap="none" dirty="0">
                <a:solidFill>
                  <a:srgbClr val="000000"/>
                </a:solidFill>
                <a:effectLst/>
                <a:latin typeface="Arial"/>
                <a:ea typeface="Arial"/>
                <a:cs typeface="Arial"/>
                <a:sym typeface="Arial"/>
              </a:rPr>
              <a:t> i Prag skaber en </a:t>
            </a:r>
            <a:r>
              <a:rPr lang="da-DK" sz="1100" b="0" i="0" u="none" strike="noStrike" cap="none" dirty="0" err="1">
                <a:solidFill>
                  <a:srgbClr val="000000"/>
                </a:solidFill>
                <a:effectLst/>
                <a:latin typeface="Arial"/>
                <a:ea typeface="Arial"/>
                <a:cs typeface="Arial"/>
                <a:sym typeface="Arial"/>
              </a:rPr>
              <a:t>golem</a:t>
            </a:r>
            <a:r>
              <a:rPr lang="da-DK" sz="1100" b="0" i="0" u="none" strike="noStrike" cap="none" dirty="0">
                <a:solidFill>
                  <a:srgbClr val="000000"/>
                </a:solidFill>
                <a:effectLst/>
                <a:latin typeface="Arial"/>
                <a:ea typeface="Arial"/>
                <a:cs typeface="Arial"/>
                <a:sym typeface="Arial"/>
              </a:rPr>
              <a:t> for at beskytte det jødiske samfund, stammer primært fra sagn, der blev nedskrevet i 1800-tallet.</a:t>
            </a:r>
          </a:p>
          <a:p>
            <a:endParaRPr lang="da-DK" dirty="0"/>
          </a:p>
        </p:txBody>
      </p:sp>
      <p:sp>
        <p:nvSpPr>
          <p:cNvPr id="4" name="Pladsholder til dato 3">
            <a:extLst>
              <a:ext uri="{FF2B5EF4-FFF2-40B4-BE49-F238E27FC236}">
                <a16:creationId xmlns:a16="http://schemas.microsoft.com/office/drawing/2014/main" id="{054C663C-A24F-76FF-7346-E75D20E8CADB}"/>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a:extLst>
              <a:ext uri="{FF2B5EF4-FFF2-40B4-BE49-F238E27FC236}">
                <a16:creationId xmlns:a16="http://schemas.microsoft.com/office/drawing/2014/main" id="{48E8C095-EEDB-8AA3-BA7D-7C734091C295}"/>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976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158750" indent="0">
              <a:buNone/>
            </a:pPr>
            <a:r>
              <a:rPr lang="da-DK" b="1" dirty="0"/>
              <a:t>Tyrkeren – historien kort</a:t>
            </a:r>
          </a:p>
          <a:p>
            <a:r>
              <a:rPr lang="da-DK" dirty="0"/>
              <a:t>Bygget i </a:t>
            </a:r>
            <a:r>
              <a:rPr lang="da-DK" b="1" dirty="0"/>
              <a:t>1770</a:t>
            </a:r>
            <a:r>
              <a:rPr lang="da-DK" dirty="0"/>
              <a:t> af Wolfgang von </a:t>
            </a:r>
            <a:r>
              <a:rPr lang="da-DK" dirty="0" err="1"/>
              <a:t>Kempelen</a:t>
            </a:r>
            <a:r>
              <a:rPr lang="da-DK" dirty="0"/>
              <a:t> </a:t>
            </a:r>
          </a:p>
          <a:p>
            <a:r>
              <a:rPr lang="da-DK" dirty="0"/>
              <a:t>Præsenteret som en </a:t>
            </a:r>
            <a:r>
              <a:rPr lang="da-DK" b="1" dirty="0"/>
              <a:t>mekanisk skakmaskine</a:t>
            </a:r>
            <a:r>
              <a:rPr lang="da-DK" dirty="0"/>
              <a:t> </a:t>
            </a:r>
          </a:p>
          <a:p>
            <a:r>
              <a:rPr lang="da-DK" dirty="0"/>
              <a:t>Kunne slå mennesker – selv stærke spillere </a:t>
            </a:r>
          </a:p>
          <a:p>
            <a:r>
              <a:rPr lang="da-DK" dirty="0"/>
              <a:t>Blev vist frem i Europa og USA</a:t>
            </a:r>
          </a:p>
          <a:p>
            <a:endParaRPr lang="da-DK" dirty="0"/>
          </a:p>
          <a:p>
            <a:pPr marL="158750" indent="0">
              <a:buNone/>
            </a:pPr>
            <a:r>
              <a:rPr lang="da-DK" b="1" dirty="0"/>
              <a:t>Hvorfor var den vigtig?</a:t>
            </a:r>
          </a:p>
          <a:p>
            <a:r>
              <a:rPr lang="da-DK" dirty="0"/>
              <a:t>Et af de første eksempler på “kunstig intelligens” (illusion) </a:t>
            </a:r>
          </a:p>
          <a:p>
            <a:r>
              <a:rPr lang="da-DK" dirty="0"/>
              <a:t>Viste hvor let mennesker kan tro på teknologi </a:t>
            </a:r>
          </a:p>
          <a:p>
            <a:r>
              <a:rPr lang="da-DK" dirty="0"/>
              <a:t>Sammenlignes ofte med moderne AI-debat</a:t>
            </a:r>
          </a:p>
          <a:p>
            <a:pPr marL="158750" indent="0">
              <a:buNone/>
            </a:pPr>
            <a:endParaRPr lang="da-DK" b="0" dirty="0"/>
          </a:p>
          <a:p>
            <a:pPr marL="158750" indent="0">
              <a:buNone/>
            </a:pPr>
            <a:r>
              <a:rPr lang="da-DK" b="1" dirty="0"/>
              <a:t>Hvordan virkede den? (hemmeligheden)</a:t>
            </a:r>
          </a:p>
          <a:p>
            <a:r>
              <a:rPr lang="da-DK" dirty="0"/>
              <a:t>Der sad </a:t>
            </a:r>
            <a:r>
              <a:rPr lang="da-DK" b="1" dirty="0"/>
              <a:t>et menneske gemt inde i maskinen</a:t>
            </a:r>
            <a:r>
              <a:rPr lang="da-DK" dirty="0"/>
              <a:t> </a:t>
            </a:r>
          </a:p>
          <a:p>
            <a:r>
              <a:rPr lang="da-DK" dirty="0"/>
              <a:t>Operatøren styrede brikkerne indefra </a:t>
            </a:r>
          </a:p>
          <a:p>
            <a:r>
              <a:rPr lang="da-DK" dirty="0"/>
              <a:t>Skjulte rum og mekanik gjorde det svært at opdage </a:t>
            </a:r>
          </a:p>
          <a:p>
            <a:r>
              <a:rPr lang="da-DK" dirty="0"/>
              <a:t>Publikum blev bevidst snydt</a:t>
            </a:r>
          </a:p>
          <a:p>
            <a:endParaRPr lang="da-DK" dirty="0"/>
          </a:p>
          <a:p>
            <a:pPr marL="158750" indent="0">
              <a:buNone/>
            </a:pPr>
            <a:r>
              <a:rPr lang="da-DK" b="1" dirty="0"/>
              <a:t>Perspektiv til din undervisning</a:t>
            </a:r>
          </a:p>
          <a:p>
            <a:r>
              <a:rPr lang="da-DK" dirty="0"/>
              <a:t>Folk troede maskinen “tænkte” </a:t>
            </a:r>
          </a:p>
          <a:p>
            <a:r>
              <a:rPr lang="da-DK" dirty="0"/>
              <a:t>I virkeligheden var det et menneske → ligesom en illusion </a:t>
            </a:r>
          </a:p>
          <a:p>
            <a:r>
              <a:rPr lang="da-DK" dirty="0"/>
              <a:t>God kobling til AI i dag: </a:t>
            </a:r>
          </a:p>
          <a:p>
            <a:pPr lvl="1"/>
            <a:r>
              <a:rPr lang="da-DK" dirty="0"/>
              <a:t>Ser intelligent ud </a:t>
            </a:r>
          </a:p>
          <a:p>
            <a:pPr lvl="1"/>
            <a:r>
              <a:rPr lang="da-DK" dirty="0"/>
              <a:t>Men bygger på skjulte processer</a:t>
            </a:r>
          </a:p>
          <a:p>
            <a:pPr marL="158750" indent="0">
              <a:buNone/>
            </a:pPr>
            <a:endParaRPr lang="da-DK" dirty="0"/>
          </a:p>
          <a:p>
            <a:endParaRPr lang="da-DK" dirty="0"/>
          </a:p>
          <a:p>
            <a:endParaRPr lang="da-DK" dirty="0"/>
          </a:p>
          <a:p>
            <a:endParaRPr lang="en-US" dirty="0"/>
          </a:p>
        </p:txBody>
      </p:sp>
    </p:spTree>
    <p:extLst>
      <p:ext uri="{BB962C8B-B14F-4D97-AF65-F5344CB8AC3E}">
        <p14:creationId xmlns:p14="http://schemas.microsoft.com/office/powerpoint/2010/main" val="1748842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Introduktion: AI er ikke nyt. Udviklet fra simple regelsystemer til avanceret generativ AI. Sæt scenen for resten.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7560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Starten på AI. Turing stiller spørgsmålet: Kan maskiner tænke? Fokus på regler og logik.</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8473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Tidlige</a:t>
            </a:r>
            <a:r>
              <a:rPr dirty="0"/>
              <a:t> programmer </a:t>
            </a:r>
            <a:r>
              <a:rPr dirty="0" err="1"/>
              <a:t>kunne</a:t>
            </a:r>
            <a:r>
              <a:rPr dirty="0"/>
              <a:t> </a:t>
            </a:r>
            <a:r>
              <a:rPr dirty="0" err="1"/>
              <a:t>bevise</a:t>
            </a:r>
            <a:r>
              <a:rPr dirty="0"/>
              <a:t> </a:t>
            </a:r>
            <a:r>
              <a:rPr dirty="0" err="1"/>
              <a:t>teoremer</a:t>
            </a:r>
            <a:r>
              <a:rPr dirty="0"/>
              <a:t>. Intelligent </a:t>
            </a:r>
            <a:r>
              <a:rPr dirty="0" err="1"/>
              <a:t>adfærd</a:t>
            </a:r>
            <a:r>
              <a:rPr dirty="0"/>
              <a:t> </a:t>
            </a:r>
            <a:r>
              <a:rPr dirty="0" err="1"/>
              <a:t>gennem</a:t>
            </a:r>
            <a:r>
              <a:rPr dirty="0"/>
              <a:t> </a:t>
            </a:r>
            <a:r>
              <a:rPr dirty="0" err="1"/>
              <a:t>regler</a:t>
            </a:r>
            <a:r>
              <a:rPr dirty="0"/>
              <a:t>.</a:t>
            </a:r>
            <a:endParaRPr lang="en-US" dirty="0"/>
          </a:p>
          <a:p>
            <a:r>
              <a:rPr lang="en-US" dirty="0" err="1"/>
              <a:t>Hvis</a:t>
            </a:r>
            <a:r>
              <a:rPr lang="en-US" dirty="0"/>
              <a:t> A</a:t>
            </a:r>
            <a:r>
              <a:rPr lang="en-US" baseline="0" dirty="0"/>
              <a:t> = B, </a:t>
            </a:r>
            <a:r>
              <a:rPr lang="en-US" baseline="0" dirty="0" err="1"/>
              <a:t>udfør</a:t>
            </a:r>
            <a:r>
              <a:rPr lang="en-US" baseline="0" dirty="0"/>
              <a:t> C</a:t>
            </a:r>
          </a:p>
          <a:p>
            <a:r>
              <a:rPr lang="en-US" baseline="0" dirty="0" err="1"/>
              <a:t>Hvis</a:t>
            </a:r>
            <a:r>
              <a:rPr lang="en-US" baseline="0" dirty="0"/>
              <a:t> B = C, </a:t>
            </a:r>
            <a:r>
              <a:rPr lang="en-US" baseline="0" dirty="0" err="1"/>
              <a:t>udfør</a:t>
            </a:r>
            <a:r>
              <a:rPr lang="en-US" baseline="0" dirty="0"/>
              <a:t> A</a:t>
            </a:r>
          </a:p>
          <a:p>
            <a:r>
              <a:rPr lang="en-US" baseline="0" dirty="0" err="1"/>
              <a:t>Helt</a:t>
            </a:r>
            <a:r>
              <a:rPr lang="en-US" baseline="0" dirty="0"/>
              <a:t> simple </a:t>
            </a:r>
            <a:r>
              <a:rPr lang="en-US" baseline="0" dirty="0" err="1"/>
              <a:t>matematiske</a:t>
            </a:r>
            <a:r>
              <a:rPr lang="en-US" baseline="0" dirty="0"/>
              <a:t> </a:t>
            </a:r>
            <a:r>
              <a:rPr lang="en-US" baseline="0" dirty="0" err="1"/>
              <a:t>løsninger</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13559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Systemer kunne ikke tilpasse sig. Alt skulle programmeres manuelt.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89744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Forsøg</a:t>
            </a:r>
            <a:r>
              <a:rPr dirty="0"/>
              <a:t> </a:t>
            </a:r>
            <a:r>
              <a:rPr dirty="0" err="1"/>
              <a:t>på</a:t>
            </a:r>
            <a:r>
              <a:rPr dirty="0"/>
              <a:t> at </a:t>
            </a:r>
            <a:r>
              <a:rPr dirty="0" err="1"/>
              <a:t>kopiere</a:t>
            </a:r>
            <a:r>
              <a:rPr dirty="0"/>
              <a:t> </a:t>
            </a:r>
            <a:r>
              <a:rPr dirty="0" err="1"/>
              <a:t>eksperter</a:t>
            </a:r>
            <a:r>
              <a:rPr dirty="0"/>
              <a:t>. </a:t>
            </a:r>
            <a:r>
              <a:rPr dirty="0" err="1"/>
              <a:t>Problemer</a:t>
            </a:r>
            <a:r>
              <a:rPr dirty="0"/>
              <a:t> med </a:t>
            </a:r>
            <a:r>
              <a:rPr dirty="0" err="1"/>
              <a:t>vedligeholdelse</a:t>
            </a:r>
            <a:r>
              <a:rPr dirty="0"/>
              <a:t> → </a:t>
            </a:r>
            <a:r>
              <a:rPr dirty="0" err="1"/>
              <a:t>fald</a:t>
            </a:r>
            <a:r>
              <a:rPr dirty="0"/>
              <a:t> </a:t>
            </a:r>
            <a:r>
              <a:rPr dirty="0" err="1"/>
              <a:t>i</a:t>
            </a:r>
            <a:r>
              <a:rPr dirty="0"/>
              <a:t> </a:t>
            </a:r>
            <a:r>
              <a:rPr dirty="0" err="1"/>
              <a:t>interesse</a:t>
            </a:r>
            <a:r>
              <a:rPr dirty="0"/>
              <a:t>.</a:t>
            </a:r>
            <a:endParaRPr lang="en-US" dirty="0"/>
          </a:p>
          <a:p>
            <a:r>
              <a:rPr lang="en-US" dirty="0"/>
              <a:t>Et </a:t>
            </a:r>
            <a:r>
              <a:rPr lang="en-US" dirty="0" err="1"/>
              <a:t>ekspertsystem</a:t>
            </a:r>
            <a:r>
              <a:rPr lang="en-US" dirty="0"/>
              <a:t> </a:t>
            </a:r>
            <a:r>
              <a:rPr lang="en-US" dirty="0" err="1"/>
              <a:t>er</a:t>
            </a:r>
            <a:r>
              <a:rPr lang="en-US" dirty="0"/>
              <a:t> et </a:t>
            </a:r>
            <a:r>
              <a:rPr lang="en-US" dirty="0" err="1"/>
              <a:t>computersystem</a:t>
            </a:r>
            <a:r>
              <a:rPr lang="en-US" dirty="0"/>
              <a:t>, der </a:t>
            </a:r>
            <a:r>
              <a:rPr lang="en-US" dirty="0" err="1"/>
              <a:t>anvender</a:t>
            </a:r>
            <a:r>
              <a:rPr lang="en-US" dirty="0"/>
              <a:t> </a:t>
            </a:r>
            <a:r>
              <a:rPr lang="en-US" dirty="0" err="1"/>
              <a:t>en</a:t>
            </a:r>
            <a:r>
              <a:rPr lang="en-US" dirty="0"/>
              <a:t> </a:t>
            </a:r>
            <a:r>
              <a:rPr lang="en-US" dirty="0" err="1"/>
              <a:t>vidensbase</a:t>
            </a:r>
            <a:r>
              <a:rPr lang="en-US" dirty="0"/>
              <a:t> </a:t>
            </a:r>
            <a:r>
              <a:rPr lang="en-US" dirty="0" err="1"/>
              <a:t>og</a:t>
            </a:r>
            <a:r>
              <a:rPr lang="en-US" dirty="0"/>
              <a:t> </a:t>
            </a:r>
            <a:r>
              <a:rPr lang="en-US" dirty="0" err="1"/>
              <a:t>regler</a:t>
            </a:r>
            <a:r>
              <a:rPr lang="en-US" dirty="0"/>
              <a:t> (</a:t>
            </a:r>
            <a:r>
              <a:rPr lang="en-US" dirty="0" err="1"/>
              <a:t>ofte</a:t>
            </a:r>
            <a:r>
              <a:rPr lang="en-US" dirty="0"/>
              <a:t> if-then) </a:t>
            </a:r>
            <a:r>
              <a:rPr lang="en-US" dirty="0" err="1"/>
              <a:t>til</a:t>
            </a:r>
            <a:r>
              <a:rPr lang="en-US" dirty="0"/>
              <a:t> at </a:t>
            </a:r>
            <a:r>
              <a:rPr lang="en-US" dirty="0" err="1"/>
              <a:t>efterligne</a:t>
            </a:r>
            <a:r>
              <a:rPr lang="en-US" dirty="0"/>
              <a:t> </a:t>
            </a:r>
            <a:r>
              <a:rPr lang="en-US" dirty="0" err="1"/>
              <a:t>beslutninger</a:t>
            </a:r>
            <a:r>
              <a:rPr lang="en-US" dirty="0"/>
              <a:t> </a:t>
            </a:r>
            <a:r>
              <a:rPr lang="en-US" dirty="0" err="1"/>
              <a:t>fra</a:t>
            </a:r>
            <a:r>
              <a:rPr lang="en-US" dirty="0"/>
              <a:t> </a:t>
            </a:r>
            <a:r>
              <a:rPr lang="en-US" dirty="0" err="1"/>
              <a:t>en</a:t>
            </a:r>
            <a:r>
              <a:rPr lang="en-US" dirty="0"/>
              <a:t> </a:t>
            </a:r>
            <a:r>
              <a:rPr lang="en-US" dirty="0" err="1"/>
              <a:t>menneskelig</a:t>
            </a:r>
            <a:r>
              <a:rPr lang="en-US" dirty="0"/>
              <a:t> </a:t>
            </a:r>
            <a:r>
              <a:rPr lang="en-US" dirty="0" err="1"/>
              <a:t>ekspert</a:t>
            </a:r>
            <a:r>
              <a:rPr lang="en-US" dirty="0"/>
              <a:t> </a:t>
            </a:r>
            <a:r>
              <a:rPr lang="en-US" dirty="0" err="1"/>
              <a:t>inden</a:t>
            </a:r>
            <a:r>
              <a:rPr lang="en-US" dirty="0"/>
              <a:t> for et </a:t>
            </a:r>
            <a:r>
              <a:rPr lang="en-US" dirty="0" err="1"/>
              <a:t>specifikt</a:t>
            </a:r>
            <a:r>
              <a:rPr lang="en-US" dirty="0"/>
              <a:t> </a:t>
            </a:r>
            <a:r>
              <a:rPr lang="en-US" dirty="0" err="1"/>
              <a:t>område</a:t>
            </a:r>
            <a:r>
              <a:rPr lang="en-US" dirty="0"/>
              <a:t>.</a:t>
            </a:r>
          </a:p>
          <a:p>
            <a:r>
              <a:rPr lang="en-US" dirty="0"/>
              <a:t>Et </a:t>
            </a:r>
            <a:r>
              <a:rPr lang="en-US" dirty="0" err="1"/>
              <a:t>ekspertsystem</a:t>
            </a:r>
            <a:r>
              <a:rPr lang="en-US" dirty="0"/>
              <a:t> </a:t>
            </a:r>
            <a:r>
              <a:rPr lang="en-US" dirty="0" err="1"/>
              <a:t>er</a:t>
            </a:r>
            <a:r>
              <a:rPr lang="en-US" dirty="0"/>
              <a:t> et </a:t>
            </a:r>
            <a:r>
              <a:rPr lang="en-US" dirty="0" err="1"/>
              <a:t>regelbaseret</a:t>
            </a:r>
            <a:r>
              <a:rPr lang="en-US" dirty="0"/>
              <a:t> system, der </a:t>
            </a:r>
            <a:r>
              <a:rPr lang="en-US" dirty="0" err="1"/>
              <a:t>efterligner</a:t>
            </a:r>
            <a:r>
              <a:rPr lang="en-US" dirty="0"/>
              <a:t> </a:t>
            </a:r>
            <a:r>
              <a:rPr lang="en-US" dirty="0" err="1"/>
              <a:t>en</a:t>
            </a:r>
            <a:r>
              <a:rPr lang="en-US" dirty="0"/>
              <a:t> </a:t>
            </a:r>
            <a:r>
              <a:rPr lang="en-US" dirty="0" err="1"/>
              <a:t>eksperts</a:t>
            </a:r>
            <a:r>
              <a:rPr lang="en-US" dirty="0"/>
              <a:t> </a:t>
            </a:r>
            <a:r>
              <a:rPr lang="en-US" dirty="0" err="1"/>
              <a:t>beslutninger</a:t>
            </a:r>
            <a:endParaRPr lang="en-US" dirty="0"/>
          </a:p>
          <a:p>
            <a:r>
              <a:rPr lang="da-DK" b="1" dirty="0"/>
              <a:t>MYCIN</a:t>
            </a:r>
            <a:r>
              <a:rPr lang="da-DK" dirty="0"/>
              <a:t> var et af de mest kendte </a:t>
            </a:r>
            <a:r>
              <a:rPr lang="da-DK" b="1" dirty="0"/>
              <a:t>ekspertsystemer fra 1970’erne</a:t>
            </a:r>
            <a:r>
              <a:rPr lang="da-DK" dirty="0"/>
              <a:t>, udviklet på Stanford.</a:t>
            </a:r>
          </a:p>
          <a:p>
            <a:r>
              <a:rPr lang="da-DK" b="1" dirty="0"/>
              <a:t>Kort fortalt: </a:t>
            </a:r>
            <a:r>
              <a:rPr lang="da-DK" dirty="0"/>
              <a:t>Et computerprogram, der hjalp læger med at diagnosticere bakterielle infektioner og foreslå antibiotikabehandling.</a:t>
            </a:r>
          </a:p>
          <a:p>
            <a:r>
              <a:rPr lang="da-DK" dirty="0"/>
              <a:t>Brugte et ”if-</a:t>
            </a:r>
            <a:r>
              <a:rPr lang="da-DK" dirty="0" err="1"/>
              <a:t>then</a:t>
            </a:r>
            <a:r>
              <a:rPr lang="da-DK" dirty="0"/>
              <a:t>” system – baseret på 450 opsatte regler</a:t>
            </a:r>
          </a:p>
          <a:p>
            <a:pPr lvl="1"/>
            <a:r>
              <a:rPr lang="da-DK" dirty="0"/>
              <a:t>Stillede</a:t>
            </a:r>
            <a:r>
              <a:rPr lang="da-DK" baseline="0" dirty="0"/>
              <a:t> læger spørgsmål til symptomer </a:t>
            </a:r>
            <a:r>
              <a:rPr lang="da-DK" baseline="0" dirty="0" err="1"/>
              <a:t>osv</a:t>
            </a:r>
            <a:endParaRPr lang="da-DK" baseline="0" dirty="0"/>
          </a:p>
          <a:p>
            <a:pPr lvl="1"/>
            <a:r>
              <a:rPr lang="da-DK" baseline="0" dirty="0"/>
              <a:t>Gav bud på diagnose og behandling</a:t>
            </a:r>
          </a:p>
          <a:p>
            <a:pPr lvl="1"/>
            <a:r>
              <a:rPr lang="da-DK" baseline="0" dirty="0"/>
              <a:t>Delvist forklare sin ”beslutning”</a:t>
            </a:r>
          </a:p>
          <a:p>
            <a:pPr lvl="0"/>
            <a:r>
              <a:rPr lang="da-DK" baseline="0" dirty="0"/>
              <a:t>MYCIN viste sig at være bedre statistisk set end datidens læger til at stille diagnoser og foreslå behandlinger</a:t>
            </a:r>
          </a:p>
          <a:p>
            <a:pPr lvl="1"/>
            <a:r>
              <a:rPr lang="da-DK" baseline="0" dirty="0"/>
              <a:t>Var svært at vedligeholde</a:t>
            </a:r>
          </a:p>
          <a:p>
            <a:pPr lvl="1"/>
            <a:r>
              <a:rPr lang="da-DK" baseline="0" dirty="0"/>
              <a:t>Kunne ikke skaleres</a:t>
            </a:r>
          </a:p>
          <a:p>
            <a:pPr lvl="1"/>
            <a:r>
              <a:rPr lang="da-DK" baseline="0" dirty="0"/>
              <a:t>Blev aldrig brugt </a:t>
            </a:r>
            <a:r>
              <a:rPr lang="da-DK" baseline="0" dirty="0">
                <a:sym typeface="Wingdings" panose="05000000000000000000" pitchFamily="2" charset="2"/>
              </a:rPr>
              <a:t> pga. </a:t>
            </a:r>
            <a:r>
              <a:rPr lang="da-DK" b="1" baseline="0" dirty="0">
                <a:sym typeface="Wingdings" panose="05000000000000000000" pitchFamily="2" charset="2"/>
              </a:rPr>
              <a:t>ansvar, tillid og etik</a:t>
            </a:r>
          </a:p>
          <a:p>
            <a:pPr lvl="2"/>
            <a:r>
              <a:rPr lang="da-DK" b="1" baseline="0" dirty="0">
                <a:sym typeface="Wingdings" panose="05000000000000000000" pitchFamily="2" charset="2"/>
              </a:rPr>
              <a:t>Måske også snobberi</a:t>
            </a:r>
            <a:endParaRPr lang="da-DK"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8995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Systemer kunne ikke følge med ændringer i økonomi og svindel.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80173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Paradigmeskift</a:t>
            </a:r>
            <a:r>
              <a:rPr dirty="0"/>
              <a:t>: AI </a:t>
            </a:r>
            <a:r>
              <a:rPr dirty="0" err="1"/>
              <a:t>lærer</a:t>
            </a:r>
            <a:r>
              <a:rPr dirty="0"/>
              <a:t> </a:t>
            </a:r>
            <a:r>
              <a:rPr dirty="0" err="1"/>
              <a:t>selv</a:t>
            </a:r>
            <a:r>
              <a:rPr dirty="0"/>
              <a:t> </a:t>
            </a:r>
            <a:r>
              <a:rPr dirty="0" err="1"/>
              <a:t>i</a:t>
            </a:r>
            <a:r>
              <a:rPr dirty="0"/>
              <a:t> </a:t>
            </a:r>
            <a:r>
              <a:rPr dirty="0" err="1"/>
              <a:t>stedet</a:t>
            </a:r>
            <a:r>
              <a:rPr dirty="0"/>
              <a:t> for at </a:t>
            </a:r>
            <a:r>
              <a:rPr dirty="0" err="1"/>
              <a:t>blive</a:t>
            </a:r>
            <a:r>
              <a:rPr dirty="0"/>
              <a:t> </a:t>
            </a:r>
            <a:r>
              <a:rPr dirty="0" err="1"/>
              <a:t>programmeret</a:t>
            </a:r>
            <a:r>
              <a:rPr dirty="0"/>
              <a:t>.</a:t>
            </a:r>
            <a:endParaRPr lang="en-US" dirty="0"/>
          </a:p>
          <a:p>
            <a:r>
              <a:rPr lang="en-US" dirty="0"/>
              <a:t>AI’s bud </a:t>
            </a:r>
            <a:r>
              <a:rPr lang="en-US" dirty="0" err="1"/>
              <a:t>på</a:t>
            </a:r>
            <a:r>
              <a:rPr lang="en-US" dirty="0"/>
              <a:t> machine learning – data I </a:t>
            </a:r>
            <a:r>
              <a:rPr lang="en-US" dirty="0" err="1"/>
              <a:t>bølger</a:t>
            </a:r>
            <a:r>
              <a:rPr lang="en-US" dirty="0"/>
              <a:t> – et </a:t>
            </a:r>
            <a:r>
              <a:rPr lang="en-US" dirty="0" err="1"/>
              <a:t>hav</a:t>
            </a:r>
            <a:r>
              <a:rPr lang="en-US" dirty="0"/>
              <a:t> </a:t>
            </a:r>
            <a:r>
              <a:rPr lang="en-US" dirty="0" err="1"/>
              <a:t>af</a:t>
            </a:r>
            <a:r>
              <a:rPr lang="en-US" dirty="0"/>
              <a:t> data</a:t>
            </a:r>
          </a:p>
          <a:p>
            <a:endParaRPr lang="en-US" dirty="0"/>
          </a:p>
          <a:p>
            <a:r>
              <a:rPr lang="da-DK" dirty="0"/>
              <a:t>Lærer mønstre og sammenhænge ud fra data </a:t>
            </a:r>
          </a:p>
          <a:p>
            <a:r>
              <a:rPr lang="da-DK" dirty="0"/>
              <a:t>Bruger det lærte til at lave forudsigelser eller beslutninger </a:t>
            </a:r>
          </a:p>
          <a:p>
            <a:r>
              <a:rPr lang="da-DK" dirty="0"/>
              <a:t>Bliver bedre over tid, når det får mere data</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5769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Gennembrud med neurale netværk. Muliggør tale, billede og tekst-genkendelse.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36690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Udvikling</a:t>
            </a:r>
            <a:r>
              <a:rPr dirty="0"/>
              <a:t> </a:t>
            </a:r>
            <a:r>
              <a:rPr dirty="0" err="1"/>
              <a:t>fra</a:t>
            </a:r>
            <a:r>
              <a:rPr dirty="0"/>
              <a:t> </a:t>
            </a:r>
            <a:r>
              <a:rPr dirty="0" err="1"/>
              <a:t>statistisk</a:t>
            </a:r>
            <a:r>
              <a:rPr dirty="0"/>
              <a:t> </a:t>
            </a:r>
            <a:r>
              <a:rPr dirty="0" err="1"/>
              <a:t>til</a:t>
            </a:r>
            <a:r>
              <a:rPr dirty="0"/>
              <a:t> neural </a:t>
            </a:r>
            <a:r>
              <a:rPr dirty="0" err="1"/>
              <a:t>oversættelse</a:t>
            </a:r>
            <a:r>
              <a:rPr dirty="0"/>
              <a:t>. </a:t>
            </a:r>
            <a:r>
              <a:rPr dirty="0" err="1"/>
              <a:t>Stor</a:t>
            </a:r>
            <a:r>
              <a:rPr dirty="0"/>
              <a:t> </a:t>
            </a:r>
            <a:r>
              <a:rPr dirty="0" err="1"/>
              <a:t>kvalitetsforbedring</a:t>
            </a:r>
            <a:r>
              <a:rPr dirty="0"/>
              <a:t>.</a:t>
            </a:r>
            <a:endParaRPr lang="en-US" dirty="0"/>
          </a:p>
          <a:p>
            <a:endParaRPr lang="da-DK" b="1" dirty="0"/>
          </a:p>
          <a:p>
            <a:r>
              <a:rPr lang="da-DK" b="1" dirty="0"/>
              <a:t>SMT – Statistical Machine Translation</a:t>
            </a:r>
          </a:p>
          <a:p>
            <a:r>
              <a:rPr lang="da-DK" dirty="0"/>
              <a:t>Oversætter ved hjælp af </a:t>
            </a:r>
            <a:r>
              <a:rPr lang="da-DK" b="1" dirty="0"/>
              <a:t>statistik og sandsynligheder</a:t>
            </a:r>
            <a:r>
              <a:rPr lang="da-DK" dirty="0"/>
              <a:t> </a:t>
            </a:r>
          </a:p>
          <a:p>
            <a:r>
              <a:rPr lang="da-DK" dirty="0"/>
              <a:t>Deler sætninger op i små bidder (ord/fraser) </a:t>
            </a:r>
          </a:p>
          <a:p>
            <a:r>
              <a:rPr lang="da-DK" dirty="0"/>
              <a:t>Vælger den mest sandsynlige oversættelse baseret på data</a:t>
            </a:r>
            <a:br>
              <a:rPr lang="da-DK" dirty="0"/>
            </a:br>
            <a:r>
              <a:rPr lang="da-DK" dirty="0"/>
              <a:t>- Lyder ofte hakket og mindre naturligt </a:t>
            </a:r>
          </a:p>
          <a:p>
            <a:r>
              <a:rPr lang="da-DK" b="1" dirty="0"/>
              <a:t>NMT – Neural Machine Translation</a:t>
            </a:r>
          </a:p>
          <a:p>
            <a:r>
              <a:rPr lang="da-DK" dirty="0"/>
              <a:t>Bruger </a:t>
            </a:r>
            <a:r>
              <a:rPr lang="da-DK" b="1" dirty="0"/>
              <a:t>neurale netværk</a:t>
            </a:r>
            <a:r>
              <a:rPr lang="da-DK" dirty="0"/>
              <a:t> til at oversætte hele sætninger </a:t>
            </a:r>
          </a:p>
          <a:p>
            <a:r>
              <a:rPr lang="da-DK" dirty="0"/>
              <a:t>Forstår bedre </a:t>
            </a:r>
            <a:r>
              <a:rPr lang="da-DK" b="1" dirty="0"/>
              <a:t>kontekst og sammenhæng</a:t>
            </a:r>
            <a:r>
              <a:rPr lang="da-DK" dirty="0"/>
              <a:t> </a:t>
            </a:r>
          </a:p>
          <a:p>
            <a:r>
              <a:rPr lang="da-DK" dirty="0"/>
              <a:t>Lærer mønstre ligesom moderne AI</a:t>
            </a:r>
            <a:br>
              <a:rPr lang="da-DK" dirty="0"/>
            </a:br>
            <a:r>
              <a:rPr lang="da-DK" dirty="0"/>
              <a:t>- Giver mere flydende og menneskelige oversættelser</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82536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Moderne</a:t>
            </a:r>
            <a:r>
              <a:rPr dirty="0"/>
              <a:t> AI </a:t>
            </a:r>
            <a:r>
              <a:rPr dirty="0" err="1"/>
              <a:t>kan</a:t>
            </a:r>
            <a:r>
              <a:rPr dirty="0"/>
              <a:t> </a:t>
            </a:r>
            <a:r>
              <a:rPr dirty="0" err="1"/>
              <a:t>skabe</a:t>
            </a:r>
            <a:r>
              <a:rPr dirty="0"/>
              <a:t> </a:t>
            </a:r>
            <a:r>
              <a:rPr dirty="0" err="1"/>
              <a:t>tekst</a:t>
            </a:r>
            <a:r>
              <a:rPr dirty="0"/>
              <a:t>, </a:t>
            </a:r>
            <a:r>
              <a:rPr dirty="0" err="1"/>
              <a:t>billeder</a:t>
            </a:r>
            <a:r>
              <a:rPr dirty="0"/>
              <a:t> </a:t>
            </a:r>
            <a:r>
              <a:rPr dirty="0" err="1"/>
              <a:t>og</a:t>
            </a:r>
            <a:r>
              <a:rPr dirty="0"/>
              <a:t> mere. </a:t>
            </a:r>
            <a:r>
              <a:rPr dirty="0" err="1"/>
              <a:t>ChatGPT</a:t>
            </a:r>
            <a:r>
              <a:rPr dirty="0"/>
              <a:t> </a:t>
            </a:r>
            <a:r>
              <a:rPr dirty="0" err="1"/>
              <a:t>som</a:t>
            </a:r>
            <a:r>
              <a:rPr dirty="0"/>
              <a:t> </a:t>
            </a:r>
            <a:r>
              <a:rPr dirty="0" err="1"/>
              <a:t>eksempel</a:t>
            </a:r>
            <a:r>
              <a:rPr dirty="0"/>
              <a:t> </a:t>
            </a:r>
            <a:r>
              <a:rPr dirty="0" err="1"/>
              <a:t>på</a:t>
            </a:r>
            <a:r>
              <a:rPr dirty="0"/>
              <a:t> </a:t>
            </a:r>
            <a:r>
              <a:rPr dirty="0" err="1"/>
              <a:t>generativ</a:t>
            </a:r>
            <a:r>
              <a:rPr dirty="0"/>
              <a:t> AI.</a:t>
            </a:r>
            <a:endParaRPr lang="en-US" dirty="0"/>
          </a:p>
          <a:p>
            <a:r>
              <a:rPr lang="da-DK" b="1" dirty="0"/>
              <a:t>Deep Learning:</a:t>
            </a:r>
            <a:r>
              <a:rPr lang="da-DK" dirty="0"/>
              <a:t> En metode i </a:t>
            </a:r>
            <a:r>
              <a:rPr lang="da-DK" dirty="0" err="1"/>
              <a:t>machine</a:t>
            </a:r>
            <a:r>
              <a:rPr lang="da-DK" dirty="0"/>
              <a:t> </a:t>
            </a:r>
            <a:r>
              <a:rPr lang="da-DK" dirty="0" err="1"/>
              <a:t>learning</a:t>
            </a:r>
            <a:r>
              <a:rPr lang="da-DK" dirty="0"/>
              <a:t>, der bruger neurale netværk med mange lag til at lære komplekse mønstre i data </a:t>
            </a:r>
          </a:p>
          <a:p>
            <a:r>
              <a:rPr lang="da-DK" b="1" dirty="0"/>
              <a:t>Generativ AI:</a:t>
            </a:r>
            <a:r>
              <a:rPr lang="da-DK" dirty="0"/>
              <a:t> AI der kan skabe nyt indhold (tekst, billeder, lyd) baseret på det, den har lært</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02602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b="1" dirty="0"/>
          </a:p>
          <a:p>
            <a:r>
              <a:rPr lang="da-DK" dirty="0"/>
              <a:t>AI skal bruges med forsigtighed – både input og output kan være problematiske </a:t>
            </a:r>
          </a:p>
          <a:p>
            <a:r>
              <a:rPr lang="da-DK" dirty="0"/>
              <a:t>Det du skriver, kan potentielt blive gemt eller misbrugt </a:t>
            </a:r>
          </a:p>
          <a:p>
            <a:r>
              <a:rPr lang="da-DK" dirty="0"/>
              <a:t>AI kan give forkerte eller mangelfulde svar → vær kritisk </a:t>
            </a:r>
          </a:p>
          <a:p>
            <a:r>
              <a:rPr lang="da-DK" dirty="0"/>
              <a:t>Du har selv ansvar for, at information er korrekt </a:t>
            </a:r>
          </a:p>
          <a:p>
            <a:r>
              <a:rPr lang="da-DK" dirty="0"/>
              <a:t>Del kun data, der tåler offentlighed </a:t>
            </a:r>
          </a:p>
          <a:p>
            <a:r>
              <a:rPr lang="da-DK" dirty="0"/>
              <a:t>Del aldrig fortrolig, klassificeret eller personfølsom information </a:t>
            </a:r>
          </a:p>
          <a:p>
            <a:r>
              <a:rPr lang="da-DK" dirty="0"/>
              <a:t>Tænk: </a:t>
            </a:r>
            <a:r>
              <a:rPr lang="da-DK" i="1" dirty="0"/>
              <a:t>“Ville jeg lægge det her på en offentlig hjemmeside?”</a:t>
            </a:r>
            <a:endParaRPr lang="da-DK" dirty="0"/>
          </a:p>
          <a:p>
            <a:endParaRPr lang="en-US" dirty="0"/>
          </a:p>
        </p:txBody>
      </p:sp>
    </p:spTree>
    <p:extLst>
      <p:ext uri="{BB962C8B-B14F-4D97-AF65-F5344CB8AC3E}">
        <p14:creationId xmlns:p14="http://schemas.microsoft.com/office/powerpoint/2010/main" val="1130704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4232278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0872-4EFE-30E0-A74F-C6095ED39C42}"/>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CE371FA-6799-38F1-9FF5-3F47C75AC22B}"/>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03855DE5-B08F-275B-7293-EEBA6BC2CAF2}"/>
              </a:ext>
            </a:extLst>
          </p:cNvPr>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915571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83DF-7CDC-B4F4-34D9-218FF0B3F4C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B9BBCA1-EA77-44F3-CC11-BA328C02751C}"/>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DB260895-A4DC-8D21-C54B-7B2C33726AC8}"/>
              </a:ext>
            </a:extLst>
          </p:cNvPr>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494168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AD16-BB91-A33C-5F85-5F88A285B6C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87DFAEB-619F-0A51-302B-8AE7E8B25852}"/>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679FD6EE-1562-E737-5509-57B42A31C909}"/>
              </a:ext>
            </a:extLst>
          </p:cNvPr>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560210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228600" indent="-228600" defTabSz="914400">
              <a:lnSpc>
                <a:spcPct val="90000"/>
              </a:lnSpc>
              <a:spcBef>
                <a:spcPts val="1001"/>
              </a:spcBef>
              <a:buClr>
                <a:srgbClr val="00454E"/>
              </a:buClr>
              <a:buFont typeface="Arial"/>
              <a:buChar char="•"/>
            </a:pPr>
            <a:r>
              <a:rPr lang="da-DK" sz="1100" b="0" u="none" strike="noStrike" dirty="0">
                <a:solidFill>
                  <a:srgbClr val="00454E"/>
                </a:solidFill>
                <a:effectLst/>
                <a:uFillTx/>
                <a:latin typeface="Proxima Nova Alt Rg"/>
              </a:rPr>
              <a:t>En prompt er den måde, du fortæller en sprogmodel, hvad du vil have den til at gøre. Dette bliver af nogen betragtet som en form for kodning, nemlig "</a:t>
            </a:r>
            <a:r>
              <a:rPr lang="da-DK" sz="1100" b="0" u="sng" strike="noStrike" dirty="0" err="1">
                <a:solidFill>
                  <a:srgbClr val="00454E"/>
                </a:solidFill>
                <a:effectLst/>
                <a:uFillTx/>
                <a:latin typeface="Proxima Nova Alt Rg"/>
              </a:rPr>
              <a:t>natural</a:t>
            </a:r>
            <a:r>
              <a:rPr lang="da-DK" sz="1100" b="0" u="sng" strike="noStrike" dirty="0">
                <a:solidFill>
                  <a:srgbClr val="00454E"/>
                </a:solidFill>
                <a:effectLst/>
                <a:uFillTx/>
                <a:latin typeface="Proxima Nova Alt Rg"/>
              </a:rPr>
              <a:t> </a:t>
            </a:r>
            <a:r>
              <a:rPr lang="da-DK" sz="1100" b="0" u="sng" strike="noStrike" dirty="0" err="1">
                <a:solidFill>
                  <a:srgbClr val="00454E"/>
                </a:solidFill>
                <a:effectLst/>
                <a:uFillTx/>
                <a:latin typeface="Proxima Nova Alt Rg"/>
              </a:rPr>
              <a:t>language</a:t>
            </a:r>
            <a:r>
              <a:rPr lang="da-DK" sz="1100" b="0" u="sng" strike="noStrike" dirty="0">
                <a:solidFill>
                  <a:srgbClr val="00454E"/>
                </a:solidFill>
                <a:effectLst/>
                <a:uFillTx/>
                <a:latin typeface="Proxima Nova Alt Rg"/>
              </a:rPr>
              <a:t> </a:t>
            </a:r>
            <a:r>
              <a:rPr lang="da-DK" sz="1100" b="0" u="sng" strike="noStrike" dirty="0" err="1">
                <a:solidFill>
                  <a:srgbClr val="00454E"/>
                </a:solidFill>
                <a:effectLst/>
                <a:uFillTx/>
                <a:latin typeface="Proxima Nova Alt Rg"/>
              </a:rPr>
              <a:t>programming</a:t>
            </a:r>
            <a:r>
              <a:rPr lang="da-DK" sz="1100" b="0" u="sng" strike="noStrike" dirty="0">
                <a:solidFill>
                  <a:srgbClr val="00454E"/>
                </a:solidFill>
                <a:effectLst/>
                <a:uFillTx/>
                <a:latin typeface="Proxima Nova Alt Rg"/>
              </a:rPr>
              <a:t>”</a:t>
            </a:r>
            <a:endParaRPr lang="da-DK" sz="1100" b="0" u="none" strike="noStrike" dirty="0">
              <a:solidFill>
                <a:srgbClr val="000000"/>
              </a:solidFill>
              <a:effectLst/>
              <a:uFillTx/>
              <a:latin typeface="Arial"/>
            </a:endParaRPr>
          </a:p>
          <a:p>
            <a:endParaRPr lang="en-US" dirty="0"/>
          </a:p>
        </p:txBody>
      </p:sp>
    </p:spTree>
    <p:extLst>
      <p:ext uri="{BB962C8B-B14F-4D97-AF65-F5344CB8AC3E}">
        <p14:creationId xmlns:p14="http://schemas.microsoft.com/office/powerpoint/2010/main" val="7831017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en-US" dirty="0" err="1"/>
              <a:t>Lav</a:t>
            </a:r>
            <a:r>
              <a:rPr lang="en-US" dirty="0"/>
              <a:t> </a:t>
            </a:r>
            <a:r>
              <a:rPr lang="en-US" dirty="0" err="1"/>
              <a:t>en</a:t>
            </a:r>
            <a:r>
              <a:rPr lang="en-US" dirty="0"/>
              <a:t> </a:t>
            </a:r>
            <a:r>
              <a:rPr lang="en-US" dirty="0" err="1"/>
              <a:t>markeds</a:t>
            </a:r>
            <a:r>
              <a:rPr lang="en-US" dirty="0"/>
              <a:t> </a:t>
            </a:r>
            <a:r>
              <a:rPr lang="en-US" dirty="0" err="1"/>
              <a:t>analyse</a:t>
            </a:r>
            <a:endParaRPr lang="en-US" dirty="0"/>
          </a:p>
          <a:p>
            <a:r>
              <a:rPr lang="en-US" dirty="0" err="1"/>
              <a:t>Viser</a:t>
            </a:r>
            <a:r>
              <a:rPr lang="en-US" baseline="0" dirty="0"/>
              <a:t> </a:t>
            </a:r>
            <a:r>
              <a:rPr lang="en-US" baseline="0" dirty="0" err="1"/>
              <a:t>til</a:t>
            </a:r>
            <a:r>
              <a:rPr lang="en-US" baseline="0" dirty="0"/>
              <a:t> </a:t>
            </a:r>
            <a:r>
              <a:rPr lang="en-US" baseline="0" dirty="0" err="1"/>
              <a:t>overordnet</a:t>
            </a:r>
            <a:endParaRPr lang="en-US" baseline="0" dirty="0"/>
          </a:p>
          <a:p>
            <a:r>
              <a:rPr lang="en-US" baseline="0" dirty="0" err="1"/>
              <a:t>Ikke</a:t>
            </a:r>
            <a:r>
              <a:rPr lang="en-US" baseline="0" dirty="0"/>
              <a:t> </a:t>
            </a:r>
            <a:r>
              <a:rPr lang="en-US" baseline="0" dirty="0" err="1"/>
              <a:t>helt</a:t>
            </a:r>
            <a:r>
              <a:rPr lang="en-US" baseline="0" dirty="0"/>
              <a:t> </a:t>
            </a:r>
            <a:r>
              <a:rPr lang="en-US" baseline="0" dirty="0" err="1"/>
              <a:t>det</a:t>
            </a:r>
            <a:r>
              <a:rPr lang="en-US" baseline="0" dirty="0"/>
              <a:t> </a:t>
            </a:r>
            <a:r>
              <a:rPr lang="en-US" baseline="0" dirty="0" err="1"/>
              <a:t>han</a:t>
            </a:r>
            <a:r>
              <a:rPr lang="en-US" baseline="0" dirty="0"/>
              <a:t> </a:t>
            </a:r>
            <a:r>
              <a:rPr lang="en-US" baseline="0" dirty="0" err="1"/>
              <a:t>havde</a:t>
            </a:r>
            <a:r>
              <a:rPr lang="en-US" baseline="0" dirty="0"/>
              <a:t> </a:t>
            </a:r>
            <a:r>
              <a:rPr lang="en-US" baseline="0" dirty="0" err="1"/>
              <a:t>forventet</a:t>
            </a:r>
            <a:endParaRPr lang="en-US" dirty="0"/>
          </a:p>
        </p:txBody>
      </p:sp>
    </p:spTree>
    <p:extLst>
      <p:ext uri="{BB962C8B-B14F-4D97-AF65-F5344CB8AC3E}">
        <p14:creationId xmlns:p14="http://schemas.microsoft.com/office/powerpoint/2010/main" val="1041255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en-US" dirty="0"/>
              <a:t>Men vi </a:t>
            </a:r>
            <a:r>
              <a:rPr lang="en-US" dirty="0" err="1"/>
              <a:t>kan</a:t>
            </a:r>
            <a:r>
              <a:rPr lang="en-US" dirty="0"/>
              <a:t> </a:t>
            </a:r>
            <a:r>
              <a:rPr lang="en-US" dirty="0" err="1"/>
              <a:t>bygge</a:t>
            </a:r>
            <a:r>
              <a:rPr lang="en-US" dirty="0"/>
              <a:t> </a:t>
            </a:r>
            <a:r>
              <a:rPr lang="en-US" dirty="0" err="1"/>
              <a:t>videre</a:t>
            </a:r>
            <a:r>
              <a:rPr lang="en-US" baseline="0" dirty="0"/>
              <a:t> </a:t>
            </a:r>
            <a:r>
              <a:rPr lang="en-US" baseline="0" dirty="0" err="1"/>
              <a:t>på</a:t>
            </a:r>
            <a:r>
              <a:rPr lang="en-US" baseline="0" dirty="0"/>
              <a:t> Bob!</a:t>
            </a:r>
            <a:endParaRPr lang="en-US" dirty="0"/>
          </a:p>
        </p:txBody>
      </p:sp>
    </p:spTree>
    <p:extLst>
      <p:ext uri="{BB962C8B-B14F-4D97-AF65-F5344CB8AC3E}">
        <p14:creationId xmlns:p14="http://schemas.microsoft.com/office/powerpoint/2010/main" val="3512118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en-US" dirty="0" err="1"/>
              <a:t>Det</a:t>
            </a:r>
            <a:r>
              <a:rPr lang="en-US" dirty="0"/>
              <a:t> handler </a:t>
            </a:r>
            <a:r>
              <a:rPr lang="en-US" dirty="0" err="1"/>
              <a:t>ikke</a:t>
            </a:r>
            <a:r>
              <a:rPr lang="en-US" dirty="0"/>
              <a:t> om </a:t>
            </a:r>
            <a:r>
              <a:rPr lang="en-US" i="1" dirty="0" err="1"/>
              <a:t>hvad</a:t>
            </a:r>
            <a:r>
              <a:rPr lang="en-US" dirty="0"/>
              <a:t> du </a:t>
            </a:r>
            <a:r>
              <a:rPr lang="en-US" dirty="0" err="1"/>
              <a:t>spørger</a:t>
            </a:r>
            <a:r>
              <a:rPr lang="en-US" dirty="0"/>
              <a:t> om – men </a:t>
            </a:r>
            <a:r>
              <a:rPr lang="en-US" i="1" dirty="0" err="1"/>
              <a:t>hvordan</a:t>
            </a:r>
            <a:r>
              <a:rPr lang="en-US" dirty="0"/>
              <a:t> </a:t>
            </a:r>
          </a:p>
          <a:p>
            <a:r>
              <a:rPr lang="en-US" dirty="0"/>
              <a:t>AI </a:t>
            </a:r>
            <a:r>
              <a:rPr lang="en-US" dirty="0" err="1"/>
              <a:t>er</a:t>
            </a:r>
            <a:r>
              <a:rPr lang="en-US" dirty="0"/>
              <a:t> </a:t>
            </a:r>
            <a:r>
              <a:rPr lang="en-US" dirty="0" err="1"/>
              <a:t>ekstremt</a:t>
            </a:r>
            <a:r>
              <a:rPr lang="en-US" dirty="0"/>
              <a:t> </a:t>
            </a:r>
            <a:r>
              <a:rPr lang="en-US" dirty="0" err="1"/>
              <a:t>følsom</a:t>
            </a:r>
            <a:r>
              <a:rPr lang="en-US" dirty="0"/>
              <a:t> over for </a:t>
            </a:r>
            <a:r>
              <a:rPr lang="en-US" dirty="0" err="1"/>
              <a:t>formulering</a:t>
            </a:r>
            <a:r>
              <a:rPr lang="en-US" dirty="0"/>
              <a:t> </a:t>
            </a:r>
          </a:p>
          <a:p>
            <a:r>
              <a:rPr lang="en-US" dirty="0" err="1"/>
              <a:t>Derfor</a:t>
            </a:r>
            <a:r>
              <a:rPr lang="en-US" dirty="0"/>
              <a:t> </a:t>
            </a:r>
            <a:r>
              <a:rPr lang="en-US" dirty="0" err="1"/>
              <a:t>er</a:t>
            </a:r>
            <a:r>
              <a:rPr lang="en-US" dirty="0"/>
              <a:t> prompt design </a:t>
            </a:r>
            <a:r>
              <a:rPr lang="en-US" dirty="0" err="1"/>
              <a:t>en</a:t>
            </a:r>
            <a:r>
              <a:rPr lang="en-US" dirty="0"/>
              <a:t> central </a:t>
            </a:r>
            <a:r>
              <a:rPr lang="en-US" dirty="0" err="1"/>
              <a:t>kompetence</a:t>
            </a:r>
            <a:endParaRPr lang="en-US" dirty="0"/>
          </a:p>
        </p:txBody>
      </p:sp>
    </p:spTree>
    <p:extLst>
      <p:ext uri="{BB962C8B-B14F-4D97-AF65-F5344CB8AC3E}">
        <p14:creationId xmlns:p14="http://schemas.microsoft.com/office/powerpoint/2010/main" val="1315822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171450" indent="-171450">
              <a:spcBef>
                <a:spcPts val="751"/>
              </a:spcBef>
              <a:buClr>
                <a:srgbClr val="000000"/>
              </a:buClr>
              <a:buFont typeface="Arial"/>
              <a:buChar char="•"/>
            </a:pPr>
            <a:r>
              <a:rPr lang="da-DK" sz="1100" dirty="0">
                <a:solidFill>
                  <a:srgbClr val="000000"/>
                </a:solidFill>
                <a:latin typeface="Proxima Nova Alt Rg"/>
              </a:rPr>
              <a:t>At skrive gode prompts er mere en kunst end en videnskab. I hvert fald for den gennemsnitlige </a:t>
            </a:r>
            <a:r>
              <a:rPr lang="da-DK" sz="1100" dirty="0">
                <a:solidFill>
                  <a:schemeClr val="tx1"/>
                </a:solidFill>
                <a:latin typeface="Proxima Nova Alt Rg"/>
              </a:rPr>
              <a:t>bruger. Det </a:t>
            </a:r>
            <a:r>
              <a:rPr lang="da-DK" sz="1100" dirty="0">
                <a:solidFill>
                  <a:srgbClr val="000000"/>
                </a:solidFill>
                <a:latin typeface="Proxima Nova Alt Rg"/>
              </a:rPr>
              <a:t>vil i dette læringsforløb omtales som </a:t>
            </a:r>
            <a:r>
              <a:rPr lang="da-DK" sz="1100" i="1" dirty="0">
                <a:solidFill>
                  <a:srgbClr val="000000"/>
                </a:solidFill>
                <a:latin typeface="Proxima Nova Alt Rg"/>
              </a:rPr>
              <a:t>"prompt design"</a:t>
            </a:r>
            <a:r>
              <a:rPr lang="da-DK" sz="1100" dirty="0">
                <a:solidFill>
                  <a:srgbClr val="000000"/>
                </a:solidFill>
                <a:latin typeface="Proxima Nova Alt Rg"/>
              </a:rPr>
              <a:t>. Andre meget brugte termer er prompt </a:t>
            </a:r>
            <a:r>
              <a:rPr lang="da-DK" sz="1100" dirty="0" err="1">
                <a:solidFill>
                  <a:srgbClr val="000000"/>
                </a:solidFill>
                <a:latin typeface="Proxima Nova Alt Rg"/>
              </a:rPr>
              <a:t>engineering</a:t>
            </a:r>
            <a:r>
              <a:rPr lang="da-DK" sz="1100" dirty="0">
                <a:solidFill>
                  <a:srgbClr val="000000"/>
                </a:solidFill>
                <a:latin typeface="Proxima Nova Alt Rg"/>
              </a:rPr>
              <a:t> og </a:t>
            </a:r>
            <a:r>
              <a:rPr lang="da-DK" sz="1100" dirty="0" err="1">
                <a:solidFill>
                  <a:srgbClr val="000000"/>
                </a:solidFill>
                <a:latin typeface="Proxima Nova Alt Rg"/>
              </a:rPr>
              <a:t>natural</a:t>
            </a:r>
            <a:r>
              <a:rPr lang="da-DK" sz="1100" dirty="0">
                <a:solidFill>
                  <a:srgbClr val="000000"/>
                </a:solidFill>
                <a:latin typeface="Proxima Nova Alt Rg"/>
              </a:rPr>
              <a:t> </a:t>
            </a:r>
            <a:r>
              <a:rPr lang="da-DK" sz="1100" dirty="0" err="1">
                <a:solidFill>
                  <a:srgbClr val="000000"/>
                </a:solidFill>
                <a:latin typeface="Proxima Nova Alt Rg"/>
              </a:rPr>
              <a:t>language</a:t>
            </a:r>
            <a:r>
              <a:rPr lang="da-DK" sz="1100" dirty="0">
                <a:solidFill>
                  <a:srgbClr val="000000"/>
                </a:solidFill>
                <a:latin typeface="Proxima Nova Alt Rg"/>
              </a:rPr>
              <a:t> </a:t>
            </a:r>
            <a:r>
              <a:rPr lang="da-DK" sz="1100" dirty="0" err="1">
                <a:solidFill>
                  <a:srgbClr val="000000"/>
                </a:solidFill>
                <a:latin typeface="Proxima Nova Alt Rg"/>
              </a:rPr>
              <a:t>programming</a:t>
            </a:r>
            <a:r>
              <a:rPr lang="da-DK" sz="1100" dirty="0">
                <a:solidFill>
                  <a:srgbClr val="000000"/>
                </a:solidFill>
                <a:latin typeface="Proxima Nova Alt Rg"/>
              </a:rPr>
              <a:t>. </a:t>
            </a:r>
            <a:r>
              <a:rPr lang="da-DK" sz="1100" b="1" dirty="0">
                <a:solidFill>
                  <a:schemeClr val="tx1"/>
                </a:solidFill>
                <a:latin typeface="Proxima Nova Alt Rg"/>
              </a:rPr>
              <a:t> </a:t>
            </a:r>
            <a:endParaRPr lang="da-DK" sz="1100" b="1" dirty="0">
              <a:solidFill>
                <a:schemeClr val="tx1"/>
              </a:solidFill>
            </a:endParaRPr>
          </a:p>
          <a:p>
            <a:pPr marL="171450" indent="-171450">
              <a:spcBef>
                <a:spcPts val="751"/>
              </a:spcBef>
              <a:buClr>
                <a:srgbClr val="000000"/>
              </a:buClr>
              <a:buFont typeface="Arial"/>
              <a:buChar char="•"/>
            </a:pPr>
            <a:r>
              <a:rPr lang="da-DK" sz="1100" dirty="0">
                <a:solidFill>
                  <a:srgbClr val="000000"/>
                </a:solidFill>
                <a:latin typeface="Proxima Nova Alt Rg"/>
              </a:rPr>
              <a:t>Hver af disse dækker over forskellige definitioner og forståelser, men i bund og grund har de alle samme formål: </a:t>
            </a:r>
            <a:endParaRPr lang="da-DK" sz="1100" dirty="0">
              <a:solidFill>
                <a:srgbClr val="000000"/>
              </a:solidFill>
            </a:endParaRPr>
          </a:p>
          <a:p>
            <a:pPr marL="628650" lvl="1" indent="-171450">
              <a:spcBef>
                <a:spcPts val="751"/>
              </a:spcBef>
              <a:buClr>
                <a:srgbClr val="4472C4"/>
              </a:buClr>
              <a:buFont typeface="Arial"/>
              <a:buChar char="•"/>
            </a:pPr>
            <a:r>
              <a:rPr lang="da-DK" sz="1100" b="1" dirty="0">
                <a:solidFill>
                  <a:schemeClr val="accent1"/>
                </a:solidFill>
                <a:latin typeface="Proxima Nova Alt Rg"/>
              </a:rPr>
              <a:t>At finde den bedste måde at formulere et input på, så du får et brugbart output.</a:t>
            </a:r>
          </a:p>
          <a:p>
            <a:pPr marL="171450" lvl="0" indent="-171450">
              <a:spcBef>
                <a:spcPts val="751"/>
              </a:spcBef>
              <a:buClr>
                <a:srgbClr val="4472C4"/>
              </a:buClr>
              <a:buFont typeface="Arial"/>
              <a:buChar char="•"/>
            </a:pPr>
            <a:endParaRPr lang="da-DK" b="1" dirty="0">
              <a:solidFill>
                <a:schemeClr val="accent1"/>
              </a:solidFill>
              <a:latin typeface="Proxima Nova Alt Rg"/>
            </a:endParaRPr>
          </a:p>
          <a:p>
            <a:pPr marL="171450" lvl="0" indent="-171450">
              <a:spcBef>
                <a:spcPts val="751"/>
              </a:spcBef>
              <a:buClr>
                <a:srgbClr val="4472C4"/>
              </a:buClr>
              <a:buFont typeface="Arial"/>
              <a:buChar char="•"/>
            </a:pPr>
            <a:r>
              <a:rPr lang="da-DK" b="1" dirty="0">
                <a:solidFill>
                  <a:schemeClr val="accent1"/>
                </a:solidFill>
                <a:latin typeface="Proxima Nova Alt Rg"/>
              </a:rPr>
              <a:t>Bob beskriver det som Lort kommer ind </a:t>
            </a:r>
            <a:r>
              <a:rPr lang="da-DK" b="1" dirty="0">
                <a:solidFill>
                  <a:schemeClr val="accent1"/>
                </a:solidFill>
                <a:latin typeface="Proxima Nova Alt Rg"/>
                <a:sym typeface="Wingdings" panose="05000000000000000000" pitchFamily="2" charset="2"/>
              </a:rPr>
              <a:t> Lort kommer ud</a:t>
            </a:r>
          </a:p>
          <a:p>
            <a:pPr marL="171450" lvl="0" indent="-171450">
              <a:spcBef>
                <a:spcPts val="751"/>
              </a:spcBef>
              <a:buClr>
                <a:srgbClr val="4472C4"/>
              </a:buClr>
              <a:buFont typeface="Arial"/>
              <a:buChar char="•"/>
            </a:pPr>
            <a:r>
              <a:rPr lang="da-DK" b="1" dirty="0">
                <a:solidFill>
                  <a:schemeClr val="accent1"/>
                </a:solidFill>
                <a:latin typeface="Proxima Nova Alt Rg"/>
                <a:sym typeface="Wingdings" panose="05000000000000000000" pitchFamily="2" charset="2"/>
              </a:rPr>
              <a:t>Dårlig prompt  Dårlig</a:t>
            </a:r>
            <a:r>
              <a:rPr lang="da-DK" b="1" baseline="0" dirty="0">
                <a:solidFill>
                  <a:schemeClr val="accent1"/>
                </a:solidFill>
                <a:latin typeface="Proxima Nova Alt Rg"/>
                <a:sym typeface="Wingdings" panose="05000000000000000000" pitchFamily="2" charset="2"/>
              </a:rPr>
              <a:t> output</a:t>
            </a:r>
            <a:endParaRPr lang="en-US" dirty="0"/>
          </a:p>
        </p:txBody>
      </p:sp>
    </p:spTree>
    <p:extLst>
      <p:ext uri="{BB962C8B-B14F-4D97-AF65-F5344CB8AC3E}">
        <p14:creationId xmlns:p14="http://schemas.microsoft.com/office/powerpoint/2010/main" val="2656853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388488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da-DK" dirty="0" err="1"/>
              <a:t>Guardrails</a:t>
            </a:r>
            <a:r>
              <a:rPr lang="da-DK" dirty="0"/>
              <a:t> = “værn” omkring modellen </a:t>
            </a:r>
          </a:p>
          <a:p>
            <a:r>
              <a:rPr lang="da-DK" dirty="0"/>
              <a:t>De er ikke intelligens – men kontrolmekanismer </a:t>
            </a:r>
          </a:p>
          <a:p>
            <a:r>
              <a:rPr lang="da-DK" dirty="0"/>
              <a:t>Uden dem ville AI være langt mere uforudsigelig</a:t>
            </a:r>
          </a:p>
          <a:p>
            <a:endParaRPr lang="da-DK" dirty="0"/>
          </a:p>
          <a:p>
            <a:r>
              <a:rPr lang="da-DK" b="1" dirty="0"/>
              <a:t>Hvorfor er de nødvendige?</a:t>
            </a:r>
          </a:p>
          <a:p>
            <a:r>
              <a:rPr lang="da-DK" dirty="0"/>
              <a:t>AI genererer svar ud fra mønstre i data </a:t>
            </a:r>
          </a:p>
          <a:p>
            <a:r>
              <a:rPr lang="da-DK" dirty="0"/>
              <a:t>Har ikke selv forståelse for rigtigt/forkert </a:t>
            </a:r>
          </a:p>
          <a:p>
            <a:r>
              <a:rPr lang="da-DK" dirty="0"/>
              <a:t>Kan ellers producere skadeligt eller upassende indhold</a:t>
            </a:r>
          </a:p>
          <a:p>
            <a:endParaRPr lang="da-DK" dirty="0"/>
          </a:p>
          <a:p>
            <a:r>
              <a:rPr lang="da-DK" b="1" dirty="0"/>
              <a:t>Hvordan oplever man det?</a:t>
            </a:r>
          </a:p>
          <a:p>
            <a:r>
              <a:rPr lang="da-DK" dirty="0"/>
              <a:t>AI nægter at svare på visse spørgsmål </a:t>
            </a:r>
          </a:p>
          <a:p>
            <a:r>
              <a:rPr lang="da-DK" dirty="0"/>
              <a:t>AI ændrer eller justerer sit svar </a:t>
            </a:r>
          </a:p>
          <a:p>
            <a:r>
              <a:rPr lang="da-DK" dirty="0"/>
              <a:t>AI guider samtalen i en mere sikker retning</a:t>
            </a:r>
          </a:p>
          <a:p>
            <a:endParaRPr lang="da-DK" dirty="0"/>
          </a:p>
          <a:p>
            <a:endParaRPr lang="en-US" dirty="0"/>
          </a:p>
        </p:txBody>
      </p:sp>
    </p:spTree>
    <p:extLst>
      <p:ext uri="{BB962C8B-B14F-4D97-AF65-F5344CB8AC3E}">
        <p14:creationId xmlns:p14="http://schemas.microsoft.com/office/powerpoint/2010/main" val="1796183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da-DK" dirty="0"/>
              <a:t>AI “læser” ikke tekst som mennesker – den arbejder med </a:t>
            </a:r>
            <a:r>
              <a:rPr lang="da-DK" dirty="0" err="1"/>
              <a:t>tokens</a:t>
            </a:r>
            <a:r>
              <a:rPr lang="da-DK" dirty="0"/>
              <a:t> </a:t>
            </a:r>
            <a:r>
              <a:rPr lang="da-DK" dirty="0" err="1"/>
              <a:t>Tokens</a:t>
            </a:r>
            <a:r>
              <a:rPr lang="da-DK" dirty="0"/>
              <a:t> er fundamentet for alt hvad modellen gør Uden </a:t>
            </a:r>
            <a:r>
              <a:rPr lang="da-DK" dirty="0" err="1"/>
              <a:t>tokenisering</a:t>
            </a:r>
            <a:r>
              <a:rPr lang="da-DK" dirty="0"/>
              <a:t> → ingen forståelse af sprog</a:t>
            </a:r>
          </a:p>
          <a:p>
            <a:endParaRPr lang="en-US" dirty="0"/>
          </a:p>
        </p:txBody>
      </p:sp>
    </p:spTree>
    <p:extLst>
      <p:ext uri="{BB962C8B-B14F-4D97-AF65-F5344CB8AC3E}">
        <p14:creationId xmlns:p14="http://schemas.microsoft.com/office/powerpoint/2010/main" val="23265473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da-DK" dirty="0"/>
              <a:t>Proces hvor tekst opdeles i </a:t>
            </a:r>
            <a:r>
              <a:rPr lang="da-DK" dirty="0" err="1"/>
              <a:t>tokens</a:t>
            </a:r>
            <a:r>
              <a:rPr lang="da-DK" dirty="0"/>
              <a:t> Forenkler sprogets kompleksitet Gør teksten håndterbar for modellen</a:t>
            </a:r>
          </a:p>
          <a:p>
            <a:r>
              <a:rPr lang="da-DK" dirty="0"/>
              <a:t>Tegn eksempel på </a:t>
            </a:r>
            <a:r>
              <a:rPr lang="da-DK" dirty="0" err="1"/>
              <a:t>tokenisering</a:t>
            </a:r>
            <a:endParaRPr lang="da-DK" dirty="0"/>
          </a:p>
          <a:p>
            <a:pPr lvl="1"/>
            <a:r>
              <a:rPr lang="da-DK" dirty="0"/>
              <a:t>Sætning ”Solen skinner over”  </a:t>
            </a:r>
            <a:r>
              <a:rPr lang="da-DK" dirty="0">
                <a:sym typeface="Wingdings" panose="05000000000000000000" pitchFamily="2" charset="2"/>
              </a:rPr>
              <a:t> ”Havet”</a:t>
            </a:r>
            <a:endParaRPr lang="en-US" dirty="0"/>
          </a:p>
        </p:txBody>
      </p:sp>
    </p:spTree>
    <p:extLst>
      <p:ext uri="{BB962C8B-B14F-4D97-AF65-F5344CB8AC3E}">
        <p14:creationId xmlns:p14="http://schemas.microsoft.com/office/powerpoint/2010/main" val="853422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171450" indent="-171450">
              <a:spcBef>
                <a:spcPts val="751"/>
              </a:spcBef>
              <a:buClr>
                <a:srgbClr val="000000"/>
              </a:buClr>
              <a:buFont typeface="Arial"/>
              <a:buChar char="•"/>
            </a:pPr>
            <a:r>
              <a:rPr lang="da-DK" sz="1800" dirty="0">
                <a:solidFill>
                  <a:schemeClr val="dk1"/>
                </a:solidFill>
                <a:latin typeface="Proxima Nova Alt Rg"/>
              </a:rPr>
              <a:t>Når du interagerer med sprogmodeller, er det afgørende at forstå, hvordan de “husker” information.</a:t>
            </a:r>
            <a:endParaRPr lang="da-DK" sz="1800" dirty="0">
              <a:solidFill>
                <a:srgbClr val="000000"/>
              </a:solidFill>
            </a:endParaRPr>
          </a:p>
          <a:p>
            <a:pPr marL="171450" indent="-171450">
              <a:spcBef>
                <a:spcPts val="751"/>
              </a:spcBef>
              <a:buClr>
                <a:srgbClr val="000000"/>
              </a:buClr>
              <a:buFont typeface="Arial"/>
              <a:buChar char="•"/>
            </a:pPr>
            <a:r>
              <a:rPr lang="da-DK" sz="1800" dirty="0">
                <a:solidFill>
                  <a:schemeClr val="dk1"/>
                </a:solidFill>
                <a:latin typeface="Proxima Nova Alt Rg"/>
              </a:rPr>
              <a:t>I modsætning til menneskelig hukommelse har sprogmodeller en fast ramme kendt som et “kontekstvindue”</a:t>
            </a:r>
            <a:r>
              <a:rPr lang="da-DK" sz="1800" i="1" dirty="0">
                <a:solidFill>
                  <a:schemeClr val="dk1"/>
                </a:solidFill>
                <a:latin typeface="Proxima Nova Alt Rg"/>
              </a:rPr>
              <a:t>(</a:t>
            </a:r>
            <a:r>
              <a:rPr lang="da-DK" sz="1800" i="1" dirty="0" err="1">
                <a:solidFill>
                  <a:schemeClr val="dk1"/>
                </a:solidFill>
                <a:latin typeface="Proxima Nova Alt Rg"/>
              </a:rPr>
              <a:t>context</a:t>
            </a:r>
            <a:r>
              <a:rPr lang="da-DK" sz="1800" i="1" dirty="0">
                <a:solidFill>
                  <a:schemeClr val="dk1"/>
                </a:solidFill>
                <a:latin typeface="Proxima Nova Alt Rg"/>
              </a:rPr>
              <a:t> </a:t>
            </a:r>
            <a:r>
              <a:rPr lang="da-DK" sz="1800" i="1" dirty="0" err="1">
                <a:solidFill>
                  <a:schemeClr val="dk1"/>
                </a:solidFill>
                <a:latin typeface="Proxima Nova Alt Rg"/>
              </a:rPr>
              <a:t>window</a:t>
            </a:r>
            <a:r>
              <a:rPr lang="da-DK" sz="1800" i="1" dirty="0">
                <a:solidFill>
                  <a:schemeClr val="dk1"/>
                </a:solidFill>
                <a:latin typeface="Proxima Nova Alt Rg"/>
              </a:rPr>
              <a:t>)</a:t>
            </a:r>
            <a:r>
              <a:rPr lang="da-DK" sz="1800" dirty="0">
                <a:solidFill>
                  <a:schemeClr val="dk1"/>
                </a:solidFill>
                <a:latin typeface="Proxima Nova Alt Rg"/>
              </a:rPr>
              <a:t>.</a:t>
            </a:r>
            <a:endParaRPr lang="da-DK" sz="1800" dirty="0">
              <a:solidFill>
                <a:srgbClr val="000000"/>
              </a:solidFill>
            </a:endParaRPr>
          </a:p>
          <a:p>
            <a:pPr marL="171450" indent="-171450">
              <a:spcBef>
                <a:spcPts val="751"/>
              </a:spcBef>
              <a:buClr>
                <a:srgbClr val="000000"/>
              </a:buClr>
              <a:buFont typeface="Arial"/>
              <a:buChar char="•"/>
            </a:pPr>
            <a:r>
              <a:rPr lang="da-DK" sz="1800" dirty="0">
                <a:solidFill>
                  <a:schemeClr val="dk1"/>
                </a:solidFill>
                <a:latin typeface="Proxima Nova Alt Rg"/>
              </a:rPr>
              <a:t>Dette vindue gør det muligt for sprogmodeller at "huske" information, men det har sine begrænsninger.</a:t>
            </a:r>
            <a:endParaRPr lang="da-DK" sz="1800" dirty="0">
              <a:solidFill>
                <a:srgbClr val="000000"/>
              </a:solidFill>
            </a:endParaRPr>
          </a:p>
          <a:p>
            <a:pPr marL="171450" indent="-171450">
              <a:spcBef>
                <a:spcPts val="751"/>
              </a:spcBef>
              <a:buClr>
                <a:srgbClr val="000000"/>
              </a:buClr>
              <a:buFont typeface="Arial"/>
              <a:buChar char="•"/>
            </a:pPr>
            <a:r>
              <a:rPr lang="da-DK" sz="1800" dirty="0">
                <a:solidFill>
                  <a:srgbClr val="000000"/>
                </a:solidFill>
                <a:latin typeface="Proxima Nova Alt Rg"/>
              </a:rPr>
              <a:t>Forestil dig kontekstvinduet som en korttidshukommelse.</a:t>
            </a:r>
            <a:endParaRPr lang="da-DK" sz="1800" dirty="0">
              <a:solidFill>
                <a:srgbClr val="000000"/>
              </a:solidFill>
            </a:endParaRPr>
          </a:p>
          <a:p>
            <a:pPr marL="514350" lvl="1" indent="-171450" defTabSz="685800">
              <a:lnSpc>
                <a:spcPct val="90000"/>
              </a:lnSpc>
              <a:spcBef>
                <a:spcPts val="374"/>
              </a:spcBef>
              <a:buClr>
                <a:srgbClr val="000000"/>
              </a:buClr>
              <a:buFont typeface="Arial"/>
              <a:buChar char="•"/>
            </a:pPr>
            <a:r>
              <a:rPr lang="da-DK" sz="1800" dirty="0">
                <a:solidFill>
                  <a:srgbClr val="000000"/>
                </a:solidFill>
                <a:latin typeface="Proxima Nova Alt Rg"/>
              </a:rPr>
              <a:t>Det indeholder en vis mængde information, som modellen kan arbejde med på et givet tidspunkt.</a:t>
            </a:r>
            <a:endParaRPr lang="da-DK" sz="1800" dirty="0">
              <a:solidFill>
                <a:srgbClr val="000000"/>
              </a:solidFill>
            </a:endParaRPr>
          </a:p>
          <a:p>
            <a:pPr>
              <a:spcBef>
                <a:spcPts val="751"/>
              </a:spcBef>
            </a:pPr>
            <a:br>
              <a:rPr lang="da-DK" sz="1800" dirty="0"/>
            </a:br>
            <a:endParaRPr lang="da-DK" sz="1800" dirty="0">
              <a:solidFill>
                <a:srgbClr val="000000"/>
              </a:solidFill>
            </a:endParaRPr>
          </a:p>
          <a:p>
            <a:endParaRPr lang="en-US" dirty="0"/>
          </a:p>
        </p:txBody>
      </p:sp>
    </p:spTree>
    <p:extLst>
      <p:ext uri="{BB962C8B-B14F-4D97-AF65-F5344CB8AC3E}">
        <p14:creationId xmlns:p14="http://schemas.microsoft.com/office/powerpoint/2010/main" val="31149229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2129104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991434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8797017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1673953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96949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CDEEB-B820-9602-AA48-668CFE74F0B5}"/>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CDE41FB1-8922-1B11-77BA-78F1823F25C2}"/>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2589EE46-C874-731B-B07E-3CB5C8760F39}"/>
              </a:ext>
            </a:extLst>
          </p:cNvPr>
          <p:cNvSpPr>
            <a:spLocks noGrp="1"/>
          </p:cNvSpPr>
          <p:nvPr>
            <p:ph type="body" idx="1"/>
          </p:nvPr>
        </p:nvSpPr>
        <p:spPr/>
        <p:txBody>
          <a:bodyPr/>
          <a:lstStyle/>
          <a:p>
            <a:pPr marL="228600" indent="-228600" defTabSz="914400">
              <a:lnSpc>
                <a:spcPct val="90000"/>
              </a:lnSpc>
              <a:spcBef>
                <a:spcPts val="1001"/>
              </a:spcBef>
              <a:buClr>
                <a:srgbClr val="000000"/>
              </a:buClr>
              <a:buFont typeface="Arial"/>
              <a:buChar char="•"/>
            </a:pPr>
            <a:r>
              <a:rPr lang="da-DK" sz="1100" b="0" u="none" strike="noStrike" dirty="0">
                <a:solidFill>
                  <a:srgbClr val="000000"/>
                </a:solidFill>
                <a:effectLst/>
                <a:uFillTx/>
                <a:latin typeface="Proxima Nova Alt Rg"/>
              </a:rPr>
              <a:t>Selvom der ikke er en bestemt opskrift, du kan følge, så er der nogle overordnede elementer, som vil have stor værdi og effekt at du forstår og kan bruge.</a:t>
            </a:r>
            <a:endParaRPr lang="da-DK" sz="11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lang="da-DK" sz="1100" b="0" u="none" strike="noStrike" dirty="0">
                <a:solidFill>
                  <a:srgbClr val="000000"/>
                </a:solidFill>
                <a:effectLst/>
                <a:uFillTx/>
                <a:latin typeface="Proxima Nova Alt Rg"/>
              </a:rPr>
              <a:t>Der er mange måder at inddele på.</a:t>
            </a:r>
            <a:r>
              <a:rPr lang="da-DK" sz="1100" b="0" u="none" strike="noStrike" baseline="0" dirty="0">
                <a:solidFill>
                  <a:srgbClr val="000000"/>
                </a:solidFill>
                <a:effectLst/>
                <a:uFillTx/>
                <a:latin typeface="Proxima Nova Alt Rg"/>
              </a:rPr>
              <a:t> Jeg</a:t>
            </a:r>
            <a:r>
              <a:rPr lang="da-DK" sz="1100" b="0" u="none" strike="noStrike" dirty="0">
                <a:solidFill>
                  <a:srgbClr val="000000"/>
                </a:solidFill>
                <a:effectLst/>
                <a:uFillTx/>
                <a:latin typeface="Proxima Nova Alt Rg"/>
              </a:rPr>
              <a:t> anbefaler at se det som byggeblokke.</a:t>
            </a:r>
            <a:endParaRPr lang="da-DK" sz="11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lang="da-DK" sz="1100" b="1" u="none" strike="noStrike" dirty="0">
                <a:solidFill>
                  <a:srgbClr val="000000"/>
                </a:solidFill>
                <a:effectLst/>
                <a:uFillTx/>
                <a:latin typeface="Proxima Nova Alt Rg"/>
              </a:rPr>
              <a:t>Byggeblokke, fordi du selv kan vælge hvilke og hvor mange.</a:t>
            </a:r>
            <a:endParaRPr lang="da-DK" sz="1100" b="0" u="none" strike="noStrike" dirty="0">
              <a:solidFill>
                <a:srgbClr val="000000"/>
              </a:solidFill>
              <a:effectLst/>
              <a:uFillTx/>
              <a:latin typeface="Arial"/>
            </a:endParaRPr>
          </a:p>
          <a:p>
            <a:pPr marL="0" indent="0" defTabSz="914400">
              <a:lnSpc>
                <a:spcPct val="90000"/>
              </a:lnSpc>
              <a:spcBef>
                <a:spcPts val="1001"/>
              </a:spcBef>
              <a:buClr>
                <a:srgbClr val="000000"/>
              </a:buClr>
              <a:buFont typeface="Arial"/>
              <a:buNone/>
            </a:pPr>
            <a:br>
              <a:rPr lang="da-DK" sz="1100" dirty="0"/>
            </a:br>
            <a:r>
              <a:rPr lang="da-DK" sz="1100" b="0" u="none" strike="noStrike" dirty="0">
                <a:solidFill>
                  <a:schemeClr val="dk1"/>
                </a:solidFill>
                <a:effectLst/>
                <a:uFillTx/>
                <a:latin typeface="Proxima Nova Alt Rg"/>
              </a:rPr>
              <a:t> </a:t>
            </a:r>
            <a:endParaRPr lang="da-DK" sz="1100" b="0" u="none" strike="noStrike" dirty="0">
              <a:solidFill>
                <a:srgbClr val="000000"/>
              </a:solidFill>
              <a:effectLst/>
              <a:uFillTx/>
              <a:latin typeface="Arial"/>
            </a:endParaRPr>
          </a:p>
          <a:p>
            <a:endParaRPr lang="da-DK" dirty="0"/>
          </a:p>
        </p:txBody>
      </p:sp>
      <p:sp>
        <p:nvSpPr>
          <p:cNvPr id="4" name="Pladsholder til dato 3">
            <a:extLst>
              <a:ext uri="{FF2B5EF4-FFF2-40B4-BE49-F238E27FC236}">
                <a16:creationId xmlns:a16="http://schemas.microsoft.com/office/drawing/2014/main" id="{24C03477-7BCD-4C87-6912-DA6B64CEAE35}"/>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a:extLst>
              <a:ext uri="{FF2B5EF4-FFF2-40B4-BE49-F238E27FC236}">
                <a16:creationId xmlns:a16="http://schemas.microsoft.com/office/drawing/2014/main" id="{55EC1D6A-F4B4-0232-7602-DB31930153B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2805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49836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pic>
        <p:nvPicPr>
          <p:cNvPr id="11" name="Google Shape;11;p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3" cy="5149976"/>
          </a:xfrm>
          <a:prstGeom prst="rect">
            <a:avLst/>
          </a:prstGeom>
          <a:noFill/>
          <a:ln>
            <a:noFill/>
          </a:ln>
        </p:spPr>
      </p:pic>
      <p:sp>
        <p:nvSpPr>
          <p:cNvPr id="12" name="Google Shape;12;p2"/>
          <p:cNvSpPr txBox="1">
            <a:spLocks noGrp="1"/>
          </p:cNvSpPr>
          <p:nvPr>
            <p:ph type="ctrTitle"/>
          </p:nvPr>
        </p:nvSpPr>
        <p:spPr>
          <a:xfrm>
            <a:off x="1164957" y="1162600"/>
            <a:ext cx="6829800" cy="2052600"/>
          </a:xfrm>
          <a:prstGeom prst="rect">
            <a:avLst/>
          </a:prstGeom>
        </p:spPr>
        <p:txBody>
          <a:bodyPr spcFirstLastPara="1" wrap="square" lIns="91425" tIns="91425" rIns="91425" bIns="91425" anchor="b" anchorCtr="0">
            <a:noAutofit/>
          </a:bodyPr>
          <a:lstStyle>
            <a:lvl1pPr lvl="0">
              <a:spcBef>
                <a:spcPts val="0"/>
              </a:spcBef>
              <a:spcAft>
                <a:spcPts val="0"/>
              </a:spcAft>
              <a:buClr>
                <a:srgbClr val="00454E"/>
              </a:buClr>
              <a:buSzPts val="4000"/>
              <a:buNone/>
              <a:defRPr sz="4000" b="1" i="1">
                <a:solidFill>
                  <a:srgbClr val="00454E"/>
                </a:solidFill>
              </a:defRPr>
            </a:lvl1pPr>
            <a:lvl2pPr lvl="1" algn="ctr">
              <a:spcBef>
                <a:spcPts val="0"/>
              </a:spcBef>
              <a:spcAft>
                <a:spcPts val="0"/>
              </a:spcAft>
              <a:buClr>
                <a:srgbClr val="00454E"/>
              </a:buClr>
              <a:buSzPts val="5200"/>
              <a:buNone/>
              <a:defRPr sz="5200">
                <a:solidFill>
                  <a:srgbClr val="00454E"/>
                </a:solidFill>
              </a:defRPr>
            </a:lvl2pPr>
            <a:lvl3pPr lvl="2" algn="ctr">
              <a:spcBef>
                <a:spcPts val="0"/>
              </a:spcBef>
              <a:spcAft>
                <a:spcPts val="0"/>
              </a:spcAft>
              <a:buClr>
                <a:srgbClr val="00454E"/>
              </a:buClr>
              <a:buSzPts val="5200"/>
              <a:buNone/>
              <a:defRPr sz="5200">
                <a:solidFill>
                  <a:srgbClr val="00454E"/>
                </a:solidFill>
              </a:defRPr>
            </a:lvl3pPr>
            <a:lvl4pPr lvl="3" algn="ctr">
              <a:spcBef>
                <a:spcPts val="0"/>
              </a:spcBef>
              <a:spcAft>
                <a:spcPts val="0"/>
              </a:spcAft>
              <a:buClr>
                <a:srgbClr val="00454E"/>
              </a:buClr>
              <a:buSzPts val="5200"/>
              <a:buNone/>
              <a:defRPr sz="5200">
                <a:solidFill>
                  <a:srgbClr val="00454E"/>
                </a:solidFill>
              </a:defRPr>
            </a:lvl4pPr>
            <a:lvl5pPr lvl="4" algn="ctr">
              <a:spcBef>
                <a:spcPts val="0"/>
              </a:spcBef>
              <a:spcAft>
                <a:spcPts val="0"/>
              </a:spcAft>
              <a:buClr>
                <a:srgbClr val="00454E"/>
              </a:buClr>
              <a:buSzPts val="5200"/>
              <a:buNone/>
              <a:defRPr sz="5200">
                <a:solidFill>
                  <a:srgbClr val="00454E"/>
                </a:solidFill>
              </a:defRPr>
            </a:lvl5pPr>
            <a:lvl6pPr lvl="5" algn="ctr">
              <a:spcBef>
                <a:spcPts val="0"/>
              </a:spcBef>
              <a:spcAft>
                <a:spcPts val="0"/>
              </a:spcAft>
              <a:buClr>
                <a:srgbClr val="00454E"/>
              </a:buClr>
              <a:buSzPts val="5200"/>
              <a:buNone/>
              <a:defRPr sz="5200">
                <a:solidFill>
                  <a:srgbClr val="00454E"/>
                </a:solidFill>
              </a:defRPr>
            </a:lvl6pPr>
            <a:lvl7pPr lvl="6" algn="ctr">
              <a:spcBef>
                <a:spcPts val="0"/>
              </a:spcBef>
              <a:spcAft>
                <a:spcPts val="0"/>
              </a:spcAft>
              <a:buClr>
                <a:srgbClr val="00454E"/>
              </a:buClr>
              <a:buSzPts val="5200"/>
              <a:buNone/>
              <a:defRPr sz="5200">
                <a:solidFill>
                  <a:srgbClr val="00454E"/>
                </a:solidFill>
              </a:defRPr>
            </a:lvl7pPr>
            <a:lvl8pPr lvl="7" algn="ctr">
              <a:spcBef>
                <a:spcPts val="0"/>
              </a:spcBef>
              <a:spcAft>
                <a:spcPts val="0"/>
              </a:spcAft>
              <a:buClr>
                <a:srgbClr val="00454E"/>
              </a:buClr>
              <a:buSzPts val="5200"/>
              <a:buNone/>
              <a:defRPr sz="5200">
                <a:solidFill>
                  <a:srgbClr val="00454E"/>
                </a:solidFill>
              </a:defRPr>
            </a:lvl8pPr>
            <a:lvl9pPr lvl="8" algn="ctr">
              <a:spcBef>
                <a:spcPts val="0"/>
              </a:spcBef>
              <a:spcAft>
                <a:spcPts val="0"/>
              </a:spcAft>
              <a:buClr>
                <a:srgbClr val="00454E"/>
              </a:buClr>
              <a:buSzPts val="5200"/>
              <a:buNone/>
              <a:defRPr sz="5200">
                <a:solidFill>
                  <a:srgbClr val="00454E"/>
                </a:solidFill>
              </a:defRPr>
            </a:lvl9pPr>
          </a:lstStyle>
          <a:p>
            <a:endParaRPr/>
          </a:p>
        </p:txBody>
      </p:sp>
      <p:sp>
        <p:nvSpPr>
          <p:cNvPr id="13" name="Google Shape;13;p2"/>
          <p:cNvSpPr txBox="1">
            <a:spLocks noGrp="1"/>
          </p:cNvSpPr>
          <p:nvPr>
            <p:ph type="subTitle" idx="1"/>
          </p:nvPr>
        </p:nvSpPr>
        <p:spPr>
          <a:xfrm>
            <a:off x="1164950" y="3252150"/>
            <a:ext cx="68298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4" name="Google Shape;14;p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15" name="Google Shape;15;p2"/>
          <p:cNvSpPr txBox="1">
            <a:spLocks noGrp="1"/>
          </p:cNvSpPr>
          <p:nvPr>
            <p:ph type="sldNum" idx="12"/>
          </p:nvPr>
        </p:nvSpPr>
        <p:spPr>
          <a:xfrm>
            <a:off x="0" y="4749900"/>
            <a:ext cx="800700" cy="393600"/>
          </a:xfrm>
          <a:prstGeom prst="rect">
            <a:avLst/>
          </a:prstGeom>
        </p:spPr>
        <p:txBody>
          <a:bodyPr spcFirstLastPara="1" wrap="square" lIns="91425" tIns="91425" rIns="91425" bIns="91425" anchor="ctr" anchorCtr="0">
            <a:noAutofit/>
          </a:bodyPr>
          <a:lstStyle>
            <a:lvl1pPr lvl="0" algn="l" rtl="0">
              <a:buNone/>
              <a:defRPr>
                <a:solidFill>
                  <a:schemeClr val="dk2"/>
                </a:solidFill>
              </a:defRPr>
            </a:lvl1pPr>
            <a:lvl2pPr lvl="1" algn="l" rtl="0">
              <a:buNone/>
              <a:defRPr>
                <a:solidFill>
                  <a:schemeClr val="dk2"/>
                </a:solidFill>
              </a:defRPr>
            </a:lvl2pPr>
            <a:lvl3pPr lvl="2" algn="l" rtl="0">
              <a:buNone/>
              <a:defRPr>
                <a:solidFill>
                  <a:schemeClr val="dk2"/>
                </a:solidFill>
              </a:defRPr>
            </a:lvl3pPr>
            <a:lvl4pPr lvl="3" algn="l" rtl="0">
              <a:buNone/>
              <a:defRPr>
                <a:solidFill>
                  <a:schemeClr val="dk2"/>
                </a:solidFill>
              </a:defRPr>
            </a:lvl4pPr>
            <a:lvl5pPr lvl="4" algn="l" rtl="0">
              <a:buNone/>
              <a:defRPr>
                <a:solidFill>
                  <a:schemeClr val="dk2"/>
                </a:solidFill>
              </a:defRPr>
            </a:lvl5pPr>
            <a:lvl6pPr lvl="5" algn="l" rtl="0">
              <a:buNone/>
              <a:defRPr>
                <a:solidFill>
                  <a:schemeClr val="dk2"/>
                </a:solidFill>
              </a:defRPr>
            </a:lvl6pPr>
            <a:lvl7pPr lvl="6" algn="l" rtl="0">
              <a:buNone/>
              <a:defRPr>
                <a:solidFill>
                  <a:schemeClr val="dk2"/>
                </a:solidFill>
              </a:defRPr>
            </a:lvl7pPr>
            <a:lvl8pPr lvl="7" algn="l" rtl="0">
              <a:buNone/>
              <a:defRPr>
                <a:solidFill>
                  <a:schemeClr val="dk2"/>
                </a:solidFill>
              </a:defRPr>
            </a:lvl8pPr>
            <a:lvl9pPr lvl="8" algn="l" rtl="0">
              <a:buNone/>
              <a:defRPr>
                <a:solidFill>
                  <a:schemeClr val="dk2"/>
                </a:solidFill>
              </a:defRPr>
            </a:lvl9pPr>
          </a:lstStyle>
          <a:p>
            <a:pPr marL="0" lvl="0" indent="0" algn="l" rtl="0">
              <a:spcBef>
                <a:spcPts val="0"/>
              </a:spcBef>
              <a:spcAft>
                <a:spcPts val="0"/>
              </a:spcAft>
              <a:buNone/>
            </a:pPr>
            <a:r>
              <a:rPr lang="da"/>
              <a:t>dd/mm/åå</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Clr>
                <a:srgbClr val="00454E"/>
              </a:buClr>
              <a:buSzPts val="4800"/>
              <a:buNone/>
              <a:defRPr sz="4800">
                <a:solidFill>
                  <a:srgbClr val="00454E"/>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42" name="Google Shape;42;p8"/>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43" name="Google Shape;43;p8"/>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lvl1pPr>
            <a:lvl2pPr lvl="1" algn="l" rtl="0">
              <a:buNone/>
              <a:defRPr/>
            </a:lvl2pPr>
            <a:lvl3pPr lvl="2" algn="l" rtl="0">
              <a:buNone/>
              <a:defRPr/>
            </a:lvl3pPr>
            <a:lvl4pPr lvl="3" algn="l" rtl="0">
              <a:buNone/>
              <a:defRPr/>
            </a:lvl4pPr>
            <a:lvl5pPr lvl="4" algn="l" rtl="0">
              <a:buNone/>
              <a:defRPr/>
            </a:lvl5pPr>
            <a:lvl6pPr lvl="5" algn="l" rtl="0">
              <a:buNone/>
              <a:defRPr/>
            </a:lvl6pPr>
            <a:lvl7pPr lvl="6" algn="l" rtl="0">
              <a:buNone/>
              <a:defRPr/>
            </a:lvl7pPr>
            <a:lvl8pPr lvl="7" algn="l" rtl="0">
              <a:buNone/>
              <a:defRPr/>
            </a:lvl8pPr>
            <a:lvl9pPr lvl="8" algn="l" rtl="0">
              <a:buNone/>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4572000" y="-125"/>
            <a:ext cx="45720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454E"/>
              </a:buClr>
              <a:buSzPts val="4200"/>
              <a:buNone/>
              <a:defRPr sz="4200">
                <a:solidFill>
                  <a:srgbClr val="00454E"/>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8" name="Google Shape;48;p9"/>
          <p:cNvSpPr txBox="1">
            <a:spLocks noGrp="1"/>
          </p:cNvSpPr>
          <p:nvPr>
            <p:ph type="body" idx="2"/>
          </p:nvPr>
        </p:nvSpPr>
        <p:spPr>
          <a:xfrm>
            <a:off x="4939500" y="724075"/>
            <a:ext cx="3837000" cy="3651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2"/>
              </a:buClr>
              <a:buSzPts val="1800"/>
              <a:buChar char="●"/>
              <a:defRPr>
                <a:solidFill>
                  <a:schemeClr val="dk2"/>
                </a:solidFill>
              </a:defRPr>
            </a:lvl1pPr>
            <a:lvl2pPr marL="914400" lvl="1" indent="-317500">
              <a:spcBef>
                <a:spcPts val="160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pic>
        <p:nvPicPr>
          <p:cNvPr id="49" name="Google Shape;49;p9"/>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0" name="Google Shape;50;p9"/>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solidFill>
                  <a:srgbClr val="00454E"/>
                </a:solidFill>
              </a:defRPr>
            </a:lvl1pPr>
            <a:lvl2pPr lvl="1" algn="l" rtl="0">
              <a:buNone/>
              <a:defRPr>
                <a:solidFill>
                  <a:srgbClr val="00454E"/>
                </a:solidFill>
              </a:defRPr>
            </a:lvl2pPr>
            <a:lvl3pPr lvl="2" algn="l" rtl="0">
              <a:buNone/>
              <a:defRPr>
                <a:solidFill>
                  <a:srgbClr val="00454E"/>
                </a:solidFill>
              </a:defRPr>
            </a:lvl3pPr>
            <a:lvl4pPr lvl="3" algn="l" rtl="0">
              <a:buNone/>
              <a:defRPr>
                <a:solidFill>
                  <a:srgbClr val="00454E"/>
                </a:solidFill>
              </a:defRPr>
            </a:lvl4pPr>
            <a:lvl5pPr lvl="4" algn="l" rtl="0">
              <a:buNone/>
              <a:defRPr>
                <a:solidFill>
                  <a:srgbClr val="00454E"/>
                </a:solidFill>
              </a:defRPr>
            </a:lvl5pPr>
            <a:lvl6pPr lvl="5" algn="l" rtl="0">
              <a:buNone/>
              <a:defRPr>
                <a:solidFill>
                  <a:srgbClr val="00454E"/>
                </a:solidFill>
              </a:defRPr>
            </a:lvl6pPr>
            <a:lvl7pPr lvl="6" algn="l" rtl="0">
              <a:buNone/>
              <a:defRPr>
                <a:solidFill>
                  <a:srgbClr val="00454E"/>
                </a:solidFill>
              </a:defRPr>
            </a:lvl7pPr>
            <a:lvl8pPr lvl="7" algn="l" rtl="0">
              <a:buNone/>
              <a:defRPr>
                <a:solidFill>
                  <a:srgbClr val="00454E"/>
                </a:solidFill>
              </a:defRPr>
            </a:lvl8pPr>
            <a:lvl9pPr lvl="8" algn="l" rtl="0">
              <a:buNone/>
              <a:defRPr>
                <a:solidFill>
                  <a:srgbClr val="00454E"/>
                </a:solidFill>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rgbClr val="00454E"/>
              </a:buClr>
              <a:buSzPts val="1800"/>
              <a:buNone/>
              <a:defRPr>
                <a:solidFill>
                  <a:srgbClr val="00454E"/>
                </a:solidFill>
              </a:defRPr>
            </a:lvl1pPr>
          </a:lstStyle>
          <a:p>
            <a:endParaRPr/>
          </a:p>
        </p:txBody>
      </p:sp>
      <p:pic>
        <p:nvPicPr>
          <p:cNvPr id="53" name="Google Shape;53;p10"/>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4" name="Google Shape;54;p10"/>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solidFill>
                  <a:srgbClr val="00454E"/>
                </a:solidFill>
              </a:defRPr>
            </a:lvl1pPr>
            <a:lvl2pPr lvl="1" algn="l" rtl="0">
              <a:buNone/>
              <a:defRPr>
                <a:solidFill>
                  <a:srgbClr val="00454E"/>
                </a:solidFill>
              </a:defRPr>
            </a:lvl2pPr>
            <a:lvl3pPr lvl="2" algn="l" rtl="0">
              <a:buNone/>
              <a:defRPr>
                <a:solidFill>
                  <a:srgbClr val="00454E"/>
                </a:solidFill>
              </a:defRPr>
            </a:lvl3pPr>
            <a:lvl4pPr lvl="3" algn="l" rtl="0">
              <a:buNone/>
              <a:defRPr>
                <a:solidFill>
                  <a:srgbClr val="00454E"/>
                </a:solidFill>
              </a:defRPr>
            </a:lvl4pPr>
            <a:lvl5pPr lvl="4" algn="l" rtl="0">
              <a:buNone/>
              <a:defRPr>
                <a:solidFill>
                  <a:srgbClr val="00454E"/>
                </a:solidFill>
              </a:defRPr>
            </a:lvl5pPr>
            <a:lvl6pPr lvl="5" algn="l" rtl="0">
              <a:buNone/>
              <a:defRPr>
                <a:solidFill>
                  <a:srgbClr val="00454E"/>
                </a:solidFill>
              </a:defRPr>
            </a:lvl6pPr>
            <a:lvl7pPr lvl="6" algn="l" rtl="0">
              <a:buNone/>
              <a:defRPr>
                <a:solidFill>
                  <a:srgbClr val="00454E"/>
                </a:solidFill>
              </a:defRPr>
            </a:lvl7pPr>
            <a:lvl8pPr lvl="7" algn="l" rtl="0">
              <a:buNone/>
              <a:defRPr>
                <a:solidFill>
                  <a:srgbClr val="00454E"/>
                </a:solidFill>
              </a:defRPr>
            </a:lvl8pPr>
            <a:lvl9pPr lvl="8" algn="l" rtl="0">
              <a:buNone/>
              <a:defRPr>
                <a:solidFill>
                  <a:srgbClr val="00454E"/>
                </a:solidFill>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2"/>
        </a:solid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454E"/>
              </a:buClr>
              <a:buSzPts val="12000"/>
              <a:buNone/>
              <a:defRPr sz="12000">
                <a:solidFill>
                  <a:srgbClr val="00454E"/>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 name="Google Shape;57;p11"/>
          <p:cNvSpPr txBox="1">
            <a:spLocks noGrp="1"/>
          </p:cNvSpPr>
          <p:nvPr>
            <p:ph type="body" idx="1"/>
          </p:nvPr>
        </p:nvSpPr>
        <p:spPr>
          <a:xfrm>
            <a:off x="311700" y="3152225"/>
            <a:ext cx="8520600" cy="1224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dk2"/>
              </a:buClr>
              <a:buSzPts val="1800"/>
              <a:buChar char="●"/>
              <a:defRPr>
                <a:solidFill>
                  <a:schemeClr val="dk2"/>
                </a:solidFill>
              </a:defRPr>
            </a:lvl1pPr>
            <a:lvl2pPr marL="914400" lvl="1" indent="-317500" algn="ctr">
              <a:spcBef>
                <a:spcPts val="1600"/>
              </a:spcBef>
              <a:spcAft>
                <a:spcPts val="0"/>
              </a:spcAft>
              <a:buClr>
                <a:schemeClr val="dk2"/>
              </a:buClr>
              <a:buSzPts val="1400"/>
              <a:buChar char="○"/>
              <a:defRPr>
                <a:solidFill>
                  <a:schemeClr val="dk2"/>
                </a:solidFill>
              </a:defRPr>
            </a:lvl2pPr>
            <a:lvl3pPr marL="1371600" lvl="2" indent="-317500" algn="ctr">
              <a:spcBef>
                <a:spcPts val="1600"/>
              </a:spcBef>
              <a:spcAft>
                <a:spcPts val="0"/>
              </a:spcAft>
              <a:buClr>
                <a:schemeClr val="dk2"/>
              </a:buClr>
              <a:buSzPts val="1400"/>
              <a:buChar char="■"/>
              <a:defRPr>
                <a:solidFill>
                  <a:schemeClr val="dk2"/>
                </a:solidFill>
              </a:defRPr>
            </a:lvl3pPr>
            <a:lvl4pPr marL="1828800" lvl="3" indent="-317500" algn="ctr">
              <a:spcBef>
                <a:spcPts val="1600"/>
              </a:spcBef>
              <a:spcAft>
                <a:spcPts val="0"/>
              </a:spcAft>
              <a:buClr>
                <a:schemeClr val="dk2"/>
              </a:buClr>
              <a:buSzPts val="1400"/>
              <a:buChar char="●"/>
              <a:defRPr>
                <a:solidFill>
                  <a:schemeClr val="dk2"/>
                </a:solidFill>
              </a:defRPr>
            </a:lvl4pPr>
            <a:lvl5pPr marL="2286000" lvl="4" indent="-317500" algn="ctr">
              <a:spcBef>
                <a:spcPts val="1600"/>
              </a:spcBef>
              <a:spcAft>
                <a:spcPts val="0"/>
              </a:spcAft>
              <a:buClr>
                <a:schemeClr val="dk2"/>
              </a:buClr>
              <a:buSzPts val="1400"/>
              <a:buChar char="○"/>
              <a:defRPr>
                <a:solidFill>
                  <a:schemeClr val="dk2"/>
                </a:solidFill>
              </a:defRPr>
            </a:lvl5pPr>
            <a:lvl6pPr marL="2743200" lvl="5" indent="-317500" algn="ctr">
              <a:spcBef>
                <a:spcPts val="1600"/>
              </a:spcBef>
              <a:spcAft>
                <a:spcPts val="0"/>
              </a:spcAft>
              <a:buClr>
                <a:schemeClr val="dk2"/>
              </a:buClr>
              <a:buSzPts val="1400"/>
              <a:buChar char="■"/>
              <a:defRPr>
                <a:solidFill>
                  <a:schemeClr val="dk2"/>
                </a:solidFill>
              </a:defRPr>
            </a:lvl6pPr>
            <a:lvl7pPr marL="3200400" lvl="6" indent="-317500" algn="ctr">
              <a:spcBef>
                <a:spcPts val="1600"/>
              </a:spcBef>
              <a:spcAft>
                <a:spcPts val="0"/>
              </a:spcAft>
              <a:buClr>
                <a:schemeClr val="dk2"/>
              </a:buClr>
              <a:buSzPts val="1400"/>
              <a:buChar char="●"/>
              <a:defRPr>
                <a:solidFill>
                  <a:schemeClr val="dk2"/>
                </a:solidFill>
              </a:defRPr>
            </a:lvl7pPr>
            <a:lvl8pPr marL="3657600" lvl="7" indent="-317500" algn="ctr">
              <a:spcBef>
                <a:spcPts val="1600"/>
              </a:spcBef>
              <a:spcAft>
                <a:spcPts val="0"/>
              </a:spcAft>
              <a:buClr>
                <a:schemeClr val="dk2"/>
              </a:buClr>
              <a:buSzPts val="1400"/>
              <a:buChar char="○"/>
              <a:defRPr>
                <a:solidFill>
                  <a:schemeClr val="dk2"/>
                </a:solidFill>
              </a:defRPr>
            </a:lvl8pPr>
            <a:lvl9pPr marL="4114800" lvl="8" indent="-317500" algn="ctr">
              <a:spcBef>
                <a:spcPts val="1600"/>
              </a:spcBef>
              <a:spcAft>
                <a:spcPts val="1600"/>
              </a:spcAft>
              <a:buClr>
                <a:schemeClr val="dk2"/>
              </a:buClr>
              <a:buSzPts val="1400"/>
              <a:buChar char="■"/>
              <a:defRPr>
                <a:solidFill>
                  <a:schemeClr val="dk2"/>
                </a:solidFill>
              </a:defRPr>
            </a:lvl9pPr>
          </a:lstStyle>
          <a:p>
            <a:endParaRPr/>
          </a:p>
        </p:txBody>
      </p:sp>
      <p:pic>
        <p:nvPicPr>
          <p:cNvPr id="58" name="Google Shape;58;p11"/>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9" name="Google Shape;59;p11"/>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lvl1pPr>
            <a:lvl2pPr lvl="1" algn="l" rtl="0">
              <a:buNone/>
              <a:defRPr/>
            </a:lvl2pPr>
            <a:lvl3pPr lvl="2" algn="l" rtl="0">
              <a:buNone/>
              <a:defRPr/>
            </a:lvl3pPr>
            <a:lvl4pPr lvl="3" algn="l" rtl="0">
              <a:buNone/>
              <a:defRPr/>
            </a:lvl4pPr>
            <a:lvl5pPr lvl="4" algn="l" rtl="0">
              <a:buNone/>
              <a:defRPr/>
            </a:lvl5pPr>
            <a:lvl6pPr lvl="5" algn="l" rtl="0">
              <a:buNone/>
              <a:defRPr/>
            </a:lvl6pPr>
            <a:lvl7pPr lvl="6" algn="l" rtl="0">
              <a:buNone/>
              <a:defRPr/>
            </a:lvl7pPr>
            <a:lvl8pPr lvl="7" algn="l" rtl="0">
              <a:buNone/>
              <a:defRPr/>
            </a:lvl8pPr>
            <a:lvl9pPr lvl="8" algn="l" rtl="0">
              <a:buNone/>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6333A-CB4B-4A2A-850C-1800ED16F2A3}"/>
              </a:ext>
            </a:extLst>
          </p:cNvPr>
          <p:cNvSpPr>
            <a:spLocks noGrp="1"/>
          </p:cNvSpPr>
          <p:nvPr>
            <p:ph type="title"/>
          </p:nvPr>
        </p:nvSpPr>
        <p:spPr/>
        <p:txBody>
          <a:bodyPr/>
          <a:lstStyle/>
          <a:p>
            <a:r>
              <a:rPr lang="da-DK"/>
              <a:t>Klik for at redigere i master</a:t>
            </a:r>
            <a:endParaRPr lang="da-DK" dirty="0"/>
          </a:p>
        </p:txBody>
      </p:sp>
      <p:sp>
        <p:nvSpPr>
          <p:cNvPr id="3" name="Pladsholder til indhold 2">
            <a:extLst>
              <a:ext uri="{FF2B5EF4-FFF2-40B4-BE49-F238E27FC236}">
                <a16:creationId xmlns:a16="http://schemas.microsoft.com/office/drawing/2014/main" id="{DE84ED51-CBEF-4882-BC50-B496E1895551}"/>
              </a:ext>
            </a:extLst>
          </p:cNvPr>
          <p:cNvSpPr>
            <a:spLocks noGrp="1"/>
          </p:cNvSpPr>
          <p:nvPr>
            <p:ph idx="1"/>
          </p:nvPr>
        </p:nvSpPr>
        <p:spPr>
          <a:xfrm>
            <a:off x="628650" y="1369220"/>
            <a:ext cx="7886700" cy="2979896"/>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4" name="Pladsholder til dato 13">
            <a:extLst>
              <a:ext uri="{FF2B5EF4-FFF2-40B4-BE49-F238E27FC236}">
                <a16:creationId xmlns:a16="http://schemas.microsoft.com/office/drawing/2014/main" id="{B6F0B235-A6CA-47A3-A778-B35B6EE5829D}"/>
              </a:ext>
            </a:extLst>
          </p:cNvPr>
          <p:cNvSpPr>
            <a:spLocks noGrp="1"/>
          </p:cNvSpPr>
          <p:nvPr>
            <p:ph type="dt" sz="half" idx="10"/>
          </p:nvPr>
        </p:nvSpPr>
        <p:spPr/>
        <p:txBody>
          <a:bodyPr/>
          <a:lstStyle/>
          <a:p>
            <a:endParaRPr lang="da-DK" dirty="0"/>
          </a:p>
        </p:txBody>
      </p:sp>
      <p:sp>
        <p:nvSpPr>
          <p:cNvPr id="15" name="Pladsholder til slidenummer 14">
            <a:extLst>
              <a:ext uri="{FF2B5EF4-FFF2-40B4-BE49-F238E27FC236}">
                <a16:creationId xmlns:a16="http://schemas.microsoft.com/office/drawing/2014/main" id="{7B522528-73E6-4365-A2E9-4C875FFFD511}"/>
              </a:ext>
            </a:extLst>
          </p:cNvPr>
          <p:cNvSpPr>
            <a:spLocks noGrp="1"/>
          </p:cNvSpPr>
          <p:nvPr>
            <p:ph type="sldNum" sz="quarter" idx="11"/>
          </p:nvPr>
        </p:nvSpPr>
        <p:spPr/>
        <p:txBody>
          <a:bodyPr/>
          <a:lstStyle/>
          <a:p>
            <a:fld id="{5747CDE5-0717-48E4-9385-7C842E50026E}" type="slidenum">
              <a:rPr lang="da-DK" smtClean="0"/>
              <a:pPr/>
              <a:t>‹nr.›</a:t>
            </a:fld>
            <a:endParaRPr lang="da-DK" dirty="0"/>
          </a:p>
        </p:txBody>
      </p:sp>
    </p:spTree>
    <p:extLst>
      <p:ext uri="{BB962C8B-B14F-4D97-AF65-F5344CB8AC3E}">
        <p14:creationId xmlns:p14="http://schemas.microsoft.com/office/powerpoint/2010/main" val="171137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tekst/billede slide">
    <p:bg>
      <p:bgPr>
        <a:solidFill>
          <a:srgbClr val="CAE4E4"/>
        </a:solidFill>
        <a:effectLst/>
      </p:bgPr>
    </p:bg>
    <p:spTree>
      <p:nvGrpSpPr>
        <p:cNvPr id="1" name=""/>
        <p:cNvGrpSpPr/>
        <p:nvPr/>
      </p:nvGrpSpPr>
      <p:grpSpPr>
        <a:xfrm>
          <a:off x="0" y="0"/>
          <a:ext cx="0" cy="0"/>
          <a:chOff x="0" y="0"/>
          <a:chExt cx="0" cy="0"/>
        </a:xfrm>
      </p:grpSpPr>
      <p:sp>
        <p:nvSpPr>
          <p:cNvPr id="146" name="Rektangel 5"/>
          <p:cNvSpPr/>
          <p:nvPr/>
        </p:nvSpPr>
        <p:spPr>
          <a:xfrm>
            <a:off x="0" y="0"/>
            <a:ext cx="9143010" cy="51424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67500" tIns="33750" rIns="67500" bIns="33750" anchor="ctr">
            <a:noAutofit/>
          </a:bodyPr>
          <a:lstStyle/>
          <a:p>
            <a:pPr algn="ctr" defTabSz="685800">
              <a:lnSpc>
                <a:spcPct val="100000"/>
              </a:lnSpc>
            </a:pPr>
            <a:endParaRPr lang="da-DK" sz="1350" b="0" u="none" strike="noStrike">
              <a:solidFill>
                <a:schemeClr val="lt1"/>
              </a:solidFill>
              <a:effectLst/>
              <a:uFillTx/>
              <a:latin typeface="Calibri"/>
            </a:endParaRPr>
          </a:p>
        </p:txBody>
      </p:sp>
      <p:pic>
        <p:nvPicPr>
          <p:cNvPr id="147" name="Grafik 7"/>
          <p:cNvPicPr/>
          <p:nvPr/>
        </p:nvPicPr>
        <p:blipFill>
          <a:blip>
            <a:extLst>
              <a:ext uri="{96DAC541-7B7A-43D3-8B79-37D633B846F1}">
                <asvg:svgBlip xmlns:asvg="http://schemas.microsoft.com/office/drawing/2016/SVG/main" r:embed="rId2"/>
              </a:ext>
            </a:extLst>
          </a:blip>
          <a:stretch/>
        </p:blipFill>
        <p:spPr>
          <a:xfrm>
            <a:off x="7999560" y="4216320"/>
            <a:ext cx="702000" cy="515970"/>
          </a:xfrm>
          <a:prstGeom prst="rect">
            <a:avLst/>
          </a:prstGeom>
          <a:noFill/>
          <a:ln w="0">
            <a:noFill/>
          </a:ln>
        </p:spPr>
      </p:pic>
      <p:sp>
        <p:nvSpPr>
          <p:cNvPr id="148" name="Pladsholder til dato 3"/>
          <p:cNvSpPr/>
          <p:nvPr/>
        </p:nvSpPr>
        <p:spPr>
          <a:xfrm>
            <a:off x="628560" y="4534650"/>
            <a:ext cx="507600" cy="272700"/>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ctr">
            <a:noAutofit/>
          </a:bodyPr>
          <a:lstStyle/>
          <a:p>
            <a:pPr defTabSz="685800">
              <a:lnSpc>
                <a:spcPct val="100000"/>
              </a:lnSpc>
            </a:pPr>
            <a:fld id="{2D6177F5-9CDF-417C-97A1-88880570486A}" type="slidenum">
              <a:rPr lang="da-DK" sz="900" b="0" u="none" strike="noStrike">
                <a:solidFill>
                  <a:srgbClr val="00454E"/>
                </a:solidFill>
                <a:effectLst/>
                <a:uFillTx/>
                <a:latin typeface="Calibri"/>
              </a:rPr>
              <a:pPr defTabSz="685800">
                <a:lnSpc>
                  <a:spcPct val="100000"/>
                </a:lnSpc>
              </a:pPr>
              <a:t>‹nr.›</a:t>
            </a:fld>
            <a:endParaRPr lang="da-DK" sz="900" b="0" u="none" strike="noStrike">
              <a:solidFill>
                <a:srgbClr val="000000"/>
              </a:solidFill>
              <a:effectLst/>
              <a:uFillTx/>
              <a:latin typeface="Arial"/>
            </a:endParaRPr>
          </a:p>
        </p:txBody>
      </p:sp>
      <p:pic>
        <p:nvPicPr>
          <p:cNvPr id="149" name="Billede 2" descr="Et billede, der indeholder cirkel&#10;&#10;Automatisk genereret beskrivelse"/>
          <p:cNvPicPr/>
          <p:nvPr/>
        </p:nvPicPr>
        <p:blipFill>
          <a:blip r:embed="rId3">
            <a:alphaModFix amt="20000"/>
            <a:extLst>
              <a:ext uri="{28A0092B-C50C-407E-A947-70E740481C1C}">
                <a14:useLocalDpi xmlns:a14="http://schemas.microsoft.com/office/drawing/2010/main"/>
              </a:ext>
            </a:extLst>
          </a:blip>
          <a:stretch/>
        </p:blipFill>
        <p:spPr>
          <a:xfrm>
            <a:off x="-588330" y="-773010"/>
            <a:ext cx="3514320" cy="3514320"/>
          </a:xfrm>
          <a:prstGeom prst="rect">
            <a:avLst/>
          </a:prstGeom>
          <a:noFill/>
          <a:ln w="0">
            <a:noFill/>
          </a:ln>
        </p:spPr>
      </p:pic>
      <p:sp>
        <p:nvSpPr>
          <p:cNvPr id="150" name="PlaceHolder 1"/>
          <p:cNvSpPr>
            <a:spLocks noGrp="1"/>
          </p:cNvSpPr>
          <p:nvPr>
            <p:ph type="title"/>
          </p:nvPr>
        </p:nvSpPr>
        <p:spPr>
          <a:xfrm>
            <a:off x="628560" y="685800"/>
            <a:ext cx="7885620" cy="826470"/>
          </a:xfrm>
          <a:prstGeom prst="rect">
            <a:avLst/>
          </a:prstGeom>
          <a:noFill/>
          <a:ln w="0">
            <a:noFill/>
          </a:ln>
        </p:spPr>
        <p:txBody>
          <a:bodyPr lIns="91440" tIns="45720" rIns="91440" bIns="45720" anchor="t">
            <a:noAutofit/>
          </a:bodyPr>
          <a:lstStyle>
            <a:lvl1pPr indent="0" defTabSz="685800">
              <a:lnSpc>
                <a:spcPct val="90000"/>
              </a:lnSpc>
              <a:buNone/>
              <a:tabLst>
                <a:tab pos="0" algn="l"/>
              </a:tabLst>
              <a:defRPr/>
            </a:lvl1pPr>
          </a:lstStyle>
          <a:p>
            <a:pPr indent="0" defTabSz="914400">
              <a:lnSpc>
                <a:spcPct val="90000"/>
              </a:lnSpc>
              <a:buNone/>
              <a:tabLst>
                <a:tab pos="0" algn="l"/>
              </a:tabLst>
            </a:pPr>
            <a:r>
              <a:rPr lang="da-DK" sz="3000" b="1" i="1" u="none" strike="noStrike">
                <a:solidFill>
                  <a:srgbClr val="00454E"/>
                </a:solidFill>
                <a:effectLst/>
                <a:uFillTx/>
                <a:latin typeface="Proxima Nova Alt Rg"/>
              </a:rPr>
              <a:t>Klik for at redigere titeltypografien i masteren</a:t>
            </a:r>
            <a:endParaRPr lang="da-DK" sz="3000" b="0" u="none" strike="noStrike">
              <a:solidFill>
                <a:srgbClr val="000000"/>
              </a:solidFill>
              <a:effectLst/>
              <a:uFillTx/>
              <a:latin typeface="Arial"/>
            </a:endParaRPr>
          </a:p>
        </p:txBody>
      </p:sp>
      <p:sp>
        <p:nvSpPr>
          <p:cNvPr id="151" name="PlaceHolder 2"/>
          <p:cNvSpPr>
            <a:spLocks noGrp="1"/>
          </p:cNvSpPr>
          <p:nvPr>
            <p:ph type="body"/>
          </p:nvPr>
        </p:nvSpPr>
        <p:spPr>
          <a:xfrm>
            <a:off x="628560" y="1693170"/>
            <a:ext cx="7885620" cy="2383290"/>
          </a:xfrm>
          <a:prstGeom prst="rect">
            <a:avLst/>
          </a:prstGeom>
          <a:noFill/>
          <a:ln w="0">
            <a:noFill/>
          </a:ln>
        </p:spPr>
        <p:txBody>
          <a:bodyPr lIns="91440" tIns="45720" rIns="91440" bIns="45720" anchor="t">
            <a:normAutofit/>
          </a:bodyPr>
          <a:lstStyle>
            <a:lvl1pPr marL="171450" indent="-171450" defTabSz="685800">
              <a:lnSpc>
                <a:spcPct val="90000"/>
              </a:lnSpc>
              <a:spcBef>
                <a:spcPts val="751"/>
              </a:spcBef>
              <a:buClr>
                <a:srgbClr val="00454E"/>
              </a:buClr>
              <a:buFont typeface="Arial"/>
              <a:buChar char="•"/>
              <a:defRPr/>
            </a:lvl1pPr>
          </a:lstStyle>
          <a:p>
            <a:pPr marL="228600" indent="-228600" defTabSz="914400">
              <a:lnSpc>
                <a:spcPct val="90000"/>
              </a:lnSpc>
              <a:spcBef>
                <a:spcPts val="1001"/>
              </a:spcBef>
              <a:buClr>
                <a:srgbClr val="00454E"/>
              </a:buClr>
              <a:buFont typeface="Arial"/>
              <a:buChar char="•"/>
            </a:pPr>
            <a:r>
              <a:rPr lang="da-DK" sz="1500" b="0" u="none" strike="noStrike">
                <a:solidFill>
                  <a:srgbClr val="00454E"/>
                </a:solidFill>
                <a:effectLst/>
                <a:uFillTx/>
                <a:latin typeface="Proxima Nova Alt Rg"/>
              </a:rPr>
              <a:t>Klik for at indsætte en illustration</a:t>
            </a:r>
            <a:endParaRPr lang="da-DK" sz="1500" b="0" u="none" strike="noStrike">
              <a:solidFill>
                <a:srgbClr val="000000"/>
              </a:solidFill>
              <a:effectLst/>
              <a:uFillTx/>
              <a:latin typeface="Arial"/>
            </a:endParaRPr>
          </a:p>
        </p:txBody>
      </p:sp>
    </p:spTree>
    <p:extLst>
      <p:ext uri="{BB962C8B-B14F-4D97-AF65-F5344CB8AC3E}">
        <p14:creationId xmlns:p14="http://schemas.microsoft.com/office/powerpoint/2010/main" val="3454665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el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cstate="screen">
            <a:alphaModFix amt="30000"/>
            <a:extLst>
              <a:ext uri="{28A0092B-C50C-407E-A947-70E740481C1C}">
                <a14:useLocalDpi xmlns:a14="http://schemas.microsoft.com/office/drawing/2010/main"/>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1" y="0"/>
            <a:ext cx="1728788" cy="51435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407319" y="841772"/>
            <a:ext cx="6593681" cy="1790700"/>
          </a:xfrm>
        </p:spPr>
        <p:txBody>
          <a:bodyPr anchor="b">
            <a:normAutofit/>
          </a:bodyPr>
          <a:lstStyle>
            <a:lvl1pPr algn="l">
              <a:defRPr sz="3600"/>
            </a:lvl1pPr>
          </a:lstStyle>
          <a:p>
            <a:r>
              <a:rPr lang="da-DK"/>
              <a:t>Klik for at redigere i master</a:t>
            </a:r>
            <a:endParaRPr lang="en-US" dirty="0"/>
          </a:p>
        </p:txBody>
      </p:sp>
      <p:sp>
        <p:nvSpPr>
          <p:cNvPr id="3" name="Subtitle 2"/>
          <p:cNvSpPr>
            <a:spLocks noGrp="1"/>
          </p:cNvSpPr>
          <p:nvPr>
            <p:ph type="subTitle" idx="1"/>
          </p:nvPr>
        </p:nvSpPr>
        <p:spPr>
          <a:xfrm>
            <a:off x="1407319" y="2701528"/>
            <a:ext cx="6593681" cy="1241822"/>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a-DK"/>
              <a:t>Klik for at redigere undertiteltypografien i masteren</a:t>
            </a:r>
            <a:endParaRPr lang="en-US" dirty="0"/>
          </a:p>
        </p:txBody>
      </p:sp>
      <p:sp>
        <p:nvSpPr>
          <p:cNvPr id="4" name="Date Placeholder 3"/>
          <p:cNvSpPr>
            <a:spLocks noGrp="1"/>
          </p:cNvSpPr>
          <p:nvPr>
            <p:ph type="dt" sz="half" idx="10"/>
          </p:nvPr>
        </p:nvSpPr>
        <p:spPr>
          <a:xfrm>
            <a:off x="5308133" y="4057651"/>
            <a:ext cx="2057400" cy="273844"/>
          </a:xfrm>
        </p:spPr>
        <p:txBody>
          <a:bodyPr/>
          <a:lstStyle/>
          <a:p>
            <a:fld id="{48A87A34-81AB-432B-8DAE-1953F412C126}" type="datetimeFigureOut">
              <a:rPr lang="en-US" dirty="0"/>
              <a:t>9/7/2026</a:t>
            </a:fld>
            <a:endParaRPr lang="en-US" dirty="0"/>
          </a:p>
        </p:txBody>
      </p:sp>
      <p:sp>
        <p:nvSpPr>
          <p:cNvPr id="5" name="Footer Placeholder 4"/>
          <p:cNvSpPr>
            <a:spLocks noGrp="1"/>
          </p:cNvSpPr>
          <p:nvPr>
            <p:ph type="ftr" sz="quarter" idx="11"/>
          </p:nvPr>
        </p:nvSpPr>
        <p:spPr>
          <a:xfrm>
            <a:off x="1407318" y="4057651"/>
            <a:ext cx="3843665" cy="273844"/>
          </a:xfrm>
        </p:spPr>
        <p:txBody>
          <a:bodyPr/>
          <a:lstStyle/>
          <a:p>
            <a:endParaRPr lang="en-US" dirty="0"/>
          </a:p>
        </p:txBody>
      </p:sp>
      <p:sp>
        <p:nvSpPr>
          <p:cNvPr id="6" name="Slide Number Placeholder 5"/>
          <p:cNvSpPr>
            <a:spLocks noGrp="1"/>
          </p:cNvSpPr>
          <p:nvPr>
            <p:ph type="sldNum" sz="quarter" idx="12"/>
          </p:nvPr>
        </p:nvSpPr>
        <p:spPr>
          <a:xfrm>
            <a:off x="7422684" y="4057650"/>
            <a:ext cx="578317" cy="273844"/>
          </a:xfrm>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92373386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Content Placeholder 2"/>
          <p:cNvSpPr>
            <a:spLocks noGrp="1"/>
          </p:cNvSpPr>
          <p:nvPr>
            <p:ph idx="1"/>
          </p:nvPr>
        </p:nvSpPr>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endParaRPr lang="da-DK"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47CDE5-0717-48E4-9385-7C842E50026E}" type="slidenum">
              <a:rPr lang="da-DK" smtClean="0"/>
              <a:pPr/>
              <a:t>‹nr.›</a:t>
            </a:fld>
            <a:endParaRPr lang="da-DK" dirty="0"/>
          </a:p>
        </p:txBody>
      </p:sp>
    </p:spTree>
    <p:extLst>
      <p:ext uri="{BB962C8B-B14F-4D97-AF65-F5344CB8AC3E}">
        <p14:creationId xmlns:p14="http://schemas.microsoft.com/office/powerpoint/2010/main" val="2893811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856058" y="1064420"/>
            <a:ext cx="7429500" cy="2139553"/>
          </a:xfrm>
        </p:spPr>
        <p:txBody>
          <a:bodyPr anchor="b">
            <a:normAutofit/>
          </a:bodyPr>
          <a:lstStyle>
            <a:lvl1pPr>
              <a:defRPr sz="2700"/>
            </a:lvl1pPr>
          </a:lstStyle>
          <a:p>
            <a:r>
              <a:rPr lang="da-DK"/>
              <a:t>Klik for at redigere i master</a:t>
            </a:r>
            <a:endParaRPr lang="en-US" dirty="0"/>
          </a:p>
        </p:txBody>
      </p:sp>
      <p:sp>
        <p:nvSpPr>
          <p:cNvPr id="3" name="Text Placeholder 2"/>
          <p:cNvSpPr>
            <a:spLocks noGrp="1"/>
          </p:cNvSpPr>
          <p:nvPr>
            <p:ph type="body" idx="1"/>
          </p:nvPr>
        </p:nvSpPr>
        <p:spPr>
          <a:xfrm>
            <a:off x="856058" y="3318272"/>
            <a:ext cx="7429500" cy="1031082"/>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a-DK"/>
              <a:t>Rediger typografien i masterens</a:t>
            </a:r>
          </a:p>
        </p:txBody>
      </p:sp>
      <p:sp>
        <p:nvSpPr>
          <p:cNvPr id="4" name="Date Placeholder 3"/>
          <p:cNvSpPr>
            <a:spLocks noGrp="1"/>
          </p:cNvSpPr>
          <p:nvPr>
            <p:ph type="dt" sz="half" idx="10"/>
          </p:nvPr>
        </p:nvSpPr>
        <p:spPr/>
        <p:txBody>
          <a:bodyPr/>
          <a:lstStyle/>
          <a:p>
            <a:fld id="{48A87A34-81AB-432B-8DAE-1953F412C126}"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34403221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Content Placeholder 2"/>
          <p:cNvSpPr>
            <a:spLocks noGrp="1"/>
          </p:cNvSpPr>
          <p:nvPr>
            <p:ph sz="half" idx="1"/>
          </p:nvPr>
        </p:nvSpPr>
        <p:spPr>
          <a:xfrm>
            <a:off x="856058" y="1687114"/>
            <a:ext cx="3658792" cy="2656286"/>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4629151" y="1687114"/>
            <a:ext cx="3656408" cy="2656286"/>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8268436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856058" y="464345"/>
            <a:ext cx="7429500" cy="1108471"/>
          </a:xfrm>
        </p:spPr>
        <p:txBody>
          <a:bodyPr/>
          <a:lstStyle/>
          <a:p>
            <a:r>
              <a:rPr lang="da-DK"/>
              <a:t>Klik for at redigere i master</a:t>
            </a:r>
            <a:endParaRPr lang="en-US" dirty="0"/>
          </a:p>
        </p:txBody>
      </p:sp>
      <p:sp>
        <p:nvSpPr>
          <p:cNvPr id="3" name="Text Placeholder 2"/>
          <p:cNvSpPr>
            <a:spLocks noGrp="1"/>
          </p:cNvSpPr>
          <p:nvPr>
            <p:ph type="body" idx="1"/>
          </p:nvPr>
        </p:nvSpPr>
        <p:spPr>
          <a:xfrm>
            <a:off x="1027515" y="1687115"/>
            <a:ext cx="3487337"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4" name="Content Placeholder 3"/>
          <p:cNvSpPr>
            <a:spLocks noGrp="1"/>
          </p:cNvSpPr>
          <p:nvPr>
            <p:ph sz="half" idx="2"/>
          </p:nvPr>
        </p:nvSpPr>
        <p:spPr>
          <a:xfrm>
            <a:off x="856058" y="2305048"/>
            <a:ext cx="3658793" cy="2038351"/>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4800606" y="1687114"/>
            <a:ext cx="3484952"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6" name="Content Placeholder 5"/>
          <p:cNvSpPr>
            <a:spLocks noGrp="1"/>
          </p:cNvSpPr>
          <p:nvPr>
            <p:ph sz="quarter" idx="4"/>
          </p:nvPr>
        </p:nvSpPr>
        <p:spPr>
          <a:xfrm>
            <a:off x="4629150" y="2305048"/>
            <a:ext cx="3656408" cy="2038351"/>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23846149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423355770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184768501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60029" y="457201"/>
            <a:ext cx="2892028" cy="1229913"/>
          </a:xfrm>
        </p:spPr>
        <p:txBody>
          <a:bodyPr anchor="b"/>
          <a:lstStyle>
            <a:lvl1pPr>
              <a:defRPr sz="2400"/>
            </a:lvl1pPr>
          </a:lstStyle>
          <a:p>
            <a:r>
              <a:rPr lang="da-DK"/>
              <a:t>Klik for at redigere i master</a:t>
            </a:r>
            <a:endParaRPr lang="en-US" dirty="0"/>
          </a:p>
        </p:txBody>
      </p:sp>
      <p:sp>
        <p:nvSpPr>
          <p:cNvPr id="3" name="Content Placeholder 2"/>
          <p:cNvSpPr>
            <a:spLocks noGrp="1"/>
          </p:cNvSpPr>
          <p:nvPr>
            <p:ph idx="1"/>
          </p:nvPr>
        </p:nvSpPr>
        <p:spPr>
          <a:xfrm>
            <a:off x="3867150" y="444499"/>
            <a:ext cx="4418407" cy="3898901"/>
          </a:xfrm>
        </p:spPr>
        <p:txBody>
          <a:bodyPr anchor="ct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860029" y="1687114"/>
            <a:ext cx="2892028"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100848295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0"/>
            <a:ext cx="4450881" cy="1229915"/>
          </a:xfrm>
        </p:spPr>
        <p:txBody>
          <a:bodyPr anchor="b"/>
          <a:lstStyle>
            <a:lvl1pPr>
              <a:defRPr sz="2400"/>
            </a:lvl1pPr>
          </a:lstStyle>
          <a:p>
            <a:r>
              <a:rPr lang="da-DK"/>
              <a:t>Klik for at redigere i master</a:t>
            </a:r>
            <a:endParaRPr lang="en-US" dirty="0"/>
          </a:p>
        </p:txBody>
      </p:sp>
      <p:sp>
        <p:nvSpPr>
          <p:cNvPr id="3" name="Picture Placeholder 2"/>
          <p:cNvSpPr>
            <a:spLocks noGrp="1" noChangeAspect="1"/>
          </p:cNvSpPr>
          <p:nvPr>
            <p:ph type="pic" idx="1"/>
          </p:nvPr>
        </p:nvSpPr>
        <p:spPr>
          <a:xfrm>
            <a:off x="5535541" y="457201"/>
            <a:ext cx="2750018" cy="38861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a-DK"/>
              <a:t>Klik på ikonet for at tilføje et billede</a:t>
            </a:r>
            <a:endParaRPr lang="en-US" dirty="0"/>
          </a:p>
        </p:txBody>
      </p:sp>
      <p:sp>
        <p:nvSpPr>
          <p:cNvPr id="4" name="Text Placeholder 3"/>
          <p:cNvSpPr>
            <a:spLocks noGrp="1"/>
          </p:cNvSpPr>
          <p:nvPr>
            <p:ph type="body" sz="half" idx="2"/>
          </p:nvPr>
        </p:nvSpPr>
        <p:spPr>
          <a:xfrm>
            <a:off x="856058" y="1687114"/>
            <a:ext cx="4450883"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389262046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anoramisk 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56058" y="3228499"/>
            <a:ext cx="7434266" cy="614516"/>
          </a:xfrm>
        </p:spPr>
        <p:txBody>
          <a:bodyPr anchor="b">
            <a:normAutofit/>
          </a:bodyPr>
          <a:lstStyle>
            <a:lvl1pPr>
              <a:defRPr sz="2400"/>
            </a:lvl1pPr>
          </a:lstStyle>
          <a:p>
            <a:r>
              <a:rPr lang="da-DK"/>
              <a:t>Klik for at redigere i master</a:t>
            </a:r>
            <a:endParaRPr lang="en-US" dirty="0"/>
          </a:p>
        </p:txBody>
      </p:sp>
      <p:sp>
        <p:nvSpPr>
          <p:cNvPr id="3" name="Picture Placeholder 2"/>
          <p:cNvSpPr>
            <a:spLocks noGrp="1" noChangeAspect="1"/>
          </p:cNvSpPr>
          <p:nvPr>
            <p:ph type="pic" idx="1"/>
          </p:nvPr>
        </p:nvSpPr>
        <p:spPr>
          <a:xfrm>
            <a:off x="856058" y="454819"/>
            <a:ext cx="7434266" cy="24748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da-DK"/>
              <a:t>Klik på ikonet for at tilføje et billede</a:t>
            </a:r>
            <a:endParaRPr lang="en-US" dirty="0"/>
          </a:p>
        </p:txBody>
      </p:sp>
      <p:sp>
        <p:nvSpPr>
          <p:cNvPr id="4" name="Text Placeholder 3"/>
          <p:cNvSpPr>
            <a:spLocks noGrp="1"/>
          </p:cNvSpPr>
          <p:nvPr>
            <p:ph type="body" sz="half" idx="2"/>
          </p:nvPr>
        </p:nvSpPr>
        <p:spPr>
          <a:xfrm>
            <a:off x="856024" y="3843015"/>
            <a:ext cx="7433144" cy="511854"/>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113469446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el og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56093" y="457200"/>
            <a:ext cx="7429466" cy="2571750"/>
          </a:xfrm>
        </p:spPr>
        <p:txBody>
          <a:bodyPr anchor="ctr">
            <a:normAutofit/>
          </a:bodyPr>
          <a:lstStyle>
            <a:lvl1pPr>
              <a:defRPr sz="2700"/>
            </a:lvl1pPr>
          </a:lstStyle>
          <a:p>
            <a:r>
              <a:rPr lang="da-DK"/>
              <a:t>Klik for at redigere i master</a:t>
            </a:r>
            <a:endParaRPr lang="en-US" dirty="0"/>
          </a:p>
        </p:txBody>
      </p:sp>
      <p:sp>
        <p:nvSpPr>
          <p:cNvPr id="4" name="Text Placeholder 3"/>
          <p:cNvSpPr>
            <a:spLocks noGrp="1"/>
          </p:cNvSpPr>
          <p:nvPr>
            <p:ph type="body" sz="half" idx="2"/>
          </p:nvPr>
        </p:nvSpPr>
        <p:spPr>
          <a:xfrm>
            <a:off x="856058" y="3314700"/>
            <a:ext cx="7428344" cy="1028699"/>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331931612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itat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061322"/>
          </a:xfrm>
        </p:spPr>
        <p:txBody>
          <a:bodyPr anchor="ctr">
            <a:normAutofit/>
          </a:bodyPr>
          <a:lstStyle>
            <a:lvl1pPr>
              <a:defRPr sz="2700"/>
            </a:lvl1pPr>
          </a:lstStyle>
          <a:p>
            <a:r>
              <a:rPr lang="da-DK"/>
              <a:t>Klik for at redigere i master</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4" name="Text Placeholder 3"/>
          <p:cNvSpPr>
            <a:spLocks noGrp="1"/>
          </p:cNvSpPr>
          <p:nvPr>
            <p:ph type="body" sz="half" idx="2"/>
          </p:nvPr>
        </p:nvSpPr>
        <p:spPr>
          <a:xfrm>
            <a:off x="856058" y="3232439"/>
            <a:ext cx="7429502" cy="1117122"/>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
        <p:nvSpPr>
          <p:cNvPr id="60" name="TextBox 59"/>
          <p:cNvSpPr txBox="1"/>
          <p:nvPr/>
        </p:nvSpPr>
        <p:spPr>
          <a:xfrm>
            <a:off x="677634" y="54929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61" name="TextBox 60"/>
          <p:cNvSpPr txBox="1"/>
          <p:nvPr/>
        </p:nvSpPr>
        <p:spPr>
          <a:xfrm>
            <a:off x="7903028" y="207372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44868126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avnekort">
    <p:spTree>
      <p:nvGrpSpPr>
        <p:cNvPr id="1" name=""/>
        <p:cNvGrpSpPr/>
        <p:nvPr/>
      </p:nvGrpSpPr>
      <p:grpSpPr>
        <a:xfrm>
          <a:off x="0" y="0"/>
          <a:ext cx="0" cy="0"/>
          <a:chOff x="0" y="0"/>
          <a:chExt cx="0" cy="0"/>
        </a:xfrm>
      </p:grpSpPr>
      <p:sp>
        <p:nvSpPr>
          <p:cNvPr id="2" name="Title 1"/>
          <p:cNvSpPr>
            <a:spLocks noGrp="1"/>
          </p:cNvSpPr>
          <p:nvPr>
            <p:ph type="title"/>
          </p:nvPr>
        </p:nvSpPr>
        <p:spPr>
          <a:xfrm>
            <a:off x="856058" y="1600531"/>
            <a:ext cx="7429501" cy="1883876"/>
          </a:xfrm>
        </p:spPr>
        <p:txBody>
          <a:bodyPr anchor="b">
            <a:normAutofit/>
          </a:bodyPr>
          <a:lstStyle>
            <a:lvl1pPr>
              <a:defRPr sz="2700"/>
            </a:lvl1pPr>
          </a:lstStyle>
          <a:p>
            <a:r>
              <a:rPr lang="da-DK"/>
              <a:t>Klik for at redigere i master</a:t>
            </a:r>
            <a:endParaRPr lang="en-US" dirty="0"/>
          </a:p>
        </p:txBody>
      </p:sp>
      <p:sp>
        <p:nvSpPr>
          <p:cNvPr id="4" name="Text Placeholder 3"/>
          <p:cNvSpPr>
            <a:spLocks noGrp="1"/>
          </p:cNvSpPr>
          <p:nvPr>
            <p:ph type="body" sz="half" idx="2"/>
          </p:nvPr>
        </p:nvSpPr>
        <p:spPr>
          <a:xfrm>
            <a:off x="856023" y="3493241"/>
            <a:ext cx="7428379" cy="855483"/>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a-DK"/>
              <a:t>Rediger typografien i masterens</a:t>
            </a:r>
          </a:p>
        </p:txBody>
      </p:sp>
      <p:sp>
        <p:nvSpPr>
          <p:cNvPr id="5" name="Date Placeholder 4"/>
          <p:cNvSpPr>
            <a:spLocks noGrp="1"/>
          </p:cNvSpPr>
          <p:nvPr>
            <p:ph type="dt" sz="half" idx="10"/>
          </p:nvPr>
        </p:nvSpPr>
        <p:spPr/>
        <p:txBody>
          <a:bodyPr/>
          <a:lstStyle/>
          <a:p>
            <a:fld id="{48A87A34-81AB-432B-8DAE-1953F412C126}"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93175218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kolonner">
    <p:spTree>
      <p:nvGrpSpPr>
        <p:cNvPr id="1" name=""/>
        <p:cNvGrpSpPr/>
        <p:nvPr/>
      </p:nvGrpSpPr>
      <p:grpSpPr>
        <a:xfrm>
          <a:off x="0" y="0"/>
          <a:ext cx="0" cy="0"/>
          <a:chOff x="0" y="0"/>
          <a:chExt cx="0" cy="0"/>
        </a:xfrm>
      </p:grpSpPr>
      <p:sp>
        <p:nvSpPr>
          <p:cNvPr id="15" name="Title 1"/>
          <p:cNvSpPr>
            <a:spLocks noGrp="1"/>
          </p:cNvSpPr>
          <p:nvPr>
            <p:ph type="title"/>
          </p:nvPr>
        </p:nvSpPr>
        <p:spPr>
          <a:xfrm>
            <a:off x="856060" y="457200"/>
            <a:ext cx="7429499" cy="1428750"/>
          </a:xfrm>
        </p:spPr>
        <p:txBody>
          <a:bodyPr/>
          <a:lstStyle/>
          <a:p>
            <a:r>
              <a:rPr lang="da-DK"/>
              <a:t>Klik for at redigere i master</a:t>
            </a:r>
            <a:endParaRPr lang="en-US" dirty="0"/>
          </a:p>
        </p:txBody>
      </p:sp>
      <p:sp>
        <p:nvSpPr>
          <p:cNvPr id="7" name="Text Placeholder 2"/>
          <p:cNvSpPr>
            <a:spLocks noGrp="1"/>
          </p:cNvSpPr>
          <p:nvPr>
            <p:ph type="body" idx="1"/>
          </p:nvPr>
        </p:nvSpPr>
        <p:spPr>
          <a:xfrm>
            <a:off x="856058" y="2005847"/>
            <a:ext cx="2397674"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8" name="Text Placeholder 3"/>
          <p:cNvSpPr>
            <a:spLocks noGrp="1"/>
          </p:cNvSpPr>
          <p:nvPr>
            <p:ph type="body" sz="half" idx="15"/>
          </p:nvPr>
        </p:nvSpPr>
        <p:spPr>
          <a:xfrm>
            <a:off x="845939" y="2520197"/>
            <a:ext cx="2406551"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9" name="Text Placeholder 4"/>
          <p:cNvSpPr>
            <a:spLocks noGrp="1"/>
          </p:cNvSpPr>
          <p:nvPr>
            <p:ph type="body" sz="quarter" idx="3"/>
          </p:nvPr>
        </p:nvSpPr>
        <p:spPr>
          <a:xfrm>
            <a:off x="3386075" y="2008226"/>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10" name="Text Placeholder 3"/>
          <p:cNvSpPr>
            <a:spLocks noGrp="1"/>
          </p:cNvSpPr>
          <p:nvPr>
            <p:ph type="body" sz="half" idx="16"/>
          </p:nvPr>
        </p:nvSpPr>
        <p:spPr>
          <a:xfrm>
            <a:off x="3378160" y="2522576"/>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11" name="Text Placeholder 4"/>
          <p:cNvSpPr>
            <a:spLocks noGrp="1"/>
          </p:cNvSpPr>
          <p:nvPr>
            <p:ph type="body" sz="quarter" idx="13"/>
          </p:nvPr>
        </p:nvSpPr>
        <p:spPr>
          <a:xfrm>
            <a:off x="5889332" y="2005847"/>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12" name="Text Placeholder 3"/>
          <p:cNvSpPr>
            <a:spLocks noGrp="1"/>
          </p:cNvSpPr>
          <p:nvPr>
            <p:ph type="body" sz="half" idx="17"/>
          </p:nvPr>
        </p:nvSpPr>
        <p:spPr>
          <a:xfrm>
            <a:off x="5889332" y="2520197"/>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3" name="Date Placeholder 2"/>
          <p:cNvSpPr>
            <a:spLocks noGrp="1"/>
          </p:cNvSpPr>
          <p:nvPr>
            <p:ph type="dt" sz="half" idx="10"/>
          </p:nvPr>
        </p:nvSpPr>
        <p:spPr/>
        <p:txBody>
          <a:bodyPr/>
          <a:lstStyle/>
          <a:p>
            <a:fld id="{48A87A34-81AB-432B-8DAE-1953F412C126}" type="datetimeFigureOut">
              <a:rPr lang="en-US" dirty="0"/>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334902104"/>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 kolonner med billede">
    <p:spTree>
      <p:nvGrpSpPr>
        <p:cNvPr id="1" name=""/>
        <p:cNvGrpSpPr/>
        <p:nvPr/>
      </p:nvGrpSpPr>
      <p:grpSpPr>
        <a:xfrm>
          <a:off x="0" y="0"/>
          <a:ext cx="0" cy="0"/>
          <a:chOff x="0" y="0"/>
          <a:chExt cx="0" cy="0"/>
        </a:xfrm>
      </p:grpSpPr>
      <p:sp>
        <p:nvSpPr>
          <p:cNvPr id="30" name="Title 1"/>
          <p:cNvSpPr>
            <a:spLocks noGrp="1"/>
          </p:cNvSpPr>
          <p:nvPr>
            <p:ph type="title"/>
          </p:nvPr>
        </p:nvSpPr>
        <p:spPr>
          <a:xfrm>
            <a:off x="856059" y="457200"/>
            <a:ext cx="7429499" cy="1428750"/>
          </a:xfrm>
        </p:spPr>
        <p:txBody>
          <a:bodyPr/>
          <a:lstStyle/>
          <a:p>
            <a:r>
              <a:rPr lang="da-DK"/>
              <a:t>Klik for at redigere i master</a:t>
            </a:r>
            <a:endParaRPr lang="en-US" dirty="0"/>
          </a:p>
        </p:txBody>
      </p:sp>
      <p:sp>
        <p:nvSpPr>
          <p:cNvPr id="19" name="Text Placeholder 2"/>
          <p:cNvSpPr>
            <a:spLocks noGrp="1"/>
          </p:cNvSpPr>
          <p:nvPr>
            <p:ph type="body" idx="1"/>
          </p:nvPr>
        </p:nvSpPr>
        <p:spPr>
          <a:xfrm>
            <a:off x="856060" y="3303447"/>
            <a:ext cx="239643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20" name="Picture Placeholder 2"/>
          <p:cNvSpPr>
            <a:spLocks noGrp="1" noChangeAspect="1"/>
          </p:cNvSpPr>
          <p:nvPr>
            <p:ph type="pic" idx="15"/>
          </p:nvPr>
        </p:nvSpPr>
        <p:spPr>
          <a:xfrm>
            <a:off x="856060" y="2000249"/>
            <a:ext cx="2396430"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da-DK"/>
              <a:t>Klik på ikonet for at tilføje et billede</a:t>
            </a:r>
            <a:endParaRPr lang="en-US" dirty="0"/>
          </a:p>
        </p:txBody>
      </p:sp>
      <p:sp>
        <p:nvSpPr>
          <p:cNvPr id="21" name="Text Placeholder 3"/>
          <p:cNvSpPr>
            <a:spLocks noGrp="1"/>
          </p:cNvSpPr>
          <p:nvPr>
            <p:ph type="body" sz="half" idx="18"/>
          </p:nvPr>
        </p:nvSpPr>
        <p:spPr>
          <a:xfrm>
            <a:off x="856060" y="3735644"/>
            <a:ext cx="2396430" cy="61338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22" name="Text Placeholder 4"/>
          <p:cNvSpPr>
            <a:spLocks noGrp="1"/>
          </p:cNvSpPr>
          <p:nvPr>
            <p:ph type="body" sz="quarter" idx="3"/>
          </p:nvPr>
        </p:nvSpPr>
        <p:spPr>
          <a:xfrm>
            <a:off x="3366790" y="3303447"/>
            <a:ext cx="240030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23" name="Picture Placeholder 2"/>
          <p:cNvSpPr>
            <a:spLocks noGrp="1" noChangeAspect="1"/>
          </p:cNvSpPr>
          <p:nvPr>
            <p:ph type="pic" idx="21"/>
          </p:nvPr>
        </p:nvSpPr>
        <p:spPr>
          <a:xfrm>
            <a:off x="3366790" y="2000249"/>
            <a:ext cx="2399205"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da-DK"/>
              <a:t>Klik på ikonet for at tilføje et billede</a:t>
            </a:r>
            <a:endParaRPr lang="en-US" dirty="0"/>
          </a:p>
        </p:txBody>
      </p:sp>
      <p:sp>
        <p:nvSpPr>
          <p:cNvPr id="24" name="Text Placeholder 3"/>
          <p:cNvSpPr>
            <a:spLocks noGrp="1"/>
          </p:cNvSpPr>
          <p:nvPr>
            <p:ph type="body" sz="half" idx="19"/>
          </p:nvPr>
        </p:nvSpPr>
        <p:spPr>
          <a:xfrm>
            <a:off x="3365695" y="3735643"/>
            <a:ext cx="2400300" cy="60775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25" name="Text Placeholder 4"/>
          <p:cNvSpPr>
            <a:spLocks noGrp="1"/>
          </p:cNvSpPr>
          <p:nvPr>
            <p:ph type="body" sz="quarter" idx="13"/>
          </p:nvPr>
        </p:nvSpPr>
        <p:spPr>
          <a:xfrm>
            <a:off x="5889426" y="3303446"/>
            <a:ext cx="2393056"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a-DK"/>
              <a:t>Rediger typografien i masterens</a:t>
            </a:r>
          </a:p>
        </p:txBody>
      </p:sp>
      <p:sp>
        <p:nvSpPr>
          <p:cNvPr id="26" name="Picture Placeholder 2"/>
          <p:cNvSpPr>
            <a:spLocks noGrp="1" noChangeAspect="1"/>
          </p:cNvSpPr>
          <p:nvPr>
            <p:ph type="pic" idx="22"/>
          </p:nvPr>
        </p:nvSpPr>
        <p:spPr>
          <a:xfrm>
            <a:off x="5889332" y="2000249"/>
            <a:ext cx="2396227"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da-DK"/>
              <a:t>Klik på ikonet for at tilføje et billede</a:t>
            </a:r>
            <a:endParaRPr lang="en-US" dirty="0"/>
          </a:p>
        </p:txBody>
      </p:sp>
      <p:sp>
        <p:nvSpPr>
          <p:cNvPr id="27" name="Text Placeholder 3"/>
          <p:cNvSpPr>
            <a:spLocks noGrp="1"/>
          </p:cNvSpPr>
          <p:nvPr>
            <p:ph type="body" sz="half" idx="20"/>
          </p:nvPr>
        </p:nvSpPr>
        <p:spPr>
          <a:xfrm>
            <a:off x="5889332" y="3735641"/>
            <a:ext cx="2396226" cy="60775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a-DK"/>
              <a:t>Rediger typografien i masterens</a:t>
            </a:r>
          </a:p>
        </p:txBody>
      </p:sp>
      <p:sp>
        <p:nvSpPr>
          <p:cNvPr id="3" name="Date Placeholder 2"/>
          <p:cNvSpPr>
            <a:spLocks noGrp="1"/>
          </p:cNvSpPr>
          <p:nvPr>
            <p:ph type="dt" sz="half" idx="10"/>
          </p:nvPr>
        </p:nvSpPr>
        <p:spPr/>
        <p:txBody>
          <a:bodyPr/>
          <a:lstStyle/>
          <a:p>
            <a:fld id="{48A87A34-81AB-432B-8DAE-1953F412C126}" type="datetimeFigureOut">
              <a:rPr lang="en-US" dirty="0"/>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363130514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i master</a:t>
            </a:r>
            <a:endParaRPr lang="en-US" dirty="0"/>
          </a:p>
        </p:txBody>
      </p:sp>
      <p:sp>
        <p:nvSpPr>
          <p:cNvPr id="3" name="Vertical Text Placeholder 2"/>
          <p:cNvSpPr>
            <a:spLocks noGrp="1"/>
          </p:cNvSpPr>
          <p:nvPr>
            <p:ph type="body" orient="vert" idx="1"/>
          </p:nvPr>
        </p:nvSpPr>
        <p:spPr/>
        <p:txBody>
          <a:bodyPr vert="eaVert" ancho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184160430"/>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457200"/>
            <a:ext cx="1503758" cy="3886201"/>
          </a:xfrm>
        </p:spPr>
        <p:txBody>
          <a:bodyPr vert="eaVert"/>
          <a:lstStyle/>
          <a:p>
            <a:r>
              <a:rPr lang="da-DK"/>
              <a:t>Klik for at redigere i master</a:t>
            </a:r>
            <a:endParaRPr lang="en-US" dirty="0"/>
          </a:p>
        </p:txBody>
      </p:sp>
      <p:sp>
        <p:nvSpPr>
          <p:cNvPr id="3" name="Vertical Text Placeholder 2"/>
          <p:cNvSpPr>
            <a:spLocks noGrp="1"/>
          </p:cNvSpPr>
          <p:nvPr>
            <p:ph type="body" orient="vert" idx="1"/>
          </p:nvPr>
        </p:nvSpPr>
        <p:spPr>
          <a:xfrm>
            <a:off x="856057" y="457200"/>
            <a:ext cx="5811443" cy="3886201"/>
          </a:xfrm>
        </p:spPr>
        <p:txBody>
          <a:bodyPr vert="eaVe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28747849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ekstslide 1">
    <p:bg>
      <p:bgPr>
        <a:solidFill>
          <a:srgbClr val="CAE4E4"/>
        </a:solidFill>
        <a:effectLst/>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628560" y="685800"/>
            <a:ext cx="7885620" cy="826470"/>
          </a:xfrm>
          <a:prstGeom prst="rect">
            <a:avLst/>
          </a:prstGeom>
          <a:noFill/>
          <a:ln w="0">
            <a:noFill/>
          </a:ln>
        </p:spPr>
        <p:txBody>
          <a:bodyPr lIns="91440" tIns="45720" rIns="91440" bIns="45720" anchor="t">
            <a:noAutofit/>
          </a:bodyPr>
          <a:lstStyle>
            <a:lvl1pPr indent="0" defTabSz="685800">
              <a:lnSpc>
                <a:spcPct val="90000"/>
              </a:lnSpc>
              <a:buNone/>
              <a:tabLst>
                <a:tab pos="0" algn="l"/>
              </a:tabLst>
              <a:defRPr/>
            </a:lvl1pPr>
          </a:lstStyle>
          <a:p>
            <a:pPr indent="0" defTabSz="914400">
              <a:lnSpc>
                <a:spcPct val="90000"/>
              </a:lnSpc>
              <a:buNone/>
              <a:tabLst>
                <a:tab pos="0" algn="l"/>
              </a:tabLst>
            </a:pPr>
            <a:r>
              <a:rPr lang="da-DK" sz="3000" b="1" i="1" u="none" strike="noStrike">
                <a:solidFill>
                  <a:srgbClr val="00454E"/>
                </a:solidFill>
                <a:effectLst/>
                <a:uFillTx/>
                <a:latin typeface="Proxima Nova Alt Rg"/>
              </a:rPr>
              <a:t>Klik for at redigere overskriften (1 linje)</a:t>
            </a:r>
            <a:endParaRPr lang="da-DK" sz="3000" b="0" u="none" strike="noStrike">
              <a:solidFill>
                <a:srgbClr val="000000"/>
              </a:solidFill>
              <a:effectLst/>
              <a:uFillTx/>
              <a:latin typeface="Arial"/>
            </a:endParaRPr>
          </a:p>
        </p:txBody>
      </p:sp>
      <p:sp>
        <p:nvSpPr>
          <p:cNvPr id="88" name="PlaceHolder 2"/>
          <p:cNvSpPr>
            <a:spLocks noGrp="1"/>
          </p:cNvSpPr>
          <p:nvPr>
            <p:ph type="body"/>
          </p:nvPr>
        </p:nvSpPr>
        <p:spPr>
          <a:xfrm>
            <a:off x="628560" y="1513350"/>
            <a:ext cx="6699240" cy="2563110"/>
          </a:xfrm>
          <a:prstGeom prst="rect">
            <a:avLst/>
          </a:prstGeom>
          <a:noFill/>
          <a:ln w="0">
            <a:noFill/>
          </a:ln>
        </p:spPr>
        <p:txBody>
          <a:bodyPr lIns="91440" tIns="45720" rIns="91440" bIns="45720" anchor="t">
            <a:normAutofit/>
          </a:bodyPr>
          <a:lstStyle>
            <a:lvl1pPr marL="171450" indent="-171450" defTabSz="685800">
              <a:lnSpc>
                <a:spcPct val="90000"/>
              </a:lnSpc>
              <a:spcBef>
                <a:spcPts val="751"/>
              </a:spcBef>
              <a:buClr>
                <a:srgbClr val="00454E"/>
              </a:buClr>
              <a:buFont typeface="Arial"/>
              <a:buChar char="•"/>
              <a:defRPr/>
            </a:lvl1pPr>
          </a:lstStyle>
          <a:p>
            <a:pPr marL="228600" indent="-228600" defTabSz="914400">
              <a:lnSpc>
                <a:spcPct val="90000"/>
              </a:lnSpc>
              <a:spcBef>
                <a:spcPts val="1001"/>
              </a:spcBef>
              <a:buClr>
                <a:srgbClr val="00454E"/>
              </a:buClr>
              <a:buFont typeface="Arial"/>
              <a:buChar char="•"/>
            </a:pPr>
            <a:r>
              <a:rPr lang="da-DK" sz="1500" b="0" u="none" strike="noStrike">
                <a:solidFill>
                  <a:srgbClr val="00454E"/>
                </a:solidFill>
                <a:effectLst/>
                <a:uFillTx/>
                <a:latin typeface="Proxima Nova Alt Rg"/>
              </a:rPr>
              <a:t>Klik for at redigere teksttypografierne i masteren</a:t>
            </a:r>
            <a:endParaRPr lang="da-DK" sz="1500" b="0" u="none" strike="noStrike">
              <a:solidFill>
                <a:srgbClr val="000000"/>
              </a:solidFill>
              <a:effectLst/>
              <a:uFillTx/>
              <a:latin typeface="Arial"/>
            </a:endParaRPr>
          </a:p>
        </p:txBody>
      </p:sp>
    </p:spTree>
    <p:extLst>
      <p:ext uri="{BB962C8B-B14F-4D97-AF65-F5344CB8AC3E}">
        <p14:creationId xmlns:p14="http://schemas.microsoft.com/office/powerpoint/2010/main" val="4125605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00454E"/>
              </a:buClr>
              <a:buSzPts val="2800"/>
              <a:buNone/>
              <a:defRPr sz="2800">
                <a:solidFill>
                  <a:srgbClr val="00454E"/>
                </a:solidFill>
              </a:defRPr>
            </a:lvl1pPr>
            <a:lvl2pPr lvl="1">
              <a:spcBef>
                <a:spcPts val="0"/>
              </a:spcBef>
              <a:spcAft>
                <a:spcPts val="0"/>
              </a:spcAft>
              <a:buClr>
                <a:srgbClr val="00454E"/>
              </a:buClr>
              <a:buSzPts val="2800"/>
              <a:buNone/>
              <a:defRPr sz="2800">
                <a:solidFill>
                  <a:srgbClr val="00454E"/>
                </a:solidFill>
              </a:defRPr>
            </a:lvl2pPr>
            <a:lvl3pPr lvl="2">
              <a:spcBef>
                <a:spcPts val="0"/>
              </a:spcBef>
              <a:spcAft>
                <a:spcPts val="0"/>
              </a:spcAft>
              <a:buClr>
                <a:srgbClr val="00454E"/>
              </a:buClr>
              <a:buSzPts val="2800"/>
              <a:buNone/>
              <a:defRPr sz="2800">
                <a:solidFill>
                  <a:srgbClr val="00454E"/>
                </a:solidFill>
              </a:defRPr>
            </a:lvl3pPr>
            <a:lvl4pPr lvl="3">
              <a:spcBef>
                <a:spcPts val="0"/>
              </a:spcBef>
              <a:spcAft>
                <a:spcPts val="0"/>
              </a:spcAft>
              <a:buClr>
                <a:srgbClr val="00454E"/>
              </a:buClr>
              <a:buSzPts val="2800"/>
              <a:buNone/>
              <a:defRPr sz="2800">
                <a:solidFill>
                  <a:srgbClr val="00454E"/>
                </a:solidFill>
              </a:defRPr>
            </a:lvl4pPr>
            <a:lvl5pPr lvl="4">
              <a:spcBef>
                <a:spcPts val="0"/>
              </a:spcBef>
              <a:spcAft>
                <a:spcPts val="0"/>
              </a:spcAft>
              <a:buClr>
                <a:srgbClr val="00454E"/>
              </a:buClr>
              <a:buSzPts val="2800"/>
              <a:buNone/>
              <a:defRPr sz="2800">
                <a:solidFill>
                  <a:srgbClr val="00454E"/>
                </a:solidFill>
              </a:defRPr>
            </a:lvl5pPr>
            <a:lvl6pPr lvl="5">
              <a:spcBef>
                <a:spcPts val="0"/>
              </a:spcBef>
              <a:spcAft>
                <a:spcPts val="0"/>
              </a:spcAft>
              <a:buClr>
                <a:srgbClr val="00454E"/>
              </a:buClr>
              <a:buSzPts val="2800"/>
              <a:buNone/>
              <a:defRPr sz="2800">
                <a:solidFill>
                  <a:srgbClr val="00454E"/>
                </a:solidFill>
              </a:defRPr>
            </a:lvl6pPr>
            <a:lvl7pPr lvl="6">
              <a:spcBef>
                <a:spcPts val="0"/>
              </a:spcBef>
              <a:spcAft>
                <a:spcPts val="0"/>
              </a:spcAft>
              <a:buClr>
                <a:srgbClr val="00454E"/>
              </a:buClr>
              <a:buSzPts val="2800"/>
              <a:buNone/>
              <a:defRPr sz="2800">
                <a:solidFill>
                  <a:srgbClr val="00454E"/>
                </a:solidFill>
              </a:defRPr>
            </a:lvl7pPr>
            <a:lvl8pPr lvl="7">
              <a:spcBef>
                <a:spcPts val="0"/>
              </a:spcBef>
              <a:spcAft>
                <a:spcPts val="0"/>
              </a:spcAft>
              <a:buClr>
                <a:srgbClr val="00454E"/>
              </a:buClr>
              <a:buSzPts val="2800"/>
              <a:buNone/>
              <a:defRPr sz="2800">
                <a:solidFill>
                  <a:srgbClr val="00454E"/>
                </a:solidFill>
              </a:defRPr>
            </a:lvl8pPr>
            <a:lvl9pPr lvl="8">
              <a:spcBef>
                <a:spcPts val="0"/>
              </a:spcBef>
              <a:spcAft>
                <a:spcPts val="0"/>
              </a:spcAft>
              <a:buClr>
                <a:srgbClr val="00454E"/>
              </a:buClr>
              <a:buSzPts val="2800"/>
              <a:buNone/>
              <a:defRPr sz="2800">
                <a:solidFill>
                  <a:srgbClr val="00454E"/>
                </a:solidFill>
              </a:defRPr>
            </a:lvl9pPr>
          </a:lstStyle>
          <a:p>
            <a:endParaRPr/>
          </a:p>
        </p:txBody>
      </p:sp>
      <p:sp>
        <p:nvSpPr>
          <p:cNvPr id="7" name="Google Shape;7;p1"/>
          <p:cNvSpPr txBox="1">
            <a:spLocks noGrp="1"/>
          </p:cNvSpPr>
          <p:nvPr>
            <p:ph type="body" idx="1"/>
          </p:nvPr>
        </p:nvSpPr>
        <p:spPr>
          <a:xfrm>
            <a:off x="311700" y="1152475"/>
            <a:ext cx="8520600" cy="32235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pic>
        <p:nvPicPr>
          <p:cNvPr id="8" name="Google Shape;8;p1"/>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9" name="Google Shape;9;p1"/>
          <p:cNvSpPr txBox="1">
            <a:spLocks noGrp="1"/>
          </p:cNvSpPr>
          <p:nvPr>
            <p:ph type="sldNum" idx="12"/>
          </p:nvPr>
        </p:nvSpPr>
        <p:spPr>
          <a:xfrm>
            <a:off x="8" y="4673692"/>
            <a:ext cx="548700" cy="393600"/>
          </a:xfrm>
          <a:prstGeom prst="rect">
            <a:avLst/>
          </a:prstGeom>
          <a:noFill/>
          <a:ln>
            <a:noFill/>
          </a:ln>
        </p:spPr>
        <p:txBody>
          <a:bodyPr spcFirstLastPara="1" wrap="square" lIns="91425" tIns="91425" rIns="91425" bIns="91425" anchor="ctr" anchorCtr="0">
            <a:noAutofit/>
          </a:bodyPr>
          <a:lstStyle>
            <a:lvl1pPr lvl="0" algn="l" rtl="0">
              <a:buNone/>
              <a:defRPr sz="1000">
                <a:solidFill>
                  <a:schemeClr val="dk2"/>
                </a:solidFill>
              </a:defRPr>
            </a:lvl1pPr>
            <a:lvl2pPr lvl="1" algn="l" rtl="0">
              <a:buNone/>
              <a:defRPr sz="1000">
                <a:solidFill>
                  <a:schemeClr val="dk2"/>
                </a:solidFill>
              </a:defRPr>
            </a:lvl2pPr>
            <a:lvl3pPr lvl="2" algn="l" rtl="0">
              <a:buNone/>
              <a:defRPr sz="1000">
                <a:solidFill>
                  <a:schemeClr val="dk2"/>
                </a:solidFill>
              </a:defRPr>
            </a:lvl3pPr>
            <a:lvl4pPr lvl="3" algn="l" rtl="0">
              <a:buNone/>
              <a:defRPr sz="1000">
                <a:solidFill>
                  <a:schemeClr val="dk2"/>
                </a:solidFill>
              </a:defRPr>
            </a:lvl4pPr>
            <a:lvl5pPr lvl="4" algn="l" rtl="0">
              <a:buNone/>
              <a:defRPr sz="1000">
                <a:solidFill>
                  <a:schemeClr val="dk2"/>
                </a:solidFill>
              </a:defRPr>
            </a:lvl5pPr>
            <a:lvl6pPr lvl="5" algn="l" rtl="0">
              <a:buNone/>
              <a:defRPr sz="1000">
                <a:solidFill>
                  <a:schemeClr val="dk2"/>
                </a:solidFill>
              </a:defRPr>
            </a:lvl6pPr>
            <a:lvl7pPr lvl="6" algn="l" rtl="0">
              <a:buNone/>
              <a:defRPr sz="1000">
                <a:solidFill>
                  <a:schemeClr val="dk2"/>
                </a:solidFill>
              </a:defRPr>
            </a:lvl7pPr>
            <a:lvl8pPr lvl="7" algn="l" rtl="0">
              <a:buNone/>
              <a:defRPr sz="1000">
                <a:solidFill>
                  <a:schemeClr val="dk2"/>
                </a:solidFill>
              </a:defRPr>
            </a:lvl8pPr>
            <a:lvl9pPr lvl="8" algn="l" rtl="0">
              <a:buNone/>
              <a:defRPr sz="1000">
                <a:solidFill>
                  <a:schemeClr val="dk2"/>
                </a:solidFill>
              </a:defRPr>
            </a:lvl9pPr>
          </a:lstStyle>
          <a:p>
            <a:pPr marL="0" lvl="0" indent="0" algn="l" rtl="0">
              <a:spcBef>
                <a:spcPts val="0"/>
              </a:spcBef>
              <a:spcAft>
                <a:spcPts val="0"/>
              </a:spcAft>
              <a:buNone/>
            </a:pPr>
            <a:fld id="{00000000-1234-1234-1234-123412341234}" type="slidenum">
              <a:rPr lang="da"/>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7" r:id="rId5"/>
    <p:sldLayoutId id="2147483661" r:id="rId6"/>
    <p:sldLayoutId id="214748368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cstate="screen">
            <a:alphaModFix amt="30000"/>
            <a:extLst>
              <a:ext uri="{28A0092B-C50C-407E-A947-70E740481C1C}">
                <a14:useLocalDpi xmlns:a14="http://schemas.microsoft.com/office/drawing/2010/main"/>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0716" y="0"/>
            <a:ext cx="9040416" cy="51435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da-DK"/>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da-DK"/>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da-DK"/>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a-DK"/>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da-DK"/>
              </a:p>
            </p:txBody>
          </p:sp>
        </p:grpSp>
      </p:grpSp>
      <p:sp>
        <p:nvSpPr>
          <p:cNvPr id="2" name="Title Placeholder 1"/>
          <p:cNvSpPr>
            <a:spLocks noGrp="1"/>
          </p:cNvSpPr>
          <p:nvPr>
            <p:ph type="title"/>
          </p:nvPr>
        </p:nvSpPr>
        <p:spPr>
          <a:xfrm>
            <a:off x="856060" y="463888"/>
            <a:ext cx="7429499" cy="1108928"/>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1687115"/>
            <a:ext cx="7429499" cy="2656286"/>
          </a:xfrm>
          <a:prstGeom prst="rect">
            <a:avLst/>
          </a:prstGeom>
        </p:spPr>
        <p:txBody>
          <a:bodyPr vert="horz" lIns="91440" tIns="45720" rIns="91440" bIns="45720" rtlCol="0">
            <a:normAutofit/>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5592691" y="4412457"/>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48A87A34-81AB-432B-8DAE-1953F412C126}" type="datetimeFigureOut">
              <a:rPr lang="en-US" dirty="0"/>
              <a:pPr/>
              <a:t>9/7/2026</a:t>
            </a:fld>
            <a:endParaRPr lang="en-US" dirty="0"/>
          </a:p>
        </p:txBody>
      </p:sp>
      <p:sp>
        <p:nvSpPr>
          <p:cNvPr id="5" name="Footer Placeholder 4"/>
          <p:cNvSpPr>
            <a:spLocks noGrp="1"/>
          </p:cNvSpPr>
          <p:nvPr>
            <p:ph type="ftr" sz="quarter" idx="3"/>
          </p:nvPr>
        </p:nvSpPr>
        <p:spPr>
          <a:xfrm>
            <a:off x="856059" y="4412457"/>
            <a:ext cx="4679482" cy="273844"/>
          </a:xfrm>
          <a:prstGeom prst="rect">
            <a:avLst/>
          </a:prstGeom>
        </p:spPr>
        <p:txBody>
          <a:bodyPr vert="horz" lIns="91440" tIns="45720" rIns="91440" bIns="45720" rtlCol="0" anchor="ctr"/>
          <a:lstStyle>
            <a:lvl1pPr algn="l">
              <a:defRPr sz="788"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4412456"/>
            <a:ext cx="578317" cy="273844"/>
          </a:xfrm>
          <a:prstGeom prst="rect">
            <a:avLst/>
          </a:prstGeom>
        </p:spPr>
        <p:txBody>
          <a:bodyPr vert="horz" lIns="91440" tIns="45720" rIns="91440" bIns="45720" rtlCol="0" anchor="ctr"/>
          <a:lstStyle>
            <a:lvl1pPr algn="r">
              <a:defRPr sz="788">
                <a:solidFill>
                  <a:schemeClr val="tx1">
                    <a:tint val="75000"/>
                  </a:schemeClr>
                </a:solidFill>
              </a:defRPr>
            </a:lvl1pPr>
          </a:lstStyle>
          <a:p>
            <a:pPr marL="0" lvl="0" indent="0" algn="l" rtl="0">
              <a:spcBef>
                <a:spcPts val="0"/>
              </a:spcBef>
              <a:spcAft>
                <a:spcPts val="0"/>
              </a:spcAft>
              <a:buNone/>
            </a:pPr>
            <a:fld id="{00000000-1234-1234-1234-123412341234}" type="slidenum">
              <a:rPr lang="en-US" smtClean="0"/>
              <a:t>‹nr.›</a:t>
            </a:fld>
            <a:endParaRPr lang="en-US"/>
          </a:p>
        </p:txBody>
      </p:sp>
    </p:spTree>
    <p:extLst>
      <p:ext uri="{BB962C8B-B14F-4D97-AF65-F5344CB8AC3E}">
        <p14:creationId xmlns:p14="http://schemas.microsoft.com/office/powerpoint/2010/main" val="3204759805"/>
      </p:ext>
    </p:extLst>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2" r:id="rId18"/>
  </p:sldLayoutIdLst>
  <p:hf hdr="0" ftr="0" dt="0"/>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hyperlink" Target="https://chat.mistral.ai/" TargetMode="External"/><Relationship Id="rId3" Type="http://schemas.openxmlformats.org/officeDocument/2006/relationships/hyperlink" Target="https://claude.ai/" TargetMode="External"/><Relationship Id="rId7" Type="http://schemas.openxmlformats.org/officeDocument/2006/relationships/hyperlink" Target="https://www.perplexity.ai/grow/comet/students" TargetMode="External"/><Relationship Id="rId2" Type="http://schemas.openxmlformats.org/officeDocument/2006/relationships/hyperlink" Target="https://chat.openai.com/" TargetMode="External"/><Relationship Id="rId1" Type="http://schemas.openxmlformats.org/officeDocument/2006/relationships/slideLayout" Target="../slideLayouts/slideLayout6.xml"/><Relationship Id="rId6" Type="http://schemas.openxmlformats.org/officeDocument/2006/relationships/hyperlink" Target="https://www.perplexity.ai/" TargetMode="External"/><Relationship Id="rId11" Type="http://schemas.openxmlformats.org/officeDocument/2006/relationships/hyperlink" Target="https://copilot.microsoft.com/" TargetMode="External"/><Relationship Id="rId5" Type="http://schemas.openxmlformats.org/officeDocument/2006/relationships/hyperlink" Target="https://gemini.google/dk/students/?hl=da" TargetMode="External"/><Relationship Id="rId10" Type="http://schemas.openxmlformats.org/officeDocument/2006/relationships/hyperlink" Target="https://deepseek.com/" TargetMode="External"/><Relationship Id="rId4" Type="http://schemas.openxmlformats.org/officeDocument/2006/relationships/hyperlink" Target="https://gemini.google.com/" TargetMode="External"/><Relationship Id="rId9" Type="http://schemas.openxmlformats.org/officeDocument/2006/relationships/hyperlink" Target="https://chat.mistral.ai/upgrade/studen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copilot.microsoft.com/"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1.tiff"/><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hyperlink" Target="https://www.dr.dk/nyheder/viden/teknologi/eksperts-vaerste-ai-frygt-er-blevet-til-virkelighed-snapchat-bot-giver-boern" TargetMode="External"/><Relationship Id="rId2" Type="http://schemas.openxmlformats.org/officeDocument/2006/relationships/hyperlink" Target="https://www.huffpost.com/entry/kevin-roose-ai-chatbot_n_63eeb367e4b0063ccb2bcc45" TargetMode="External"/><Relationship Id="rId1" Type="http://schemas.openxmlformats.org/officeDocument/2006/relationships/slideLayout" Target="../slideLayouts/slideLayout25.xml"/><Relationship Id="rId4" Type="http://schemas.openxmlformats.org/officeDocument/2006/relationships/hyperlink" Target="https://arxiv.org/abs/2109.07445"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arxiv.org/abs/2402.01822" TargetMode="External"/><Relationship Id="rId2" Type="http://schemas.openxmlformats.org/officeDocument/2006/relationships/hyperlink" Target="https://arxiv.org/abs/2009.11462" TargetMode="External"/><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3" Type="http://schemas.openxmlformats.org/officeDocument/2006/relationships/hyperlink" Target="https://doi.org/10.7275/mk13-q340" TargetMode="External"/><Relationship Id="rId2" Type="http://schemas.openxmlformats.org/officeDocument/2006/relationships/hyperlink" Target="https://arstechnica.com/science/2023/07/a-jargon-free-explanation-of-how-ai-large-language-models-work/" TargetMode="Externa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3" Type="http://schemas.openxmlformats.org/officeDocument/2006/relationships/hyperlink" Target="https://techcommunity.microsoft.com/t5/fasttrack-for-azure/strategies-for-optimizing-high-volume-token-usage-with-azure/ba-p/4007751" TargetMode="External"/><Relationship Id="rId2" Type="http://schemas.openxmlformats.org/officeDocument/2006/relationships/hyperlink" Target="https://arstechnica.com/science/2023/07/a-jargon-free-explanation-of-how-ai-large-language-models-work/" TargetMode="External"/><Relationship Id="rId1" Type="http://schemas.openxmlformats.org/officeDocument/2006/relationships/slideLayout" Target="../slideLayouts/slideLayout25.xml"/><Relationship Id="rId4" Type="http://schemas.openxmlformats.org/officeDocument/2006/relationships/hyperlink" Target="https://www.vectorshift.ai/blog/large-language-model-settings-temperature-top-p-and-max-tokens"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medium.com/@russkohn/mastering-ai-token-limits-and-memory-ce920630349a" TargetMode="External"/><Relationship Id="rId2" Type="http://schemas.openxmlformats.org/officeDocument/2006/relationships/hyperlink" Target="https://simple.ai/p/tokens-and-context-windows" TargetMode="External"/><Relationship Id="rId1" Type="http://schemas.openxmlformats.org/officeDocument/2006/relationships/slideLayout" Target="../slideLayouts/slideLayout25.xml"/><Relationship Id="rId4" Type="http://schemas.openxmlformats.org/officeDocument/2006/relationships/hyperlink" Target="https://www.makeuseof.com/do-chatgpt-responses-have-character-or-word-limit/" TargetMode="External"/></Relationships>
</file>

<file path=ppt/slides/_rels/slide64.xml.rels><?xml version="1.0" encoding="UTF-8" standalone="yes"?>
<Relationships xmlns="http://schemas.openxmlformats.org/package/2006/relationships"><Relationship Id="rId2" Type="http://schemas.openxmlformats.org/officeDocument/2006/relationships/hyperlink" Target="https://it-torvet.dk/wp-content/uploads/2024/03/sprogmodeller-for-dummies.pdf" TargetMode="Externa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hyperlink" Target="https://doi.org/10.1145/3442188.3445922" TargetMode="External"/><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3" Type="http://schemas.openxmlformats.org/officeDocument/2006/relationships/hyperlink" Target="https://en.wikipedia.org/wiki/Prompt_engineering" TargetMode="External"/><Relationship Id="rId2" Type="http://schemas.openxmlformats.org/officeDocument/2006/relationships/hyperlink" Target="https://medium.com/the-modern-scientist/best-prompt-techniques-for-best-llm-responses-24d2ff4f6bca" TargetMode="External"/><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3" Type="http://schemas.openxmlformats.org/officeDocument/2006/relationships/hyperlink" Target="https://www.dr.dk/lyd/special-radio/prompt/prompt-2024/prompt-apples-dyre-skibriller-dating-app-klarer-dine-chats-og-tech-bosser-grillet-igen-igen-11802421005" TargetMode="External"/><Relationship Id="rId2" Type="http://schemas.openxmlformats.org/officeDocument/2006/relationships/hyperlink" Target="https://en.wikipedia.org/wiki/Natural-language_programming" TargetMode="External"/><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633C29-E4B4-5A42-8899-30A7F2B5E286}"/>
              </a:ext>
            </a:extLst>
          </p:cNvPr>
          <p:cNvSpPr>
            <a:spLocks noGrp="1"/>
          </p:cNvSpPr>
          <p:nvPr>
            <p:ph type="ctrTitle"/>
          </p:nvPr>
        </p:nvSpPr>
        <p:spPr>
          <a:xfrm>
            <a:off x="1056187" y="2108233"/>
            <a:ext cx="7536270" cy="871854"/>
          </a:xfrm>
        </p:spPr>
        <p:txBody>
          <a:bodyPr/>
          <a:lstStyle/>
          <a:p>
            <a:r>
              <a:rPr lang="da-DK" sz="4400" dirty="0"/>
              <a:t>AI i praksis</a:t>
            </a:r>
            <a:br>
              <a:rPr lang="da-DK" dirty="0"/>
            </a:br>
            <a:r>
              <a:rPr lang="da-DK" dirty="0">
                <a:solidFill>
                  <a:srgbClr val="498E8C"/>
                </a:solidFill>
              </a:rPr>
              <a:t>- </a:t>
            </a:r>
            <a:r>
              <a:rPr lang="da-DK" sz="3600" dirty="0">
                <a:solidFill>
                  <a:srgbClr val="498E8C"/>
                </a:solidFill>
              </a:rPr>
              <a:t>Praktisk brug og sund skepsis</a:t>
            </a:r>
          </a:p>
        </p:txBody>
      </p:sp>
      <p:sp>
        <p:nvSpPr>
          <p:cNvPr id="3" name="Undertitel 2">
            <a:extLst>
              <a:ext uri="{FF2B5EF4-FFF2-40B4-BE49-F238E27FC236}">
                <a16:creationId xmlns:a16="http://schemas.microsoft.com/office/drawing/2014/main" id="{240D8856-6628-0645-B612-8F670679791B}"/>
              </a:ext>
            </a:extLst>
          </p:cNvPr>
          <p:cNvSpPr>
            <a:spLocks noGrp="1"/>
          </p:cNvSpPr>
          <p:nvPr>
            <p:ph type="subTitle" idx="1"/>
          </p:nvPr>
        </p:nvSpPr>
        <p:spPr>
          <a:xfrm>
            <a:off x="1056187" y="3580552"/>
            <a:ext cx="6829800" cy="792600"/>
          </a:xfrm>
        </p:spPr>
        <p:txBody>
          <a:bodyPr/>
          <a:lstStyle/>
          <a:p>
            <a:r>
              <a:rPr lang="da-DK" sz="1400" dirty="0">
                <a:solidFill>
                  <a:schemeClr val="bg2"/>
                </a:solidFill>
              </a:rPr>
              <a:t>Dato 24. August 2026</a:t>
            </a:r>
          </a:p>
        </p:txBody>
      </p:sp>
    </p:spTree>
    <p:extLst>
      <p:ext uri="{BB962C8B-B14F-4D97-AF65-F5344CB8AC3E}">
        <p14:creationId xmlns:p14="http://schemas.microsoft.com/office/powerpoint/2010/main" val="3129325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ECD0-1C6E-88A0-BC5B-DE4EE315A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80BB59-C833-FD95-3070-68E39D6A7CAA}"/>
              </a:ext>
            </a:extLst>
          </p:cNvPr>
          <p:cNvSpPr>
            <a:spLocks noGrp="1"/>
          </p:cNvSpPr>
          <p:nvPr>
            <p:ph type="ctrTitle"/>
          </p:nvPr>
        </p:nvSpPr>
        <p:spPr>
          <a:xfrm>
            <a:off x="1164957" y="1014437"/>
            <a:ext cx="6829800" cy="641935"/>
          </a:xfrm>
        </p:spPr>
        <p:txBody>
          <a:bodyPr/>
          <a:lstStyle/>
          <a:p>
            <a:r>
              <a:rPr lang="da-DK" dirty="0"/>
              <a:t>Hvad skal vi beskæftige os med?</a:t>
            </a:r>
          </a:p>
        </p:txBody>
      </p:sp>
      <p:sp>
        <p:nvSpPr>
          <p:cNvPr id="6" name="Rectangle 2"/>
          <p:cNvSpPr>
            <a:spLocks noChangeArrowheads="1"/>
          </p:cNvSpPr>
          <p:nvPr/>
        </p:nvSpPr>
        <p:spPr bwMode="auto">
          <a:xfrm>
            <a:off x="1164958" y="1999840"/>
            <a:ext cx="68298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Dag 1: Intro, AI </a:t>
            </a:r>
            <a:r>
              <a:rPr kumimoji="0" lang="en-US" altLang="en-US" sz="1800" b="0" i="0" u="none" strike="noStrike" cap="none" normalizeH="0" baseline="0" dirty="0" err="1">
                <a:ln>
                  <a:noFill/>
                </a:ln>
                <a:solidFill>
                  <a:schemeClr val="tx1"/>
                </a:solidFill>
                <a:effectLst/>
                <a:latin typeface="Arial" panose="020B0604020202020204" pitchFamily="34" charset="0"/>
              </a:rPr>
              <a:t>gennem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historien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og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grundlæggende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principper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Dag 2: </a:t>
            </a:r>
            <a:r>
              <a:rPr kumimoji="0" lang="en-US" altLang="en-US" sz="1800" b="0" i="0" u="none" strike="noStrike" cap="none" normalizeH="0" baseline="0" dirty="0" err="1">
                <a:ln>
                  <a:noFill/>
                </a:ln>
                <a:solidFill>
                  <a:schemeClr val="tx1"/>
                </a:solidFill>
                <a:effectLst/>
                <a:latin typeface="Arial" panose="020B0604020202020204" pitchFamily="34" charset="0"/>
              </a:rPr>
              <a:t>Billeder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musik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og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det</a:t>
            </a:r>
            <a:r>
              <a:rPr kumimoji="0" lang="en-US" altLang="en-US" sz="1800" b="0" i="0" u="none" strike="noStrike" cap="none" normalizeH="0" baseline="0" dirty="0">
                <a:ln>
                  <a:noFill/>
                </a:ln>
                <a:solidFill>
                  <a:schemeClr val="tx1"/>
                </a:solidFill>
                <a:effectLst/>
                <a:latin typeface="Arial" panose="020B0604020202020204" pitchFamily="34" charset="0"/>
              </a:rPr>
              <a:t> AI’s </a:t>
            </a:r>
            <a:r>
              <a:rPr kumimoji="0" lang="en-US" altLang="en-US" sz="1800" b="0" i="0" u="none" strike="noStrike" cap="none" normalizeH="0" baseline="0" dirty="0" err="1">
                <a:ln>
                  <a:noFill/>
                </a:ln>
                <a:solidFill>
                  <a:schemeClr val="tx1"/>
                </a:solidFill>
                <a:effectLst/>
                <a:latin typeface="Arial" panose="020B0604020202020204" pitchFamily="34" charset="0"/>
              </a:rPr>
              <a:t>bevægelige</a:t>
            </a:r>
            <a:r>
              <a:rPr kumimoji="0" lang="en-US" altLang="en-US" sz="1800" b="0" i="0" u="none" strike="noStrike" cap="none" normalizeH="0" baseline="0" dirty="0">
                <a:ln>
                  <a:noFill/>
                </a:ln>
                <a:solidFill>
                  <a:schemeClr val="tx1"/>
                </a:solidFill>
                <a:effectLst/>
                <a:latin typeface="Arial" panose="020B0604020202020204" pitchFamily="34" charset="0"/>
              </a:rPr>
              <a:t> dele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Dag 3: Prompting </a:t>
            </a:r>
            <a:r>
              <a:rPr kumimoji="0" lang="en-US" altLang="en-US" sz="1800" b="0" i="0" u="none" strike="noStrike" cap="none" normalizeH="0" baseline="0" dirty="0" err="1">
                <a:ln>
                  <a:noFill/>
                </a:ln>
                <a:solidFill>
                  <a:schemeClr val="tx1"/>
                </a:solidFill>
                <a:effectLst/>
                <a:latin typeface="Arial" panose="020B0604020202020204" pitchFamily="34" charset="0"/>
              </a:rPr>
              <a:t>og</a:t>
            </a:r>
            <a:r>
              <a:rPr kumimoji="0" lang="en-US" altLang="en-US" sz="1800" b="0" i="0" u="none" strike="noStrike" cap="none" normalizeH="0" baseline="0" dirty="0">
                <a:ln>
                  <a:noFill/>
                </a:ln>
                <a:solidFill>
                  <a:schemeClr val="tx1"/>
                </a:solidFill>
                <a:effectLst/>
                <a:latin typeface="Arial" panose="020B0604020202020204" pitchFamily="34" charset="0"/>
              </a:rPr>
              <a:t> frameworks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Dag 4: </a:t>
            </a:r>
            <a:r>
              <a:rPr kumimoji="0" lang="en-US" altLang="en-US" sz="1800" b="0" i="0" u="none" strike="noStrike" cap="none" normalizeH="0" baseline="0" dirty="0" err="1">
                <a:ln>
                  <a:noFill/>
                </a:ln>
                <a:solidFill>
                  <a:schemeClr val="tx1"/>
                </a:solidFill>
                <a:effectLst/>
                <a:latin typeface="Arial" panose="020B0604020202020204" pitchFamily="34" charset="0"/>
              </a:rPr>
              <a:t>Risici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etik</a:t>
            </a:r>
            <a:r>
              <a:rPr kumimoji="0" lang="en-US" altLang="en-US" sz="1800" b="0" i="0" u="none" strike="noStrike" cap="none" normalizeH="0" baseline="0" dirty="0">
                <a:ln>
                  <a:noFill/>
                </a:ln>
                <a:solidFill>
                  <a:schemeClr val="tx1"/>
                </a:solidFill>
                <a:effectLst/>
                <a:latin typeface="Arial" panose="020B0604020202020204" pitchFamily="34" charset="0"/>
              </a:rPr>
              <a:t>, bias </a:t>
            </a:r>
            <a:r>
              <a:rPr kumimoji="0" lang="en-US" altLang="en-US" sz="1800" b="0" i="0" u="none" strike="noStrike" cap="none" normalizeH="0" baseline="0" dirty="0" err="1">
                <a:ln>
                  <a:noFill/>
                </a:ln>
                <a:solidFill>
                  <a:schemeClr val="tx1"/>
                </a:solidFill>
                <a:effectLst/>
                <a:latin typeface="Arial" panose="020B0604020202020204" pitchFamily="34" charset="0"/>
              </a:rPr>
              <a:t>og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lovgivning</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3130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ECD0-1C6E-88A0-BC5B-DE4EE315A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80BB59-C833-FD95-3070-68E39D6A7CAA}"/>
              </a:ext>
            </a:extLst>
          </p:cNvPr>
          <p:cNvSpPr>
            <a:spLocks noGrp="1"/>
          </p:cNvSpPr>
          <p:nvPr>
            <p:ph type="ctrTitle"/>
          </p:nvPr>
        </p:nvSpPr>
        <p:spPr>
          <a:xfrm>
            <a:off x="1164957" y="1014437"/>
            <a:ext cx="6829800" cy="641935"/>
          </a:xfrm>
        </p:spPr>
        <p:txBody>
          <a:bodyPr/>
          <a:lstStyle/>
          <a:p>
            <a:r>
              <a:rPr lang="da-DK" dirty="0"/>
              <a:t>Hvorfor skal vi beskæftige os med det?</a:t>
            </a:r>
          </a:p>
        </p:txBody>
      </p:sp>
      <p:sp>
        <p:nvSpPr>
          <p:cNvPr id="4" name="Pladsholder til indhold 2">
            <a:extLst>
              <a:ext uri="{FF2B5EF4-FFF2-40B4-BE49-F238E27FC236}">
                <a16:creationId xmlns:a16="http://schemas.microsoft.com/office/drawing/2014/main" id="{99824001-D6C0-270A-09F4-5A89AB06B705}"/>
              </a:ext>
            </a:extLst>
          </p:cNvPr>
          <p:cNvSpPr txBox="1">
            <a:spLocks/>
          </p:cNvSpPr>
          <p:nvPr/>
        </p:nvSpPr>
        <p:spPr>
          <a:xfrm>
            <a:off x="1062050" y="1783659"/>
            <a:ext cx="7035614"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114300" indent="0"/>
            <a:r>
              <a:rPr lang="da-DK" b="1" dirty="0"/>
              <a:t>AI er ikke fremtiden – det er nutiden</a:t>
            </a:r>
          </a:p>
          <a:p>
            <a:pPr marL="114300" indent="0"/>
            <a:endParaRPr lang="da-DK" dirty="0"/>
          </a:p>
          <a:p>
            <a:pPr>
              <a:buFont typeface="Arial" panose="020B0604020202020204" pitchFamily="34" charset="0"/>
              <a:buChar char="•"/>
            </a:pPr>
            <a:r>
              <a:rPr lang="da-DK" dirty="0"/>
              <a:t>AI er allerede overalt i vores hverdag </a:t>
            </a:r>
          </a:p>
          <a:p>
            <a:pPr>
              <a:buFont typeface="Arial" panose="020B0604020202020204" pitchFamily="34" charset="0"/>
              <a:buChar char="•"/>
            </a:pPr>
            <a:r>
              <a:rPr lang="da-DK" dirty="0"/>
              <a:t>Vi bliver konstant eksponeret for AI-indhold </a:t>
            </a:r>
          </a:p>
          <a:p>
            <a:pPr>
              <a:buFont typeface="Arial" panose="020B0604020202020204" pitchFamily="34" charset="0"/>
              <a:buChar char="•"/>
            </a:pPr>
            <a:r>
              <a:rPr lang="da-DK" dirty="0"/>
              <a:t>Det påvirker, hvad vi ser, læser og tror på </a:t>
            </a:r>
          </a:p>
          <a:p>
            <a:pPr>
              <a:buFont typeface="Arial" panose="020B0604020202020204" pitchFamily="34" charset="0"/>
              <a:buChar char="•"/>
            </a:pPr>
            <a:r>
              <a:rPr lang="da-DK" dirty="0"/>
              <a:t>Kræver at vi kan navigere kritisk og bevidst </a:t>
            </a:r>
          </a:p>
          <a:p>
            <a:pPr>
              <a:buFont typeface="Arial" panose="020B0604020202020204" pitchFamily="34" charset="0"/>
              <a:buChar char="•"/>
            </a:pPr>
            <a:r>
              <a:rPr lang="da-DK" dirty="0"/>
              <a:t>Handler ikke kun om at bruge AI – men at forstå det</a:t>
            </a:r>
          </a:p>
          <a:p>
            <a:pPr marL="342900">
              <a:spcAft>
                <a:spcPts val="600"/>
              </a:spcAft>
              <a:buFont typeface="Arial" panose="020B0604020202020204" pitchFamily="34" charset="0"/>
              <a:buChar char="•"/>
            </a:pPr>
            <a:endParaRPr lang="da-DK" sz="1600" dirty="0"/>
          </a:p>
        </p:txBody>
      </p:sp>
    </p:spTree>
    <p:extLst>
      <p:ext uri="{BB962C8B-B14F-4D97-AF65-F5344CB8AC3E}">
        <p14:creationId xmlns:p14="http://schemas.microsoft.com/office/powerpoint/2010/main" val="177670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ECD0-1C6E-88A0-BC5B-DE4EE315A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80BB59-C833-FD95-3070-68E39D6A7CAA}"/>
              </a:ext>
            </a:extLst>
          </p:cNvPr>
          <p:cNvSpPr>
            <a:spLocks noGrp="1"/>
          </p:cNvSpPr>
          <p:nvPr>
            <p:ph type="ctrTitle"/>
          </p:nvPr>
        </p:nvSpPr>
        <p:spPr>
          <a:xfrm>
            <a:off x="1164957" y="540689"/>
            <a:ext cx="6829800" cy="641935"/>
          </a:xfrm>
        </p:spPr>
        <p:txBody>
          <a:bodyPr/>
          <a:lstStyle/>
          <a:p>
            <a:r>
              <a:rPr lang="da-DK" dirty="0"/>
              <a:t>Hvad er min baggrund?</a:t>
            </a:r>
          </a:p>
        </p:txBody>
      </p:sp>
      <p:sp>
        <p:nvSpPr>
          <p:cNvPr id="6" name="Pladsholder til indhold 2">
            <a:extLst>
              <a:ext uri="{FF2B5EF4-FFF2-40B4-BE49-F238E27FC236}">
                <a16:creationId xmlns:a16="http://schemas.microsoft.com/office/drawing/2014/main" id="{99824001-D6C0-270A-09F4-5A89AB06B705}"/>
              </a:ext>
            </a:extLst>
          </p:cNvPr>
          <p:cNvSpPr txBox="1">
            <a:spLocks/>
          </p:cNvSpPr>
          <p:nvPr/>
        </p:nvSpPr>
        <p:spPr>
          <a:xfrm>
            <a:off x="1164956" y="1976395"/>
            <a:ext cx="4222881" cy="1858171"/>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350" dirty="0"/>
              <a:t>Professionel baggrund</a:t>
            </a:r>
          </a:p>
          <a:p>
            <a:pPr marL="285750" indent="-285750">
              <a:spcAft>
                <a:spcPts val="600"/>
              </a:spcAft>
              <a:buFont typeface="Arial" panose="020B0604020202020204" pitchFamily="34" charset="0"/>
              <a:buChar char="•"/>
            </a:pPr>
            <a:r>
              <a:rPr lang="da-DK" sz="1350" dirty="0"/>
              <a:t>Ergoterapeut specialiseret i </a:t>
            </a:r>
            <a:r>
              <a:rPr lang="da-DK" sz="1350" dirty="0" err="1"/>
              <a:t>neurorehabilitering</a:t>
            </a:r>
            <a:endParaRPr lang="da-DK" sz="1350" dirty="0"/>
          </a:p>
          <a:p>
            <a:pPr marL="285750" indent="-285750">
              <a:spcAft>
                <a:spcPts val="600"/>
              </a:spcAft>
              <a:buFont typeface="Arial" panose="020B0604020202020204" pitchFamily="34" charset="0"/>
              <a:buChar char="•"/>
            </a:pPr>
            <a:r>
              <a:rPr lang="da-DK" sz="1350" dirty="0"/>
              <a:t>Specialiseret i </a:t>
            </a:r>
            <a:r>
              <a:rPr lang="da-DK" sz="1350" dirty="0" err="1"/>
              <a:t>neuropædagogik</a:t>
            </a:r>
            <a:r>
              <a:rPr lang="da-DK" sz="1350" dirty="0"/>
              <a:t> og borgernær praksis</a:t>
            </a:r>
          </a:p>
          <a:p>
            <a:pPr marL="285750" indent="-285750">
              <a:spcAft>
                <a:spcPts val="600"/>
              </a:spcAft>
              <a:buFont typeface="Arial" panose="020B0604020202020204" pitchFamily="34" charset="0"/>
              <a:buChar char="•"/>
            </a:pPr>
            <a:r>
              <a:rPr lang="da-DK" sz="1350" dirty="0"/>
              <a:t>Arbejdet med udviklings- og implementeringsprojekter i kommunalt regi</a:t>
            </a:r>
          </a:p>
          <a:p>
            <a:pPr marL="285750" indent="-285750">
              <a:spcAft>
                <a:spcPts val="600"/>
              </a:spcAft>
              <a:buFont typeface="Arial" panose="020B0604020202020204" pitchFamily="34" charset="0"/>
              <a:buChar char="•"/>
            </a:pPr>
            <a:r>
              <a:rPr lang="da-DK" sz="1350" dirty="0"/>
              <a:t>Fokus på teknologi, AI og implementering i praksis</a:t>
            </a:r>
          </a:p>
          <a:p>
            <a:pPr marL="285750" indent="-285750">
              <a:spcAft>
                <a:spcPts val="600"/>
              </a:spcAft>
              <a:buFont typeface="Arial" panose="020B0604020202020204" pitchFamily="34" charset="0"/>
              <a:buChar char="•"/>
            </a:pPr>
            <a:r>
              <a:rPr lang="da-DK" sz="1350" dirty="0"/>
              <a:t>Forfatter</a:t>
            </a:r>
          </a:p>
        </p:txBody>
      </p:sp>
      <p:sp>
        <p:nvSpPr>
          <p:cNvPr id="4" name="Pladsholder til indhold 2">
            <a:extLst>
              <a:ext uri="{FF2B5EF4-FFF2-40B4-BE49-F238E27FC236}">
                <a16:creationId xmlns:a16="http://schemas.microsoft.com/office/drawing/2014/main" id="{99824001-D6C0-270A-09F4-5A89AB06B705}"/>
              </a:ext>
            </a:extLst>
          </p:cNvPr>
          <p:cNvSpPr txBox="1">
            <a:spLocks/>
          </p:cNvSpPr>
          <p:nvPr/>
        </p:nvSpPr>
        <p:spPr>
          <a:xfrm>
            <a:off x="5498119" y="1976395"/>
            <a:ext cx="4222881" cy="209720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200" dirty="0"/>
              <a:t>Uddannelsesmæssig baggrund</a:t>
            </a:r>
          </a:p>
          <a:p>
            <a:pPr marL="285750" indent="-285750">
              <a:spcAft>
                <a:spcPts val="600"/>
              </a:spcAft>
              <a:buFont typeface="Arial" panose="020B0604020202020204" pitchFamily="34" charset="0"/>
              <a:buChar char="•"/>
            </a:pPr>
            <a:r>
              <a:rPr lang="da-DK" sz="1200" dirty="0"/>
              <a:t>Professionsbachelor i ergoterapi</a:t>
            </a:r>
          </a:p>
          <a:p>
            <a:pPr marL="285750" indent="-285750">
              <a:spcAft>
                <a:spcPts val="600"/>
              </a:spcAft>
              <a:buFont typeface="Arial" panose="020B0604020202020204" pitchFamily="34" charset="0"/>
              <a:buChar char="•"/>
            </a:pPr>
            <a:r>
              <a:rPr lang="da-DK" sz="1200" dirty="0"/>
              <a:t>Diplomuddannelse i </a:t>
            </a:r>
            <a:r>
              <a:rPr lang="da-DK" sz="1200" dirty="0" err="1"/>
              <a:t>neuropædagogik</a:t>
            </a:r>
            <a:endParaRPr lang="da-DK" sz="1200" dirty="0"/>
          </a:p>
          <a:p>
            <a:pPr marL="285750" indent="-285750">
              <a:spcAft>
                <a:spcPts val="600"/>
              </a:spcAft>
              <a:buFont typeface="Arial" panose="020B0604020202020204" pitchFamily="34" charset="0"/>
              <a:buChar char="•"/>
            </a:pPr>
            <a:r>
              <a:rPr lang="da-DK" sz="1200" dirty="0"/>
              <a:t>Certificeret i sanseprofilering</a:t>
            </a:r>
          </a:p>
          <a:p>
            <a:pPr marL="285750" indent="-285750">
              <a:spcAft>
                <a:spcPts val="600"/>
              </a:spcAft>
              <a:buFont typeface="Arial" panose="020B0604020202020204" pitchFamily="34" charset="0"/>
              <a:buChar char="•"/>
            </a:pPr>
            <a:r>
              <a:rPr lang="da-DK" sz="1200" dirty="0"/>
              <a:t>Uddannelse i projektledelse</a:t>
            </a:r>
          </a:p>
          <a:p>
            <a:pPr marL="285750" indent="-285750">
              <a:spcAft>
                <a:spcPts val="600"/>
              </a:spcAft>
              <a:buFont typeface="Arial" panose="020B0604020202020204" pitchFamily="34" charset="0"/>
              <a:buChar char="•"/>
            </a:pPr>
            <a:r>
              <a:rPr lang="da-DK" sz="1200" dirty="0"/>
              <a:t>Cand.it med speciale i implementering af AI</a:t>
            </a:r>
          </a:p>
        </p:txBody>
      </p:sp>
      <p:sp>
        <p:nvSpPr>
          <p:cNvPr id="5" name="Pladsholder til indhold 2">
            <a:extLst>
              <a:ext uri="{FF2B5EF4-FFF2-40B4-BE49-F238E27FC236}">
                <a16:creationId xmlns:a16="http://schemas.microsoft.com/office/drawing/2014/main" id="{99824001-D6C0-270A-09F4-5A89AB06B705}"/>
              </a:ext>
            </a:extLst>
          </p:cNvPr>
          <p:cNvSpPr txBox="1">
            <a:spLocks/>
          </p:cNvSpPr>
          <p:nvPr/>
        </p:nvSpPr>
        <p:spPr>
          <a:xfrm>
            <a:off x="1164956" y="3742529"/>
            <a:ext cx="4222881" cy="140097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200" dirty="0"/>
              <a:t>Personligt</a:t>
            </a:r>
          </a:p>
          <a:p>
            <a:pPr marL="285750" indent="-285750">
              <a:spcAft>
                <a:spcPts val="600"/>
              </a:spcAft>
              <a:buFont typeface="Arial" panose="020B0604020202020204" pitchFamily="34" charset="0"/>
              <a:buChar char="•"/>
            </a:pPr>
            <a:r>
              <a:rPr lang="da-DK" sz="1200" dirty="0"/>
              <a:t>Klatrer i fritiden</a:t>
            </a:r>
          </a:p>
          <a:p>
            <a:pPr marL="285750" indent="-285750">
              <a:spcAft>
                <a:spcPts val="600"/>
              </a:spcAft>
              <a:buFont typeface="Arial" panose="020B0604020202020204" pitchFamily="34" charset="0"/>
              <a:buChar char="•"/>
            </a:pPr>
            <a:r>
              <a:rPr lang="da-DK" sz="1200" dirty="0"/>
              <a:t>Brygger mjød som hobby</a:t>
            </a:r>
          </a:p>
        </p:txBody>
      </p:sp>
      <p:sp>
        <p:nvSpPr>
          <p:cNvPr id="7" name="Pladsholder til indhold 2">
            <a:extLst>
              <a:ext uri="{FF2B5EF4-FFF2-40B4-BE49-F238E27FC236}">
                <a16:creationId xmlns:a16="http://schemas.microsoft.com/office/drawing/2014/main" id="{99824001-D6C0-270A-09F4-5A89AB06B705}"/>
              </a:ext>
            </a:extLst>
          </p:cNvPr>
          <p:cNvSpPr txBox="1">
            <a:spLocks/>
          </p:cNvSpPr>
          <p:nvPr/>
        </p:nvSpPr>
        <p:spPr>
          <a:xfrm>
            <a:off x="1164956" y="1182624"/>
            <a:ext cx="6416945" cy="107295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350" dirty="0"/>
              <a:t>Navn: Sebastian Odsgaard</a:t>
            </a:r>
          </a:p>
          <a:p>
            <a:pPr marL="0" indent="0">
              <a:spcAft>
                <a:spcPts val="600"/>
              </a:spcAft>
            </a:pPr>
            <a:r>
              <a:rPr lang="da-DK" sz="1350" dirty="0"/>
              <a:t>Stilling: Adjunkt og Undervisningsudvikler ved </a:t>
            </a:r>
            <a:r>
              <a:rPr lang="da-DK" sz="1350" dirty="0" err="1"/>
              <a:t>University</a:t>
            </a:r>
            <a:r>
              <a:rPr lang="da-DK" sz="1350" dirty="0"/>
              <a:t> College Lillebælt</a:t>
            </a:r>
          </a:p>
        </p:txBody>
      </p:sp>
      <p:sp>
        <p:nvSpPr>
          <p:cNvPr id="8" name="Pladsholder til indhold 2">
            <a:extLst>
              <a:ext uri="{FF2B5EF4-FFF2-40B4-BE49-F238E27FC236}">
                <a16:creationId xmlns:a16="http://schemas.microsoft.com/office/drawing/2014/main" id="{99824001-D6C0-270A-09F4-5A89AB06B705}"/>
              </a:ext>
            </a:extLst>
          </p:cNvPr>
          <p:cNvSpPr txBox="1">
            <a:spLocks/>
          </p:cNvSpPr>
          <p:nvPr/>
        </p:nvSpPr>
        <p:spPr>
          <a:xfrm>
            <a:off x="6248400" y="-62311"/>
            <a:ext cx="6716793" cy="140097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200" dirty="0"/>
              <a:t>Kontakt</a:t>
            </a:r>
          </a:p>
          <a:p>
            <a:pPr marL="0" indent="0">
              <a:spcAft>
                <a:spcPts val="600"/>
              </a:spcAft>
            </a:pPr>
            <a:r>
              <a:rPr lang="da-DK" sz="1200" dirty="0"/>
              <a:t>Telefon: 21296535 - Mail: Sokr2@ucl.dk</a:t>
            </a:r>
          </a:p>
        </p:txBody>
      </p:sp>
    </p:spTree>
    <p:extLst>
      <p:ext uri="{BB962C8B-B14F-4D97-AF65-F5344CB8AC3E}">
        <p14:creationId xmlns:p14="http://schemas.microsoft.com/office/powerpoint/2010/main" val="373849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ECD0-1C6E-88A0-BC5B-DE4EE315A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80BB59-C833-FD95-3070-68E39D6A7CAA}"/>
              </a:ext>
            </a:extLst>
          </p:cNvPr>
          <p:cNvSpPr>
            <a:spLocks noGrp="1"/>
          </p:cNvSpPr>
          <p:nvPr>
            <p:ph type="ctrTitle"/>
          </p:nvPr>
        </p:nvSpPr>
        <p:spPr>
          <a:xfrm>
            <a:off x="1164957" y="540689"/>
            <a:ext cx="6829800" cy="641935"/>
          </a:xfrm>
        </p:spPr>
        <p:txBody>
          <a:bodyPr/>
          <a:lstStyle/>
          <a:p>
            <a:r>
              <a:rPr lang="da-DK" dirty="0"/>
              <a:t>Hvad er jeres baggrund?</a:t>
            </a:r>
          </a:p>
        </p:txBody>
      </p:sp>
      <p:sp>
        <p:nvSpPr>
          <p:cNvPr id="4" name="Pladsholder til indhold 2">
            <a:extLst>
              <a:ext uri="{FF2B5EF4-FFF2-40B4-BE49-F238E27FC236}">
                <a16:creationId xmlns:a16="http://schemas.microsoft.com/office/drawing/2014/main" id="{99824001-D6C0-270A-09F4-5A89AB06B705}"/>
              </a:ext>
            </a:extLst>
          </p:cNvPr>
          <p:cNvSpPr txBox="1">
            <a:spLocks/>
          </p:cNvSpPr>
          <p:nvPr/>
        </p:nvSpPr>
        <p:spPr>
          <a:xfrm>
            <a:off x="1164957" y="1182624"/>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350" dirty="0"/>
              <a:t>Hvad hedder du?</a:t>
            </a:r>
          </a:p>
          <a:p>
            <a:pPr marL="342900">
              <a:spcAft>
                <a:spcPts val="600"/>
              </a:spcAft>
              <a:buFont typeface="Arial" panose="020B0604020202020204" pitchFamily="34" charset="0"/>
              <a:buChar char="•"/>
            </a:pPr>
            <a:r>
              <a:rPr lang="da-DK" sz="1350" dirty="0"/>
              <a:t>Hvad arbejder du med?</a:t>
            </a:r>
          </a:p>
          <a:p>
            <a:pPr marL="342900">
              <a:spcAft>
                <a:spcPts val="600"/>
              </a:spcAft>
              <a:buFont typeface="Arial" panose="020B0604020202020204" pitchFamily="34" charset="0"/>
              <a:buChar char="•"/>
            </a:pPr>
            <a:r>
              <a:rPr lang="da-DK" sz="1350" dirty="0"/>
              <a:t>Hvad bruger du gerne din tid på? (fx en hobby eller interesse)</a:t>
            </a:r>
          </a:p>
          <a:p>
            <a:pPr marL="342900">
              <a:spcAft>
                <a:spcPts val="600"/>
              </a:spcAft>
              <a:buFont typeface="Arial" panose="020B0604020202020204" pitchFamily="34" charset="0"/>
              <a:buChar char="•"/>
            </a:pPr>
            <a:r>
              <a:rPr lang="da-DK" sz="1350" dirty="0"/>
              <a:t>Ét </a:t>
            </a:r>
            <a:r>
              <a:rPr lang="da-DK" sz="1350" dirty="0" err="1"/>
              <a:t>fun</a:t>
            </a:r>
            <a:r>
              <a:rPr lang="da-DK" sz="1350" dirty="0"/>
              <a:t> </a:t>
            </a:r>
            <a:r>
              <a:rPr lang="da-DK" sz="1350" dirty="0" err="1"/>
              <a:t>fact</a:t>
            </a:r>
            <a:r>
              <a:rPr lang="da-DK" sz="1350" dirty="0"/>
              <a:t> eller noget, du går særligt op i</a:t>
            </a:r>
          </a:p>
        </p:txBody>
      </p:sp>
    </p:spTree>
    <p:extLst>
      <p:ext uri="{BB962C8B-B14F-4D97-AF65-F5344CB8AC3E}">
        <p14:creationId xmlns:p14="http://schemas.microsoft.com/office/powerpoint/2010/main" val="1340670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9CB7F-150D-8742-E682-57EE5F4C65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BC8B9CC-D0E8-A26D-EAEF-369FFB5AD446}"/>
              </a:ext>
            </a:extLst>
          </p:cNvPr>
          <p:cNvSpPr>
            <a:spLocks noGrp="1"/>
          </p:cNvSpPr>
          <p:nvPr>
            <p:ph type="ctrTitle"/>
          </p:nvPr>
        </p:nvSpPr>
        <p:spPr>
          <a:xfrm>
            <a:off x="1164957" y="540689"/>
            <a:ext cx="6829800" cy="641935"/>
          </a:xfrm>
        </p:spPr>
        <p:txBody>
          <a:bodyPr/>
          <a:lstStyle/>
          <a:p>
            <a:r>
              <a:rPr lang="da-DK" dirty="0"/>
              <a:t>Forventningsafstemning</a:t>
            </a:r>
          </a:p>
        </p:txBody>
      </p:sp>
      <p:sp>
        <p:nvSpPr>
          <p:cNvPr id="4" name="Pladsholder til indhold 2">
            <a:extLst>
              <a:ext uri="{FF2B5EF4-FFF2-40B4-BE49-F238E27FC236}">
                <a16:creationId xmlns:a16="http://schemas.microsoft.com/office/drawing/2014/main" id="{99824001-D6C0-270A-09F4-5A89AB06B705}"/>
              </a:ext>
            </a:extLst>
          </p:cNvPr>
          <p:cNvSpPr txBox="1">
            <a:spLocks/>
          </p:cNvSpPr>
          <p:nvPr/>
        </p:nvSpPr>
        <p:spPr>
          <a:xfrm>
            <a:off x="1164957" y="1335405"/>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600" dirty="0"/>
              <a:t>Tal med din sidemakker om:</a:t>
            </a:r>
          </a:p>
          <a:p>
            <a:pPr marL="285750" indent="-285750">
              <a:spcAft>
                <a:spcPts val="600"/>
              </a:spcAft>
              <a:buFont typeface="Arial" panose="020B0604020202020204" pitchFamily="34" charset="0"/>
              <a:buChar char="•"/>
            </a:pPr>
            <a:r>
              <a:rPr lang="da-DK" sz="1600" dirty="0"/>
              <a:t>Hvad håber I at lære i faget?</a:t>
            </a:r>
          </a:p>
          <a:p>
            <a:pPr marL="285750" indent="-285750">
              <a:spcAft>
                <a:spcPts val="600"/>
              </a:spcAft>
              <a:buFont typeface="Arial" panose="020B0604020202020204" pitchFamily="34" charset="0"/>
              <a:buChar char="•"/>
            </a:pPr>
            <a:r>
              <a:rPr lang="da-DK" sz="1600" dirty="0"/>
              <a:t>Hvad forventer I af undervisningsformen og arbejdsformen?</a:t>
            </a:r>
          </a:p>
          <a:p>
            <a:pPr marL="285750" indent="-285750">
              <a:spcAft>
                <a:spcPts val="600"/>
              </a:spcAft>
              <a:buFont typeface="Arial" panose="020B0604020202020204" pitchFamily="34" charset="0"/>
              <a:buChar char="•"/>
            </a:pPr>
            <a:r>
              <a:rPr lang="da-DK" sz="1600" dirty="0"/>
              <a:t>Hvad vil gøre faget relevant for jer</a:t>
            </a:r>
          </a:p>
        </p:txBody>
      </p:sp>
    </p:spTree>
    <p:extLst>
      <p:ext uri="{BB962C8B-B14F-4D97-AF65-F5344CB8AC3E}">
        <p14:creationId xmlns:p14="http://schemas.microsoft.com/office/powerpoint/2010/main" val="3600057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2FFF2-C028-A64D-3A64-B9195FEC67B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955C3F-7996-6DAF-72AD-28976393DD7E}"/>
              </a:ext>
            </a:extLst>
          </p:cNvPr>
          <p:cNvSpPr>
            <a:spLocks noGrp="1"/>
          </p:cNvSpPr>
          <p:nvPr>
            <p:ph type="ctrTitle"/>
          </p:nvPr>
        </p:nvSpPr>
        <p:spPr>
          <a:xfrm>
            <a:off x="1164957" y="540689"/>
            <a:ext cx="6829800" cy="641935"/>
          </a:xfrm>
        </p:spPr>
        <p:txBody>
          <a:bodyPr/>
          <a:lstStyle/>
          <a:p>
            <a:r>
              <a:rPr lang="da-DK"/>
              <a:t>Forventningsafstemning</a:t>
            </a:r>
            <a:endParaRPr lang="da-DK" dirty="0"/>
          </a:p>
        </p:txBody>
      </p:sp>
      <p:sp>
        <p:nvSpPr>
          <p:cNvPr id="4" name="Pladsholder til indhold 2">
            <a:extLst>
              <a:ext uri="{FF2B5EF4-FFF2-40B4-BE49-F238E27FC236}">
                <a16:creationId xmlns:a16="http://schemas.microsoft.com/office/drawing/2014/main" id="{4CF9B52C-D9DA-8AB6-1177-B911BA37E023}"/>
              </a:ext>
            </a:extLst>
          </p:cNvPr>
          <p:cNvSpPr txBox="1">
            <a:spLocks/>
          </p:cNvSpPr>
          <p:nvPr/>
        </p:nvSpPr>
        <p:spPr>
          <a:xfrm>
            <a:off x="1164957" y="1335405"/>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600" dirty="0"/>
              <a:t>Mine forventninger</a:t>
            </a:r>
          </a:p>
          <a:p>
            <a:pPr marL="285750" indent="-285750">
              <a:spcAft>
                <a:spcPts val="600"/>
              </a:spcAft>
              <a:buFont typeface="Arial" panose="020B0604020202020204" pitchFamily="34" charset="0"/>
              <a:buChar char="•"/>
            </a:pPr>
            <a:r>
              <a:rPr lang="da-DK" sz="1600" dirty="0"/>
              <a:t>Praksisorienteret undervisning</a:t>
            </a:r>
          </a:p>
          <a:p>
            <a:pPr marL="285750" indent="-285750">
              <a:spcAft>
                <a:spcPts val="600"/>
              </a:spcAft>
              <a:buFont typeface="Arial" panose="020B0604020202020204" pitchFamily="34" charset="0"/>
              <a:buChar char="•"/>
            </a:pPr>
            <a:r>
              <a:rPr lang="da-DK" sz="1600" dirty="0"/>
              <a:t>Aktiv deltagelse i øvelser og dialog</a:t>
            </a:r>
          </a:p>
          <a:p>
            <a:pPr marL="285750" indent="-285750">
              <a:spcAft>
                <a:spcPts val="600"/>
              </a:spcAft>
              <a:buFont typeface="Arial" panose="020B0604020202020204" pitchFamily="34" charset="0"/>
              <a:buChar char="•"/>
            </a:pPr>
            <a:r>
              <a:rPr lang="da-DK" sz="1600" dirty="0"/>
              <a:t>I behøver ikke læse alt materiale</a:t>
            </a:r>
          </a:p>
          <a:p>
            <a:pPr marL="285750" indent="-285750">
              <a:spcAft>
                <a:spcPts val="600"/>
              </a:spcAft>
              <a:buFont typeface="Arial" panose="020B0604020202020204" pitchFamily="34" charset="0"/>
              <a:buChar char="•"/>
            </a:pPr>
            <a:r>
              <a:rPr lang="da-DK" sz="1600" dirty="0"/>
              <a:t>Nysgerrighed og villighed til at afprøve</a:t>
            </a:r>
          </a:p>
        </p:txBody>
      </p:sp>
      <p:pic>
        <p:nvPicPr>
          <p:cNvPr id="7" name="Picture 4" descr="Emma Gad - Wikipedia, den frie encyklopædi">
            <a:extLst>
              <a:ext uri="{FF2B5EF4-FFF2-40B4-BE49-F238E27FC236}">
                <a16:creationId xmlns:a16="http://schemas.microsoft.com/office/drawing/2014/main" id="{E4E5D89F-5602-DC18-E876-A6156DBB52B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86431" y="1335405"/>
            <a:ext cx="1609725"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742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blipFill dpi="0" rotWithShape="1">
          <a:blip r:embed="rId3" cstate="screen">
            <a:alphaModFix amt="50000"/>
            <a:duotone>
              <a:schemeClr val="bg2">
                <a:shade val="88000"/>
                <a:hueMod val="106000"/>
                <a:satMod val="140000"/>
                <a:lumMod val="54000"/>
              </a:schemeClr>
              <a:schemeClr val="bg2">
                <a:tint val="98000"/>
                <a:hueMod val="90000"/>
                <a:satMod val="150000"/>
                <a:lumMod val="160000"/>
              </a:schemeClr>
            </a:duotone>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8</a:t>
            </a:fld>
            <a:endParaRPr lang="da-DK" sz="900" b="1" kern="1200" dirty="0">
              <a:solidFill>
                <a:srgbClr val="00454E"/>
              </a:solidFill>
              <a:ea typeface="+mn-ea"/>
              <a:cs typeface="Times New Roman"/>
            </a:endParaRPr>
          </a:p>
        </p:txBody>
      </p:sp>
      <p:pic>
        <p:nvPicPr>
          <p:cNvPr id="1026" name="Picture 2" descr="Horisontal.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
        <p:nvSpPr>
          <p:cNvPr id="6"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Struktur for ugen</a:t>
            </a:r>
          </a:p>
        </p:txBody>
      </p:sp>
      <p:sp>
        <p:nvSpPr>
          <p:cNvPr id="7"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350" dirty="0"/>
              <a:t>Mandag – Torsdag:</a:t>
            </a:r>
          </a:p>
          <a:p>
            <a:pPr marL="342900">
              <a:spcAft>
                <a:spcPts val="600"/>
              </a:spcAft>
              <a:buFont typeface="Arial" panose="020B0604020202020204" pitchFamily="34" charset="0"/>
              <a:buChar char="•"/>
            </a:pPr>
            <a:r>
              <a:rPr lang="da-DK" sz="1350" dirty="0"/>
              <a:t>Undervisningsstart: 08.00</a:t>
            </a:r>
          </a:p>
          <a:p>
            <a:pPr marL="342900">
              <a:spcAft>
                <a:spcPts val="600"/>
              </a:spcAft>
              <a:buFont typeface="Arial" panose="020B0604020202020204" pitchFamily="34" charset="0"/>
              <a:buChar char="•"/>
            </a:pPr>
            <a:r>
              <a:rPr lang="da-DK" sz="1350" dirty="0"/>
              <a:t>Undervisningsslut: 15.00</a:t>
            </a:r>
          </a:p>
          <a:p>
            <a:pPr marL="342900">
              <a:spcAft>
                <a:spcPts val="600"/>
              </a:spcAft>
              <a:buFont typeface="Arial" panose="020B0604020202020204" pitchFamily="34" charset="0"/>
              <a:buChar char="•"/>
            </a:pPr>
            <a:endParaRPr lang="da-DK" sz="1350" dirty="0"/>
          </a:p>
          <a:p>
            <a:pPr marL="0" indent="0">
              <a:spcAft>
                <a:spcPts val="600"/>
              </a:spcAft>
            </a:pPr>
            <a:r>
              <a:rPr lang="da-DK" sz="1350" dirty="0"/>
              <a:t>Fredag</a:t>
            </a:r>
          </a:p>
          <a:p>
            <a:pPr marL="342900">
              <a:spcAft>
                <a:spcPts val="600"/>
              </a:spcAft>
              <a:buFont typeface="Arial" panose="020B0604020202020204" pitchFamily="34" charset="0"/>
              <a:buChar char="•"/>
            </a:pPr>
            <a:r>
              <a:rPr lang="da-DK" sz="1350" dirty="0"/>
              <a:t>Undervisningsstart: 08.00</a:t>
            </a:r>
          </a:p>
          <a:p>
            <a:pPr marL="342900">
              <a:spcAft>
                <a:spcPts val="600"/>
              </a:spcAft>
              <a:buFont typeface="Arial" panose="020B0604020202020204" pitchFamily="34" charset="0"/>
              <a:buChar char="•"/>
            </a:pPr>
            <a:r>
              <a:rPr lang="da-DK" sz="1350" dirty="0"/>
              <a:t>Undervisningsslut: 14.00</a:t>
            </a:r>
          </a:p>
        </p:txBody>
      </p:sp>
      <p:sp>
        <p:nvSpPr>
          <p:cNvPr id="8" name="Pladsholder til indhold 2">
            <a:extLst>
              <a:ext uri="{FF2B5EF4-FFF2-40B4-BE49-F238E27FC236}">
                <a16:creationId xmlns:a16="http://schemas.microsoft.com/office/drawing/2014/main" id="{4F7E25E1-D7A4-21B3-9B7A-B4336618C57D}"/>
              </a:ext>
            </a:extLst>
          </p:cNvPr>
          <p:cNvSpPr txBox="1">
            <a:spLocks/>
          </p:cNvSpPr>
          <p:nvPr/>
        </p:nvSpPr>
        <p:spPr>
          <a:xfrm>
            <a:off x="4043094" y="1534611"/>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0" indent="0">
              <a:spcAft>
                <a:spcPts val="600"/>
              </a:spcAft>
            </a:pPr>
            <a:r>
              <a:rPr lang="da-DK" sz="1350" dirty="0"/>
              <a:t>Mandag – Torsdag:</a:t>
            </a:r>
          </a:p>
          <a:p>
            <a:pPr marL="342900">
              <a:spcAft>
                <a:spcPts val="600"/>
              </a:spcAft>
              <a:buFont typeface="Arial" panose="020B0604020202020204" pitchFamily="34" charset="0"/>
              <a:buChar char="•"/>
            </a:pPr>
            <a:r>
              <a:rPr lang="da-DK" sz="1350" dirty="0"/>
              <a:t>Undervisning</a:t>
            </a:r>
          </a:p>
          <a:p>
            <a:pPr marL="342900">
              <a:spcAft>
                <a:spcPts val="600"/>
              </a:spcAft>
              <a:buFont typeface="Arial" panose="020B0604020202020204" pitchFamily="34" charset="0"/>
              <a:buChar char="•"/>
            </a:pPr>
            <a:r>
              <a:rPr lang="da-DK" sz="1350" dirty="0"/>
              <a:t>Øvelser – Gruppe og individuelt</a:t>
            </a:r>
          </a:p>
          <a:p>
            <a:pPr marL="342900">
              <a:spcAft>
                <a:spcPts val="600"/>
              </a:spcAft>
              <a:buFont typeface="Arial" panose="020B0604020202020204" pitchFamily="34" charset="0"/>
              <a:buChar char="•"/>
            </a:pPr>
            <a:endParaRPr lang="da-DK" sz="1350" dirty="0"/>
          </a:p>
          <a:p>
            <a:pPr marL="0" indent="0">
              <a:spcAft>
                <a:spcPts val="600"/>
              </a:spcAft>
            </a:pPr>
            <a:r>
              <a:rPr lang="da-DK" sz="1350" dirty="0"/>
              <a:t>Fredag</a:t>
            </a:r>
          </a:p>
          <a:p>
            <a:pPr marL="342900">
              <a:spcAft>
                <a:spcPts val="600"/>
              </a:spcAft>
              <a:buFont typeface="Arial" panose="020B0604020202020204" pitchFamily="34" charset="0"/>
              <a:buChar char="•"/>
            </a:pPr>
            <a:r>
              <a:rPr lang="da-DK" sz="1350" dirty="0"/>
              <a:t>Opsummering</a:t>
            </a:r>
          </a:p>
          <a:p>
            <a:pPr marL="342900">
              <a:spcAft>
                <a:spcPts val="600"/>
              </a:spcAft>
              <a:buFont typeface="Arial" panose="020B0604020202020204" pitchFamily="34" charset="0"/>
              <a:buChar char="•"/>
            </a:pPr>
            <a:r>
              <a:rPr lang="da-DK" sz="1350" dirty="0"/>
              <a:t>Evaluering</a:t>
            </a:r>
          </a:p>
          <a:p>
            <a:pPr marL="342900">
              <a:spcAft>
                <a:spcPts val="600"/>
              </a:spcAft>
              <a:buFont typeface="Arial" panose="020B0604020202020204" pitchFamily="34" charset="0"/>
              <a:buChar char="•"/>
            </a:pPr>
            <a:r>
              <a:rPr lang="da-DK" sz="1350" dirty="0"/>
              <a:t>Eksamensforberedelse</a:t>
            </a:r>
          </a:p>
        </p:txBody>
      </p:sp>
    </p:spTree>
    <p:extLst>
      <p:ext uri="{BB962C8B-B14F-4D97-AF65-F5344CB8AC3E}">
        <p14:creationId xmlns:p14="http://schemas.microsoft.com/office/powerpoint/2010/main" val="1671019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65000"/>
            <a:duotone>
              <a:schemeClr val="bg2">
                <a:shade val="88000"/>
                <a:hueMod val="106000"/>
                <a:satMod val="140000"/>
                <a:lumMod val="54000"/>
              </a:schemeClr>
              <a:schemeClr val="bg2">
                <a:tint val="98000"/>
                <a:hueMod val="90000"/>
                <a:satMod val="150000"/>
                <a:lumMod val="160000"/>
              </a:schemeClr>
            </a:duotone>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9</a:t>
            </a:fld>
            <a:endParaRPr lang="da-DK" sz="900" b="1" kern="1200" dirty="0">
              <a:solidFill>
                <a:srgbClr val="00454E"/>
              </a:solidFill>
              <a:ea typeface="+mn-ea"/>
              <a:cs typeface="Times New Roman"/>
            </a:endParaRPr>
          </a:p>
        </p:txBody>
      </p:sp>
      <p:pic>
        <p:nvPicPr>
          <p:cNvPr id="1026" name="Picture 2" descr="Horisontal.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
        <p:nvSpPr>
          <p:cNvPr id="6"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Dagens program</a:t>
            </a:r>
          </a:p>
        </p:txBody>
      </p:sp>
      <p:sp>
        <p:nvSpPr>
          <p:cNvPr id="7"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350" dirty="0"/>
              <a:t>Introduktion til AI</a:t>
            </a:r>
          </a:p>
          <a:p>
            <a:pPr marL="342900">
              <a:spcAft>
                <a:spcPts val="600"/>
              </a:spcAft>
              <a:buFont typeface="Arial" panose="020B0604020202020204" pitchFamily="34" charset="0"/>
              <a:buChar char="•"/>
            </a:pPr>
            <a:r>
              <a:rPr lang="da-DK" sz="1350" dirty="0"/>
              <a:t>AI gennem historien</a:t>
            </a:r>
          </a:p>
          <a:p>
            <a:pPr marL="342900">
              <a:spcAft>
                <a:spcPts val="600"/>
              </a:spcAft>
              <a:buFont typeface="Arial" panose="020B0604020202020204" pitchFamily="34" charset="0"/>
              <a:buChar char="•"/>
            </a:pPr>
            <a:r>
              <a:rPr lang="da-DK" sz="1350" dirty="0"/>
              <a:t>Forskellige typer AI</a:t>
            </a:r>
          </a:p>
          <a:p>
            <a:pPr marL="342900">
              <a:spcAft>
                <a:spcPts val="600"/>
              </a:spcAft>
              <a:buFont typeface="Arial" panose="020B0604020202020204" pitchFamily="34" charset="0"/>
              <a:buChar char="•"/>
            </a:pPr>
            <a:r>
              <a:rPr lang="da-DK" sz="1350" dirty="0"/>
              <a:t>Hvad er generativ AI?</a:t>
            </a:r>
          </a:p>
          <a:p>
            <a:pPr marL="342900">
              <a:spcAft>
                <a:spcPts val="600"/>
              </a:spcAft>
              <a:buFont typeface="Arial" panose="020B0604020202020204" pitchFamily="34" charset="0"/>
              <a:buChar char="•"/>
            </a:pPr>
            <a:r>
              <a:rPr lang="da-DK" sz="1350" dirty="0"/>
              <a:t>Gode råd til brug af AI</a:t>
            </a:r>
          </a:p>
          <a:p>
            <a:pPr marL="342900">
              <a:spcAft>
                <a:spcPts val="600"/>
              </a:spcAft>
              <a:buFont typeface="Arial" panose="020B0604020202020204" pitchFamily="34" charset="0"/>
              <a:buChar char="•"/>
            </a:pPr>
            <a:r>
              <a:rPr lang="da-DK" sz="1350" dirty="0"/>
              <a:t>Opsummering</a:t>
            </a:r>
          </a:p>
          <a:p>
            <a:pPr marL="342900">
              <a:spcAft>
                <a:spcPts val="600"/>
              </a:spcAft>
              <a:buFont typeface="Arial" panose="020B0604020202020204" pitchFamily="34" charset="0"/>
              <a:buChar char="•"/>
            </a:pPr>
            <a:r>
              <a:rPr lang="da-DK" sz="1350" dirty="0"/>
              <a:t>Eksamen</a:t>
            </a:r>
          </a:p>
          <a:p>
            <a:pPr marL="342900">
              <a:spcAft>
                <a:spcPts val="600"/>
              </a:spcAft>
              <a:buFont typeface="Arial" panose="020B0604020202020204" pitchFamily="34" charset="0"/>
              <a:buChar char="•"/>
            </a:pPr>
            <a:r>
              <a:rPr lang="da-DK" sz="1350" dirty="0"/>
              <a:t>Opgaver til næste uge</a:t>
            </a:r>
          </a:p>
        </p:txBody>
      </p:sp>
    </p:spTree>
    <p:extLst>
      <p:ext uri="{BB962C8B-B14F-4D97-AF65-F5344CB8AC3E}">
        <p14:creationId xmlns:p14="http://schemas.microsoft.com/office/powerpoint/2010/main" val="39710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3C3D-0048-BA76-58EF-2E2A2CDD932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6C0E257-00D0-5893-77B5-AD6B01359EE7}"/>
              </a:ext>
            </a:extLst>
          </p:cNvPr>
          <p:cNvSpPr>
            <a:spLocks noGrp="1"/>
          </p:cNvSpPr>
          <p:nvPr>
            <p:ph type="ctrTitle"/>
          </p:nvPr>
        </p:nvSpPr>
        <p:spPr>
          <a:xfrm>
            <a:off x="1164957" y="540689"/>
            <a:ext cx="6829800" cy="910159"/>
          </a:xfrm>
        </p:spPr>
        <p:txBody>
          <a:bodyPr/>
          <a:lstStyle/>
          <a:p>
            <a:r>
              <a:rPr lang="da-DK" dirty="0"/>
              <a:t>Hvad ved i om AI?</a:t>
            </a:r>
          </a:p>
        </p:txBody>
      </p:sp>
      <p:sp>
        <p:nvSpPr>
          <p:cNvPr id="6" name="Pladsholder til indhold 2">
            <a:extLst>
              <a:ext uri="{FF2B5EF4-FFF2-40B4-BE49-F238E27FC236}">
                <a16:creationId xmlns:a16="http://schemas.microsoft.com/office/drawing/2014/main" id="{4F7E25E1-D7A4-21B3-9B7A-B4336618C57D}"/>
              </a:ext>
            </a:extLst>
          </p:cNvPr>
          <p:cNvSpPr txBox="1">
            <a:spLocks/>
          </p:cNvSpPr>
          <p:nvPr/>
        </p:nvSpPr>
        <p:spPr>
          <a:xfrm>
            <a:off x="1164957" y="1450848"/>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350" dirty="0"/>
              <a:t>10 minutter i par</a:t>
            </a:r>
          </a:p>
          <a:p>
            <a:pPr marL="342900">
              <a:spcAft>
                <a:spcPts val="600"/>
              </a:spcAft>
              <a:buFont typeface="Arial" panose="020B0604020202020204" pitchFamily="34" charset="0"/>
              <a:buChar char="•"/>
            </a:pPr>
            <a:r>
              <a:rPr lang="da-DK" sz="1350" dirty="0"/>
              <a:t>Hvad er dit forhold til-/viden om AI?</a:t>
            </a:r>
          </a:p>
        </p:txBody>
      </p:sp>
    </p:spTree>
    <p:extLst>
      <p:ext uri="{BB962C8B-B14F-4D97-AF65-F5344CB8AC3E}">
        <p14:creationId xmlns:p14="http://schemas.microsoft.com/office/powerpoint/2010/main" val="1930210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11</a:t>
            </a:fld>
            <a:endParaRPr lang="da-DK" sz="900" b="1" kern="1200" dirty="0">
              <a:solidFill>
                <a:srgbClr val="00454E"/>
              </a:solidFill>
              <a:ea typeface="+mn-ea"/>
              <a:cs typeface="Times New Roman"/>
            </a:endParaRPr>
          </a:p>
        </p:txBody>
      </p:sp>
      <p:sp>
        <p:nvSpPr>
          <p:cNvPr id="2" name="Titel 1"/>
          <p:cNvSpPr>
            <a:spLocks noGrp="1"/>
          </p:cNvSpPr>
          <p:nvPr>
            <p:ph type="title"/>
          </p:nvPr>
        </p:nvSpPr>
        <p:spPr>
          <a:xfrm>
            <a:off x="552426" y="818558"/>
            <a:ext cx="2484201" cy="675872"/>
          </a:xfrm>
        </p:spPr>
        <p:txBody>
          <a:bodyPr/>
          <a:lstStyle/>
          <a:p>
            <a:r>
              <a:rPr lang="da-DK" b="1" i="1" dirty="0"/>
              <a:t>Papegøje </a:t>
            </a:r>
            <a:r>
              <a:rPr lang="da-DK" b="1" i="1" dirty="0">
                <a:sym typeface="Wingdings" panose="05000000000000000000" pitchFamily="2" charset="2"/>
              </a:rPr>
              <a:t></a:t>
            </a:r>
            <a:endParaRPr lang="da-DK" b="1" i="1" dirty="0"/>
          </a:p>
        </p:txBody>
      </p:sp>
      <p:pic>
        <p:nvPicPr>
          <p:cNvPr id="7" name="Billede 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91870" y="569692"/>
            <a:ext cx="2736000" cy="4104000"/>
          </a:xfrm>
          <a:prstGeom prst="rect">
            <a:avLst/>
          </a:prstGeom>
        </p:spPr>
      </p:pic>
      <p:sp>
        <p:nvSpPr>
          <p:cNvPr id="8" name="Titel 1"/>
          <p:cNvSpPr txBox="1">
            <a:spLocks/>
          </p:cNvSpPr>
          <p:nvPr/>
        </p:nvSpPr>
        <p:spPr>
          <a:xfrm>
            <a:off x="552426" y="1653346"/>
            <a:ext cx="2484201" cy="4347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da-DK" sz="1800" b="1" i="1" u="sng" dirty="0"/>
              <a:t>Facts om papegøjer</a:t>
            </a:r>
          </a:p>
          <a:p>
            <a:endParaRPr lang="da-DK" sz="1800" b="1" i="1" u="sng" dirty="0"/>
          </a:p>
        </p:txBody>
      </p:sp>
      <p:sp>
        <p:nvSpPr>
          <p:cNvPr id="9" name="Titel 1"/>
          <p:cNvSpPr txBox="1">
            <a:spLocks/>
          </p:cNvSpPr>
          <p:nvPr/>
        </p:nvSpPr>
        <p:spPr>
          <a:xfrm>
            <a:off x="548708" y="2267981"/>
            <a:ext cx="2484201" cy="4347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285750" indent="-285750">
              <a:buFont typeface="Arial" panose="020B0604020202020204" pitchFamily="34" charset="0"/>
              <a:buChar char="•"/>
            </a:pPr>
            <a:r>
              <a:rPr lang="da-DK" sz="1400" b="1" i="1" dirty="0"/>
              <a:t>Bruger deres næb som et tredje ben</a:t>
            </a:r>
          </a:p>
        </p:txBody>
      </p:sp>
      <p:sp>
        <p:nvSpPr>
          <p:cNvPr id="10" name="Titel 1"/>
          <p:cNvSpPr txBox="1">
            <a:spLocks/>
          </p:cNvSpPr>
          <p:nvPr/>
        </p:nvSpPr>
        <p:spPr>
          <a:xfrm>
            <a:off x="548708" y="2866681"/>
            <a:ext cx="2484201" cy="4347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285750" indent="-285750">
              <a:buFont typeface="Arial" panose="020B0604020202020204" pitchFamily="34" charset="0"/>
              <a:buChar char="•"/>
            </a:pPr>
            <a:r>
              <a:rPr lang="da-DK" sz="1400" b="1" i="1" dirty="0"/>
              <a:t>Har </a:t>
            </a:r>
            <a:r>
              <a:rPr lang="da-DK" sz="1400" b="1" i="1" dirty="0" err="1"/>
              <a:t>zygodactyle</a:t>
            </a:r>
            <a:r>
              <a:rPr lang="da-DK" sz="1400" b="1" i="1" dirty="0"/>
              <a:t> fødder</a:t>
            </a:r>
          </a:p>
        </p:txBody>
      </p:sp>
      <p:sp>
        <p:nvSpPr>
          <p:cNvPr id="11" name="Titel 1"/>
          <p:cNvSpPr txBox="1">
            <a:spLocks/>
          </p:cNvSpPr>
          <p:nvPr/>
        </p:nvSpPr>
        <p:spPr>
          <a:xfrm>
            <a:off x="548708" y="3268958"/>
            <a:ext cx="2484201" cy="4347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285750" indent="-285750">
              <a:buFont typeface="Arial" panose="020B0604020202020204" pitchFamily="34" charset="0"/>
              <a:buChar char="•"/>
            </a:pPr>
            <a:r>
              <a:rPr lang="da-DK" sz="1400" b="1" i="1" dirty="0"/>
              <a:t>Intelligens svarende til en 3-5 årig</a:t>
            </a:r>
          </a:p>
        </p:txBody>
      </p:sp>
    </p:spTree>
    <p:extLst>
      <p:ext uri="{BB962C8B-B14F-4D97-AF65-F5344CB8AC3E}">
        <p14:creationId xmlns:p14="http://schemas.microsoft.com/office/powerpoint/2010/main" val="384881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24DA6-A032-78F0-1B11-05A3D90986C6}"/>
            </a:ext>
          </a:extLst>
        </p:cNvPr>
        <p:cNvGrpSpPr/>
        <p:nvPr/>
      </p:nvGrpSpPr>
      <p:grpSpPr>
        <a:xfrm>
          <a:off x="0" y="0"/>
          <a:ext cx="0" cy="0"/>
          <a:chOff x="0" y="0"/>
          <a:chExt cx="0" cy="0"/>
        </a:xfrm>
      </p:grpSpPr>
      <p:sp>
        <p:nvSpPr>
          <p:cNvPr id="4" name="Pladsholder til dato 3">
            <a:extLst>
              <a:ext uri="{FF2B5EF4-FFF2-40B4-BE49-F238E27FC236}">
                <a16:creationId xmlns:a16="http://schemas.microsoft.com/office/drawing/2014/main" id="{D1FB2372-80CD-866F-68A3-B0DCF56A48C4}"/>
              </a:ext>
            </a:extLst>
          </p:cNvPr>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a:extLst>
              <a:ext uri="{FF2B5EF4-FFF2-40B4-BE49-F238E27FC236}">
                <a16:creationId xmlns:a16="http://schemas.microsoft.com/office/drawing/2014/main" id="{AAD682D4-3106-9DE2-4B7B-2573377AF918}"/>
              </a:ext>
            </a:extLst>
          </p:cNvPr>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12</a:t>
            </a:fld>
            <a:endParaRPr lang="da-DK" sz="900" b="1" kern="1200" dirty="0">
              <a:solidFill>
                <a:srgbClr val="00454E"/>
              </a:solidFill>
              <a:ea typeface="+mn-ea"/>
              <a:cs typeface="Times New Roman"/>
            </a:endParaRPr>
          </a:p>
        </p:txBody>
      </p:sp>
      <p:sp>
        <p:nvSpPr>
          <p:cNvPr id="2" name="Titel 1">
            <a:extLst>
              <a:ext uri="{FF2B5EF4-FFF2-40B4-BE49-F238E27FC236}">
                <a16:creationId xmlns:a16="http://schemas.microsoft.com/office/drawing/2014/main" id="{FF149C60-0A66-4B1A-501A-5CFA933BFC81}"/>
              </a:ext>
            </a:extLst>
          </p:cNvPr>
          <p:cNvSpPr>
            <a:spLocks noGrp="1"/>
          </p:cNvSpPr>
          <p:nvPr>
            <p:ph type="title"/>
          </p:nvPr>
        </p:nvSpPr>
        <p:spPr>
          <a:xfrm>
            <a:off x="646176" y="361358"/>
            <a:ext cx="8014887" cy="994172"/>
          </a:xfrm>
        </p:spPr>
        <p:txBody>
          <a:bodyPr/>
          <a:lstStyle/>
          <a:p>
            <a:r>
              <a:rPr lang="da-DK" b="1" i="1" dirty="0"/>
              <a:t>Mere om Papegøjer</a:t>
            </a:r>
          </a:p>
        </p:txBody>
      </p:sp>
      <p:pic>
        <p:nvPicPr>
          <p:cNvPr id="7" name="Billede 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53619" y="1037692"/>
            <a:ext cx="3312000" cy="3312000"/>
          </a:xfrm>
          <a:prstGeom prst="rect">
            <a:avLst/>
          </a:prstGeom>
        </p:spPr>
      </p:pic>
      <p:pic>
        <p:nvPicPr>
          <p:cNvPr id="8" name="Billed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23558" y="1037692"/>
            <a:ext cx="2328000" cy="3492000"/>
          </a:xfrm>
          <a:prstGeom prst="rect">
            <a:avLst/>
          </a:prstGeom>
        </p:spPr>
      </p:pic>
      <p:sp>
        <p:nvSpPr>
          <p:cNvPr id="9" name="Titel 1">
            <a:extLst>
              <a:ext uri="{FF2B5EF4-FFF2-40B4-BE49-F238E27FC236}">
                <a16:creationId xmlns:a16="http://schemas.microsoft.com/office/drawing/2014/main" id="{FF149C60-0A66-4B1A-501A-5CFA933BFC81}"/>
              </a:ext>
            </a:extLst>
          </p:cNvPr>
          <p:cNvSpPr txBox="1">
            <a:spLocks/>
          </p:cNvSpPr>
          <p:nvPr/>
        </p:nvSpPr>
        <p:spPr>
          <a:xfrm>
            <a:off x="1258392" y="4440213"/>
            <a:ext cx="2562981" cy="3296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da-DK" sz="1200" b="1" i="1" dirty="0"/>
              <a:t>Kilde: </a:t>
            </a:r>
            <a:r>
              <a:rPr lang="da-DK" sz="1200" b="1" i="1" dirty="0" err="1"/>
              <a:t>ChatGPT</a:t>
            </a:r>
            <a:endParaRPr lang="da-DK" sz="1200" b="1" i="1" dirty="0"/>
          </a:p>
        </p:txBody>
      </p:sp>
      <p:sp>
        <p:nvSpPr>
          <p:cNvPr id="10" name="Titel 1">
            <a:extLst>
              <a:ext uri="{FF2B5EF4-FFF2-40B4-BE49-F238E27FC236}">
                <a16:creationId xmlns:a16="http://schemas.microsoft.com/office/drawing/2014/main" id="{FF149C60-0A66-4B1A-501A-5CFA933BFC81}"/>
              </a:ext>
            </a:extLst>
          </p:cNvPr>
          <p:cNvSpPr txBox="1">
            <a:spLocks/>
          </p:cNvSpPr>
          <p:nvPr/>
        </p:nvSpPr>
        <p:spPr>
          <a:xfrm>
            <a:off x="4592204" y="4275373"/>
            <a:ext cx="2562981" cy="3296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da-DK" sz="1200" b="1" i="1" dirty="0"/>
              <a:t>Kilde: </a:t>
            </a:r>
            <a:r>
              <a:rPr lang="da-DK" sz="1200" b="1" i="1" dirty="0" err="1"/>
              <a:t>CoPilot</a:t>
            </a:r>
            <a:endParaRPr lang="da-DK" sz="1200" b="1" i="1" dirty="0"/>
          </a:p>
        </p:txBody>
      </p:sp>
    </p:spTree>
    <p:extLst>
      <p:ext uri="{BB962C8B-B14F-4D97-AF65-F5344CB8AC3E}">
        <p14:creationId xmlns:p14="http://schemas.microsoft.com/office/powerpoint/2010/main" val="631597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687CE-65D8-1FE6-BB92-B36E8C43D1F8}"/>
            </a:ext>
          </a:extLst>
        </p:cNvPr>
        <p:cNvGrpSpPr/>
        <p:nvPr/>
      </p:nvGrpSpPr>
      <p:grpSpPr>
        <a:xfrm>
          <a:off x="0" y="0"/>
          <a:ext cx="0" cy="0"/>
          <a:chOff x="0" y="0"/>
          <a:chExt cx="0" cy="0"/>
        </a:xfrm>
      </p:grpSpPr>
      <p:sp>
        <p:nvSpPr>
          <p:cNvPr id="4" name="Pladsholder til dato 3">
            <a:extLst>
              <a:ext uri="{FF2B5EF4-FFF2-40B4-BE49-F238E27FC236}">
                <a16:creationId xmlns:a16="http://schemas.microsoft.com/office/drawing/2014/main" id="{0A942DEA-927A-94FE-7564-D49B1D958404}"/>
              </a:ext>
            </a:extLst>
          </p:cNvPr>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a:extLst>
              <a:ext uri="{FF2B5EF4-FFF2-40B4-BE49-F238E27FC236}">
                <a16:creationId xmlns:a16="http://schemas.microsoft.com/office/drawing/2014/main" id="{521DB8A4-1465-BAF2-ACB4-0DFF1B1F495B}"/>
              </a:ext>
            </a:extLst>
          </p:cNvPr>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13</a:t>
            </a:fld>
            <a:endParaRPr lang="da-DK" sz="900" b="1" kern="1200" dirty="0">
              <a:solidFill>
                <a:srgbClr val="00454E"/>
              </a:solidFill>
              <a:ea typeface="+mn-ea"/>
              <a:cs typeface="Times New Roman"/>
            </a:endParaRPr>
          </a:p>
        </p:txBody>
      </p:sp>
      <p:sp>
        <p:nvSpPr>
          <p:cNvPr id="2" name="Titel 1">
            <a:extLst>
              <a:ext uri="{FF2B5EF4-FFF2-40B4-BE49-F238E27FC236}">
                <a16:creationId xmlns:a16="http://schemas.microsoft.com/office/drawing/2014/main" id="{0F4312C8-1D2A-CAB4-1FDC-F5DB7DE31747}"/>
              </a:ext>
            </a:extLst>
          </p:cNvPr>
          <p:cNvSpPr>
            <a:spLocks noGrp="1"/>
          </p:cNvSpPr>
          <p:nvPr>
            <p:ph type="title"/>
          </p:nvPr>
        </p:nvSpPr>
        <p:spPr>
          <a:xfrm>
            <a:off x="548708" y="361358"/>
            <a:ext cx="8112355" cy="994172"/>
          </a:xfrm>
        </p:spPr>
        <p:txBody>
          <a:bodyPr/>
          <a:lstStyle/>
          <a:p>
            <a:r>
              <a:rPr lang="da-DK" b="1" i="1" dirty="0"/>
              <a:t>AI Gennem historien</a:t>
            </a:r>
            <a:br>
              <a:rPr lang="da-DK" b="1" i="1" dirty="0"/>
            </a:br>
            <a:r>
              <a:rPr lang="da-DK" b="1" i="1" dirty="0"/>
              <a:t>- Fra </a:t>
            </a:r>
            <a:r>
              <a:rPr lang="da-DK" b="1" i="1" dirty="0" err="1"/>
              <a:t>Golem</a:t>
            </a:r>
            <a:r>
              <a:rPr lang="da-DK" b="1" i="1" dirty="0"/>
              <a:t>…</a:t>
            </a:r>
          </a:p>
        </p:txBody>
      </p:sp>
      <p:sp>
        <p:nvSpPr>
          <p:cNvPr id="7" name="AutoShape 2" descr="Golem med lysende øjne i mørke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Billed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84425" y="1495424"/>
            <a:ext cx="4157663" cy="2771775"/>
          </a:xfrm>
          <a:prstGeom prst="rect">
            <a:avLst/>
          </a:prstGeom>
        </p:spPr>
      </p:pic>
    </p:spTree>
    <p:extLst>
      <p:ext uri="{BB962C8B-B14F-4D97-AF65-F5344CB8AC3E}">
        <p14:creationId xmlns:p14="http://schemas.microsoft.com/office/powerpoint/2010/main" val="3091148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5747CDE5-0717-48E4-9385-7C842E50026E}" type="slidenum">
              <a:rPr lang="da-DK" smtClean="0"/>
              <a:pPr/>
              <a:t>14</a:t>
            </a:fld>
            <a:endParaRPr lang="da-DK" dirty="0"/>
          </a:p>
        </p:txBody>
      </p:sp>
      <p:pic>
        <p:nvPicPr>
          <p:cNvPr id="5" name="Billed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04885" y="1412680"/>
            <a:ext cx="4500563" cy="3000375"/>
          </a:xfrm>
          <a:prstGeom prst="rect">
            <a:avLst/>
          </a:prstGeom>
        </p:spPr>
      </p:pic>
      <p:sp>
        <p:nvSpPr>
          <p:cNvPr id="6" name="Titel 1">
            <a:extLst>
              <a:ext uri="{FF2B5EF4-FFF2-40B4-BE49-F238E27FC236}">
                <a16:creationId xmlns:a16="http://schemas.microsoft.com/office/drawing/2014/main" id="{0F4312C8-1D2A-CAB4-1FDC-F5DB7DE31747}"/>
              </a:ext>
            </a:extLst>
          </p:cNvPr>
          <p:cNvSpPr>
            <a:spLocks noGrp="1"/>
          </p:cNvSpPr>
          <p:nvPr>
            <p:ph type="title"/>
          </p:nvPr>
        </p:nvSpPr>
        <p:spPr>
          <a:xfrm>
            <a:off x="548708" y="361358"/>
            <a:ext cx="8112355" cy="994172"/>
          </a:xfrm>
        </p:spPr>
        <p:txBody>
          <a:bodyPr/>
          <a:lstStyle/>
          <a:p>
            <a:r>
              <a:rPr lang="da-DK" b="1" i="1" dirty="0"/>
              <a:t>AI Gennem historien</a:t>
            </a:r>
            <a:br>
              <a:rPr lang="da-DK" b="1" i="1" dirty="0"/>
            </a:br>
            <a:r>
              <a:rPr lang="da-DK" b="1" i="1" dirty="0"/>
              <a:t>- … til Skak</a:t>
            </a:r>
          </a:p>
        </p:txBody>
      </p:sp>
      <p:pic>
        <p:nvPicPr>
          <p:cNvPr id="8" name="Billed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633" y="1412680"/>
            <a:ext cx="4505325" cy="3003550"/>
          </a:xfrm>
          <a:prstGeom prst="rect">
            <a:avLst/>
          </a:prstGeom>
        </p:spPr>
      </p:pic>
    </p:spTree>
    <p:extLst>
      <p:ext uri="{BB962C8B-B14F-4D97-AF65-F5344CB8AC3E}">
        <p14:creationId xmlns:p14="http://schemas.microsoft.com/office/powerpoint/2010/main" val="864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Fra logik til Generativ intelligens</a:t>
            </a:r>
          </a:p>
        </p:txBody>
      </p:sp>
      <p:sp>
        <p:nvSpPr>
          <p:cNvPr id="3" name="Content Placeholder 2"/>
          <p:cNvSpPr>
            <a:spLocks noGrp="1"/>
          </p:cNvSpPr>
          <p:nvPr>
            <p:ph idx="1"/>
          </p:nvPr>
        </p:nvSpPr>
        <p:spPr/>
        <p:txBody>
          <a:bodyPr/>
          <a:lstStyle/>
          <a:p>
            <a:r>
              <a:t>AI udvikler sig i bølger</a:t>
            </a:r>
          </a:p>
          <a:p>
            <a:r>
              <a:t>Fra regler → læring → generering</a:t>
            </a:r>
          </a:p>
          <a:p>
            <a:r>
              <a:t>Drevet af data og teknologi</a:t>
            </a:r>
          </a:p>
        </p:txBody>
      </p:sp>
      <p:pic>
        <p:nvPicPr>
          <p:cNvPr id="1026" name="Picture 2" descr="https://images.openai.com/static-rsc-4/Uh-qhDCI4koahFjZkpuT71v2qFvOjpujcLnUDZTUbj90QtHFa_zEh-LUuDZYvTOwpdJ9AkGgN8uPRqg7dzr7TOxOkb2u3T6jv2R5qtZLQrxoE1B6QsUppLLkGMip1mL2t0P4PUzFeMuAi4H7rLEyBzl8WACvIOlNvi8cm4vTsRp9gFdRPSlMeVrV_kOen6-X?purpose=fullsize"/>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74229" y="2566353"/>
            <a:ext cx="3395541" cy="178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8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1950’erne – Tidlige år &amp; symbolsk intelligens</a:t>
            </a:r>
          </a:p>
        </p:txBody>
      </p:sp>
      <p:sp>
        <p:nvSpPr>
          <p:cNvPr id="3" name="Content Placeholder 2"/>
          <p:cNvSpPr>
            <a:spLocks noGrp="1"/>
          </p:cNvSpPr>
          <p:nvPr>
            <p:ph idx="1"/>
          </p:nvPr>
        </p:nvSpPr>
        <p:spPr/>
        <p:txBody>
          <a:bodyPr/>
          <a:lstStyle/>
          <a:p>
            <a:r>
              <a:t>Alan Turing</a:t>
            </a:r>
          </a:p>
          <a:p>
            <a:r>
              <a:t>Turing Test</a:t>
            </a:r>
          </a:p>
          <a:p>
            <a:r>
              <a:t>Symbolsk AI</a:t>
            </a:r>
          </a:p>
        </p:txBody>
      </p:sp>
      <p:pic>
        <p:nvPicPr>
          <p:cNvPr id="2050" name="Picture 2" descr="https://images.openai.com/static-rsc-4/RHURwJcbfWPpp24lPqaX0eNUJJXBjG1ngjwCcpAxgJQtXK5DpIQii8Wp4bBCJJkWxkptWi1s-kjLiJte7YkrLS4ONEqjTlm998WJPsd4kN3UC4l5q6bc3iZEHA0FUJCUaG1yAyj-YS8omU3eRVnbD5PvjNSXMDeZsnT50Q1qOeNSzrwcFWIl3f7OS7LvBBLw?purpose=fullsize"/>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73124" y="1369220"/>
            <a:ext cx="2091721" cy="22231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images.openai.com/static-rsc-4/NqmVz-BYxBSErAFIoyEnASx_lM4-m8f8LOHuZ6K-FigD82c3t2OnKvuDSPlMtYAfERtPW-eg8ZW_6fg-1w4Xn61qJIVfJ9tDEs1D8Za_B_VrKLnyarlM29-TmXe-PkqfM6df3WPU9lRvkzxJCqzgKCRYLJG-RtljW17adZHvMe500urFBSitZk1qAtG4tL4M?purpose=fullsize"/>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349460" y="1369220"/>
            <a:ext cx="1646259" cy="222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445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Symbolsk AI i praksis</a:t>
            </a:r>
          </a:p>
        </p:txBody>
      </p:sp>
      <p:sp>
        <p:nvSpPr>
          <p:cNvPr id="3" name="Content Placeholder 2"/>
          <p:cNvSpPr>
            <a:spLocks noGrp="1"/>
          </p:cNvSpPr>
          <p:nvPr>
            <p:ph idx="1"/>
          </p:nvPr>
        </p:nvSpPr>
        <p:spPr/>
        <p:txBody>
          <a:bodyPr/>
          <a:lstStyle/>
          <a:p>
            <a:r>
              <a:t>Logic Theorist</a:t>
            </a:r>
          </a:p>
          <a:p>
            <a:r>
              <a:t>Regelbaserede systemer</a:t>
            </a:r>
          </a:p>
          <a:p>
            <a:r>
              <a:t>Matematisk problemløsning</a:t>
            </a:r>
          </a:p>
        </p:txBody>
      </p:sp>
      <p:pic>
        <p:nvPicPr>
          <p:cNvPr id="3074" name="Picture 2" descr="AI Logic Routing and Decision Architecture Symbol. Algorithmic Flow, Rule-Based Processing, and Neural Decision Paths in Artificial Intelligence Systems."/>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56604" y="445025"/>
            <a:ext cx="3648075"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160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Begrænsninger ved tidlig AI</a:t>
            </a:r>
          </a:p>
        </p:txBody>
      </p:sp>
      <p:sp>
        <p:nvSpPr>
          <p:cNvPr id="3" name="Content Placeholder 2"/>
          <p:cNvSpPr>
            <a:spLocks noGrp="1"/>
          </p:cNvSpPr>
          <p:nvPr>
            <p:ph idx="1"/>
          </p:nvPr>
        </p:nvSpPr>
        <p:spPr/>
        <p:txBody>
          <a:bodyPr/>
          <a:lstStyle/>
          <a:p>
            <a:r>
              <a:t>Ingen læring</a:t>
            </a:r>
          </a:p>
          <a:p>
            <a:r>
              <a:t>Afhænger af regler</a:t>
            </a:r>
          </a:p>
          <a:p>
            <a:r>
              <a:t>Begrænset fleksibilitet</a:t>
            </a:r>
          </a:p>
        </p:txBody>
      </p:sp>
    </p:spTree>
    <p:extLst>
      <p:ext uri="{BB962C8B-B14F-4D97-AF65-F5344CB8AC3E}">
        <p14:creationId xmlns:p14="http://schemas.microsoft.com/office/powerpoint/2010/main" val="1547889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1970–80’erne – AI Winters &amp; Expert Systems</a:t>
            </a:r>
          </a:p>
        </p:txBody>
      </p:sp>
      <p:sp>
        <p:nvSpPr>
          <p:cNvPr id="3" name="Content Placeholder 2"/>
          <p:cNvSpPr>
            <a:spLocks noGrp="1"/>
          </p:cNvSpPr>
          <p:nvPr>
            <p:ph idx="1"/>
          </p:nvPr>
        </p:nvSpPr>
        <p:spPr/>
        <p:txBody>
          <a:bodyPr/>
          <a:lstStyle/>
          <a:p>
            <a:r>
              <a:t>Expert systems</a:t>
            </a:r>
          </a:p>
          <a:p>
            <a:r>
              <a:t>MYCIN</a:t>
            </a:r>
          </a:p>
          <a:p>
            <a:r>
              <a:t>AI Winter</a:t>
            </a:r>
          </a:p>
        </p:txBody>
      </p:sp>
    </p:spTree>
    <p:extLst>
      <p:ext uri="{BB962C8B-B14F-4D97-AF65-F5344CB8AC3E}">
        <p14:creationId xmlns:p14="http://schemas.microsoft.com/office/powerpoint/2010/main" val="18337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Proposed Algorithms"/>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13060" y="1369220"/>
            <a:ext cx="2224586" cy="34207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t>Eksempel: Banker i 1980’erne</a:t>
            </a:r>
          </a:p>
        </p:txBody>
      </p:sp>
      <p:sp>
        <p:nvSpPr>
          <p:cNvPr id="3" name="Content Placeholder 2"/>
          <p:cNvSpPr>
            <a:spLocks noGrp="1"/>
          </p:cNvSpPr>
          <p:nvPr>
            <p:ph idx="1"/>
          </p:nvPr>
        </p:nvSpPr>
        <p:spPr/>
        <p:txBody>
          <a:bodyPr/>
          <a:lstStyle/>
          <a:p>
            <a:r>
              <a:t>Kreditvurdering</a:t>
            </a:r>
          </a:p>
          <a:p>
            <a:r>
              <a:t>Regelbaseret</a:t>
            </a:r>
          </a:p>
          <a:p>
            <a:r>
              <a:t>Manglende tilpasning</a:t>
            </a:r>
          </a:p>
        </p:txBody>
      </p:sp>
    </p:spTree>
    <p:extLst>
      <p:ext uri="{BB962C8B-B14F-4D97-AF65-F5344CB8AC3E}">
        <p14:creationId xmlns:p14="http://schemas.microsoft.com/office/powerpoint/2010/main" val="3938036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1990–2000 – Machine Learning</a:t>
            </a:r>
          </a:p>
        </p:txBody>
      </p:sp>
      <p:sp>
        <p:nvSpPr>
          <p:cNvPr id="3" name="Content Placeholder 2"/>
          <p:cNvSpPr>
            <a:spLocks noGrp="1"/>
          </p:cNvSpPr>
          <p:nvPr>
            <p:ph idx="1"/>
          </p:nvPr>
        </p:nvSpPr>
        <p:spPr/>
        <p:txBody>
          <a:bodyPr/>
          <a:lstStyle/>
          <a:p>
            <a:r>
              <a:t>Fra regler → data</a:t>
            </a:r>
          </a:p>
          <a:p>
            <a:r>
              <a:t>Lærer fra data</a:t>
            </a:r>
          </a:p>
          <a:p>
            <a:r>
              <a:t>Mønstergenkendelse</a:t>
            </a:r>
          </a:p>
        </p:txBody>
      </p:sp>
      <p:pic>
        <p:nvPicPr>
          <p:cNvPr id="6146" name="Picture 2" descr="artificial intelligence machine learning big data concept"/>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76078" y="1088845"/>
            <a:ext cx="5039272" cy="3260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729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Neurale netværk</a:t>
            </a:r>
          </a:p>
        </p:txBody>
      </p:sp>
      <p:sp>
        <p:nvSpPr>
          <p:cNvPr id="3" name="Content Placeholder 2"/>
          <p:cNvSpPr>
            <a:spLocks noGrp="1"/>
          </p:cNvSpPr>
          <p:nvPr>
            <p:ph idx="1"/>
          </p:nvPr>
        </p:nvSpPr>
        <p:spPr/>
        <p:txBody>
          <a:bodyPr/>
          <a:lstStyle/>
          <a:p>
            <a:r>
              <a:t>Inspireret af hjernen</a:t>
            </a:r>
          </a:p>
          <a:p>
            <a:r>
              <a:t>Fleksible modeller</a:t>
            </a:r>
          </a:p>
          <a:p>
            <a:r>
              <a:t>Bedre performance</a:t>
            </a:r>
          </a:p>
        </p:txBody>
      </p:sp>
      <p:pic>
        <p:nvPicPr>
          <p:cNvPr id="7170" name="Picture 2" descr="Neural network connections. neurons with electrical pulses"/>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37793" y="1017725"/>
            <a:ext cx="4999342" cy="3214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501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Eksempel: Google Translate (2006)</a:t>
            </a:r>
          </a:p>
        </p:txBody>
      </p:sp>
      <p:sp>
        <p:nvSpPr>
          <p:cNvPr id="3" name="Content Placeholder 2"/>
          <p:cNvSpPr>
            <a:spLocks noGrp="1"/>
          </p:cNvSpPr>
          <p:nvPr>
            <p:ph idx="1"/>
          </p:nvPr>
        </p:nvSpPr>
        <p:spPr>
          <a:xfrm>
            <a:off x="628650" y="1369220"/>
            <a:ext cx="2721219" cy="1259680"/>
          </a:xfrm>
        </p:spPr>
        <p:txBody>
          <a:bodyPr/>
          <a:lstStyle/>
          <a:p>
            <a:r>
              <a:rPr dirty="0"/>
              <a:t>SMT → NMT</a:t>
            </a:r>
          </a:p>
          <a:p>
            <a:r>
              <a:rPr dirty="0" err="1"/>
              <a:t>Lærer</a:t>
            </a:r>
            <a:r>
              <a:rPr dirty="0"/>
              <a:t> </a:t>
            </a:r>
            <a:r>
              <a:rPr dirty="0" err="1"/>
              <a:t>fra</a:t>
            </a:r>
            <a:r>
              <a:rPr dirty="0"/>
              <a:t> data</a:t>
            </a:r>
          </a:p>
          <a:p>
            <a:r>
              <a:rPr dirty="0" err="1"/>
              <a:t>Forstår</a:t>
            </a:r>
            <a:r>
              <a:rPr dirty="0"/>
              <a:t> </a:t>
            </a:r>
            <a:r>
              <a:rPr dirty="0" err="1"/>
              <a:t>kontekst</a:t>
            </a:r>
            <a:endParaRPr dirty="0"/>
          </a:p>
        </p:txBody>
      </p:sp>
      <p:sp>
        <p:nvSpPr>
          <p:cNvPr id="4" name="Content Placeholder 2"/>
          <p:cNvSpPr txBox="1">
            <a:spLocks/>
          </p:cNvSpPr>
          <p:nvPr/>
        </p:nvSpPr>
        <p:spPr>
          <a:xfrm>
            <a:off x="3612173" y="1369219"/>
            <a:ext cx="4617427" cy="17960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dirty="0"/>
              <a:t>SMT – Statistical Machine Translation</a:t>
            </a:r>
          </a:p>
          <a:p>
            <a:pPr lvl="1">
              <a:spcAft>
                <a:spcPts val="1200"/>
              </a:spcAft>
            </a:pPr>
            <a:r>
              <a:rPr lang="en-US" dirty="0" err="1"/>
              <a:t>Statistik</a:t>
            </a:r>
            <a:r>
              <a:rPr lang="en-US" dirty="0"/>
              <a:t> I bidder</a:t>
            </a:r>
          </a:p>
          <a:p>
            <a:r>
              <a:rPr lang="en-US" dirty="0"/>
              <a:t>NMT – Neural Machine Translation</a:t>
            </a:r>
          </a:p>
          <a:p>
            <a:pPr lvl="1"/>
            <a:r>
              <a:rPr lang="en-US" dirty="0" err="1"/>
              <a:t>Neuralt</a:t>
            </a:r>
            <a:r>
              <a:rPr lang="en-US" dirty="0"/>
              <a:t> </a:t>
            </a:r>
            <a:r>
              <a:rPr lang="en-US" dirty="0" err="1"/>
              <a:t>netværk</a:t>
            </a:r>
            <a:r>
              <a:rPr lang="en-US" dirty="0"/>
              <a:t> </a:t>
            </a:r>
            <a:r>
              <a:rPr lang="en-US" dirty="0" err="1"/>
              <a:t>og</a:t>
            </a:r>
            <a:r>
              <a:rPr lang="en-US" dirty="0"/>
              <a:t> “</a:t>
            </a:r>
            <a:r>
              <a:rPr lang="en-US" dirty="0" err="1"/>
              <a:t>helhedsforståelse</a:t>
            </a:r>
            <a:r>
              <a:rPr lang="en-US" dirty="0"/>
              <a:t>”</a:t>
            </a:r>
          </a:p>
        </p:txBody>
      </p:sp>
    </p:spTree>
    <p:extLst>
      <p:ext uri="{BB962C8B-B14F-4D97-AF65-F5344CB8AC3E}">
        <p14:creationId xmlns:p14="http://schemas.microsoft.com/office/powerpoint/2010/main" val="13528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2010–nu – Deep Learning &amp; </a:t>
            </a:r>
            <a:r>
              <a:rPr dirty="0" err="1"/>
              <a:t>Generativ</a:t>
            </a:r>
            <a:r>
              <a:rPr dirty="0"/>
              <a:t> AI</a:t>
            </a:r>
          </a:p>
        </p:txBody>
      </p:sp>
      <p:sp>
        <p:nvSpPr>
          <p:cNvPr id="3" name="Content Placeholder 2"/>
          <p:cNvSpPr>
            <a:spLocks noGrp="1"/>
          </p:cNvSpPr>
          <p:nvPr>
            <p:ph idx="1"/>
          </p:nvPr>
        </p:nvSpPr>
        <p:spPr/>
        <p:txBody>
          <a:bodyPr/>
          <a:lstStyle/>
          <a:p>
            <a:r>
              <a:rPr dirty="0"/>
              <a:t>Deep Learning</a:t>
            </a:r>
          </a:p>
          <a:p>
            <a:r>
              <a:rPr dirty="0" err="1"/>
              <a:t>Genererer</a:t>
            </a:r>
            <a:r>
              <a:rPr dirty="0"/>
              <a:t> </a:t>
            </a:r>
            <a:r>
              <a:rPr dirty="0" err="1"/>
              <a:t>indhold</a:t>
            </a:r>
            <a:endParaRPr dirty="0"/>
          </a:p>
          <a:p>
            <a:r>
              <a:rPr dirty="0" err="1"/>
              <a:t>ChatGPT</a:t>
            </a:r>
            <a:endParaRPr dirty="0"/>
          </a:p>
        </p:txBody>
      </p:sp>
    </p:spTree>
    <p:extLst>
      <p:ext uri="{BB962C8B-B14F-4D97-AF65-F5344CB8AC3E}">
        <p14:creationId xmlns:p14="http://schemas.microsoft.com/office/powerpoint/2010/main" val="2612098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5747CDE5-0717-48E4-9385-7C842E50026E}" type="slidenum">
              <a:rPr lang="da-DK" smtClean="0"/>
              <a:pPr/>
              <a:t>25</a:t>
            </a:fld>
            <a:endParaRPr lang="da-DK" dirty="0"/>
          </a:p>
        </p:txBody>
      </p:sp>
      <p:sp>
        <p:nvSpPr>
          <p:cNvPr id="5" name="Title 1"/>
          <p:cNvSpPr txBox="1">
            <a:spLocks/>
          </p:cNvSpPr>
          <p:nvPr/>
        </p:nvSpPr>
        <p:spPr>
          <a:xfrm>
            <a:off x="464100" y="59742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sv-SE" dirty="0" err="1"/>
              <a:t>Overlik</a:t>
            </a:r>
            <a:r>
              <a:rPr lang="sv-SE" dirty="0"/>
              <a:t> </a:t>
            </a:r>
            <a:r>
              <a:rPr lang="sv-SE" dirty="0" err="1"/>
              <a:t>og</a:t>
            </a:r>
            <a:r>
              <a:rPr lang="sv-SE" dirty="0"/>
              <a:t> </a:t>
            </a:r>
            <a:r>
              <a:rPr lang="sv-SE" dirty="0" err="1"/>
              <a:t>opsummering</a:t>
            </a:r>
            <a:endParaRPr lang="sv-SE" dirty="0"/>
          </a:p>
        </p:txBody>
      </p:sp>
      <p:sp>
        <p:nvSpPr>
          <p:cNvPr id="6" name="Content Placeholder 2"/>
          <p:cNvSpPr>
            <a:spLocks noGrp="1"/>
          </p:cNvSpPr>
          <p:nvPr>
            <p:ph idx="1"/>
          </p:nvPr>
        </p:nvSpPr>
        <p:spPr>
          <a:xfrm>
            <a:off x="665720" y="1170125"/>
            <a:ext cx="7886700" cy="2979896"/>
          </a:xfrm>
        </p:spPr>
        <p:txBody>
          <a:bodyPr/>
          <a:lstStyle/>
          <a:p>
            <a:r>
              <a:rPr lang="en-US" sz="2000" dirty="0"/>
              <a:t>1. Generation:</a:t>
            </a:r>
          </a:p>
          <a:p>
            <a:pPr lvl="1"/>
            <a:r>
              <a:rPr lang="en-US" sz="1600" dirty="0" err="1"/>
              <a:t>Regelbaseret</a:t>
            </a:r>
            <a:r>
              <a:rPr lang="en-US" sz="1600" dirty="0"/>
              <a:t> </a:t>
            </a:r>
            <a:r>
              <a:rPr lang="en-US" sz="1600" dirty="0" err="1"/>
              <a:t>systemer</a:t>
            </a:r>
            <a:r>
              <a:rPr lang="en-US" sz="1600" dirty="0"/>
              <a:t> </a:t>
            </a:r>
            <a:r>
              <a:rPr lang="en-US" sz="1600" dirty="0" err="1"/>
              <a:t>og</a:t>
            </a:r>
            <a:r>
              <a:rPr lang="en-US" sz="1600" dirty="0"/>
              <a:t> </a:t>
            </a:r>
            <a:r>
              <a:rPr lang="en-US" sz="1600" dirty="0" err="1"/>
              <a:t>ekspertsystemer</a:t>
            </a:r>
            <a:endParaRPr lang="en-US" sz="1600" dirty="0"/>
          </a:p>
          <a:p>
            <a:pPr marL="596900" lvl="1" indent="0">
              <a:buNone/>
            </a:pPr>
            <a:endParaRPr sz="300" dirty="0"/>
          </a:p>
          <a:p>
            <a:r>
              <a:rPr lang="en-US" sz="2000" dirty="0"/>
              <a:t>2. Generation:</a:t>
            </a:r>
          </a:p>
          <a:p>
            <a:pPr lvl="1"/>
            <a:r>
              <a:rPr lang="en-US" sz="1600" dirty="0" err="1"/>
              <a:t>Maskinlæring</a:t>
            </a:r>
            <a:r>
              <a:rPr lang="en-US" sz="1600" dirty="0"/>
              <a:t> </a:t>
            </a:r>
            <a:r>
              <a:rPr lang="en-US" sz="1600" dirty="0" err="1"/>
              <a:t>og</a:t>
            </a:r>
            <a:r>
              <a:rPr lang="en-US" sz="1600" dirty="0"/>
              <a:t> </a:t>
            </a:r>
            <a:r>
              <a:rPr lang="en-US" sz="1600" dirty="0" err="1"/>
              <a:t>mønstergenkendelse</a:t>
            </a:r>
            <a:endParaRPr lang="en-US" sz="1600" dirty="0"/>
          </a:p>
          <a:p>
            <a:pPr marL="596900" lvl="1" indent="0">
              <a:buNone/>
            </a:pPr>
            <a:endParaRPr sz="300" dirty="0"/>
          </a:p>
          <a:p>
            <a:r>
              <a:rPr lang="en-US" sz="2000" dirty="0"/>
              <a:t>3. Generation:</a:t>
            </a:r>
          </a:p>
          <a:p>
            <a:pPr lvl="1"/>
            <a:r>
              <a:rPr lang="en-US" sz="1600" dirty="0" err="1"/>
              <a:t>Dyb</a:t>
            </a:r>
            <a:r>
              <a:rPr lang="en-US" sz="1600" dirty="0"/>
              <a:t> </a:t>
            </a:r>
            <a:r>
              <a:rPr lang="en-US" sz="1600" dirty="0" err="1"/>
              <a:t>læring</a:t>
            </a:r>
            <a:r>
              <a:rPr lang="en-US" sz="1600" dirty="0"/>
              <a:t>, </a:t>
            </a:r>
            <a:r>
              <a:rPr lang="en-US" sz="1600" dirty="0" err="1"/>
              <a:t>neurale</a:t>
            </a:r>
            <a:r>
              <a:rPr lang="en-US" sz="1600" dirty="0"/>
              <a:t> </a:t>
            </a:r>
            <a:r>
              <a:rPr lang="en-US" sz="1600" dirty="0" err="1"/>
              <a:t>netværk</a:t>
            </a:r>
            <a:r>
              <a:rPr lang="en-US" sz="1600" dirty="0"/>
              <a:t> </a:t>
            </a:r>
            <a:r>
              <a:rPr lang="en-US" sz="1600" dirty="0" err="1"/>
              <a:t>og</a:t>
            </a:r>
            <a:r>
              <a:rPr lang="en-US" sz="1600" dirty="0"/>
              <a:t> </a:t>
            </a:r>
            <a:r>
              <a:rPr lang="en-US" sz="1600" dirty="0" err="1"/>
              <a:t>selvlærende</a:t>
            </a:r>
            <a:r>
              <a:rPr lang="en-US" sz="1600" dirty="0"/>
              <a:t> </a:t>
            </a:r>
            <a:r>
              <a:rPr lang="en-US" sz="1600" dirty="0" err="1"/>
              <a:t>systemer</a:t>
            </a:r>
            <a:endParaRPr sz="1600" dirty="0"/>
          </a:p>
        </p:txBody>
      </p:sp>
    </p:spTree>
    <p:extLst>
      <p:ext uri="{BB962C8B-B14F-4D97-AF65-F5344CB8AC3E}">
        <p14:creationId xmlns:p14="http://schemas.microsoft.com/office/powerpoint/2010/main" val="3038449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5747CDE5-0717-48E4-9385-7C842E50026E}" type="slidenum">
              <a:rPr lang="da-DK" smtClean="0"/>
              <a:pPr/>
              <a:t>26</a:t>
            </a:fld>
            <a:endParaRPr lang="da-DK" dirty="0"/>
          </a:p>
        </p:txBody>
      </p:sp>
      <p:pic>
        <p:nvPicPr>
          <p:cNvPr id="5" name="Billed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4375" y="0"/>
            <a:ext cx="7715250" cy="5143500"/>
          </a:xfrm>
          <a:prstGeom prst="rect">
            <a:avLst/>
          </a:prstGeom>
        </p:spPr>
      </p:pic>
      <p:pic>
        <p:nvPicPr>
          <p:cNvPr id="6"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
        <p:nvSpPr>
          <p:cNvPr id="7" name="Titel 6"/>
          <p:cNvSpPr>
            <a:spLocks noGrp="1"/>
          </p:cNvSpPr>
          <p:nvPr>
            <p:ph type="title"/>
          </p:nvPr>
        </p:nvSpPr>
        <p:spPr>
          <a:xfrm>
            <a:off x="6568804" y="3340545"/>
            <a:ext cx="1860821" cy="250380"/>
          </a:xfrm>
        </p:spPr>
        <p:txBody>
          <a:bodyPr/>
          <a:lstStyle/>
          <a:p>
            <a:r>
              <a:rPr lang="en-US" sz="1100" b="1" i="1" dirty="0">
                <a:solidFill>
                  <a:schemeClr val="bg1"/>
                </a:solidFill>
              </a:rPr>
              <a:t>Odsgaard, S. (2026)</a:t>
            </a:r>
          </a:p>
        </p:txBody>
      </p:sp>
    </p:spTree>
    <p:extLst>
      <p:ext uri="{BB962C8B-B14F-4D97-AF65-F5344CB8AC3E}">
        <p14:creationId xmlns:p14="http://schemas.microsoft.com/office/powerpoint/2010/main" val="1906752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400" y="702846"/>
            <a:ext cx="8520600" cy="572700"/>
          </a:xfrm>
        </p:spPr>
        <p:txBody>
          <a:bodyPr/>
          <a:lstStyle/>
          <a:p>
            <a:r>
              <a:rPr lang="en-US" dirty="0" err="1"/>
              <a:t>Hvad</a:t>
            </a:r>
            <a:r>
              <a:rPr lang="en-US" dirty="0"/>
              <a:t> </a:t>
            </a:r>
            <a:r>
              <a:rPr lang="en-US" dirty="0" err="1"/>
              <a:t>må</a:t>
            </a:r>
            <a:r>
              <a:rPr lang="en-US" dirty="0"/>
              <a:t> man </a:t>
            </a:r>
            <a:r>
              <a:rPr lang="en-US" dirty="0" err="1"/>
              <a:t>lægge</a:t>
            </a:r>
            <a:r>
              <a:rPr lang="en-US" dirty="0"/>
              <a:t> op?</a:t>
            </a:r>
            <a:br>
              <a:rPr lang="en-US" dirty="0"/>
            </a:br>
            <a:r>
              <a:rPr lang="en-US" dirty="0"/>
              <a:t>- En god </a:t>
            </a:r>
            <a:r>
              <a:rPr lang="en-US" dirty="0" err="1"/>
              <a:t>tommelfinger</a:t>
            </a:r>
            <a:r>
              <a:rPr lang="en-US" dirty="0"/>
              <a:t> regel</a:t>
            </a:r>
          </a:p>
        </p:txBody>
      </p:sp>
      <p:sp>
        <p:nvSpPr>
          <p:cNvPr id="3" name="Pladsholder til indhold 2"/>
          <p:cNvSpPr>
            <a:spLocks noGrp="1"/>
          </p:cNvSpPr>
          <p:nvPr>
            <p:ph idx="1"/>
          </p:nvPr>
        </p:nvSpPr>
        <p:spPr>
          <a:xfrm>
            <a:off x="628650" y="1890596"/>
            <a:ext cx="7886700" cy="2979896"/>
          </a:xfrm>
        </p:spPr>
        <p:txBody>
          <a:bodyPr/>
          <a:lstStyle/>
          <a:p>
            <a:r>
              <a:rPr lang="da-DK" dirty="0"/>
              <a:t>Du har selv ansvar for, at information er korrekt </a:t>
            </a:r>
          </a:p>
          <a:p>
            <a:r>
              <a:rPr lang="da-DK" dirty="0"/>
              <a:t>Del kun data, der tåler offentlighed </a:t>
            </a:r>
          </a:p>
          <a:p>
            <a:r>
              <a:rPr lang="da-DK" dirty="0"/>
              <a:t>Del aldrig fortrolig, klassificeret eller personfølsom information </a:t>
            </a:r>
          </a:p>
          <a:p>
            <a:r>
              <a:rPr lang="da-DK" dirty="0"/>
              <a:t>Tænk: </a:t>
            </a:r>
            <a:r>
              <a:rPr lang="da-DK" i="1" dirty="0"/>
              <a:t>“Ville jeg lægge det her på en offentlig hjemmeside?”</a:t>
            </a:r>
            <a:endParaRPr lang="da-DK" dirty="0"/>
          </a:p>
          <a:p>
            <a:endParaRPr lang="en-US" dirty="0"/>
          </a:p>
        </p:txBody>
      </p:sp>
      <p:sp>
        <p:nvSpPr>
          <p:cNvPr id="4" name="Pladsholder til slidenummer 3"/>
          <p:cNvSpPr>
            <a:spLocks noGrp="1"/>
          </p:cNvSpPr>
          <p:nvPr>
            <p:ph type="sldNum" sz="quarter" idx="11"/>
          </p:nvPr>
        </p:nvSpPr>
        <p:spPr/>
        <p:txBody>
          <a:bodyPr/>
          <a:lstStyle/>
          <a:p>
            <a:fld id="{5747CDE5-0717-48E4-9385-7C842E50026E}" type="slidenum">
              <a:rPr lang="da-DK" smtClean="0"/>
              <a:pPr/>
              <a:t>27</a:t>
            </a:fld>
            <a:endParaRPr lang="da-DK" dirty="0"/>
          </a:p>
        </p:txBody>
      </p:sp>
      <p:pic>
        <p:nvPicPr>
          <p:cNvPr id="6"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872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a:t>
            </a:r>
            <a:r>
              <a:rPr lang="da-DK" dirty="0" err="1"/>
              <a:t>Turing</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Gå sammen 2 og 2</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Få AI til at lave 10 spørgsmål</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Besvar selv 5 spørgsmål</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Lad AI besvare de andre 5</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Bland alle 10 svar i vilkårlig rækkefølge</a:t>
            </a:r>
          </a:p>
          <a:p>
            <a:pPr>
              <a:buFont typeface="+mj-lt"/>
              <a:buAutoNum type="arabicPeriod"/>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1</a:t>
            </a:r>
          </a:p>
        </p:txBody>
      </p:sp>
    </p:spTree>
    <p:extLst>
      <p:ext uri="{BB962C8B-B14F-4D97-AF65-F5344CB8AC3E}">
        <p14:creationId xmlns:p14="http://schemas.microsoft.com/office/powerpoint/2010/main" val="65462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DE5E0-A2B9-7ACB-47C8-84CFC9D9B0E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499776B-C97F-E1E8-022A-85F9C6DCD271}"/>
              </a:ext>
            </a:extLst>
          </p:cNvPr>
          <p:cNvSpPr>
            <a:spLocks noGrp="1"/>
          </p:cNvSpPr>
          <p:nvPr>
            <p:ph type="ctrTitle"/>
          </p:nvPr>
        </p:nvSpPr>
        <p:spPr>
          <a:xfrm>
            <a:off x="1180671" y="1661591"/>
            <a:ext cx="6829800" cy="910159"/>
          </a:xfrm>
        </p:spPr>
        <p:txBody>
          <a:bodyPr/>
          <a:lstStyle/>
          <a:p>
            <a:r>
              <a:rPr lang="da-DK" dirty="0"/>
              <a:t>Øvelse: </a:t>
            </a:r>
            <a:r>
              <a:rPr lang="da-DK" dirty="0" err="1"/>
              <a:t>Turing</a:t>
            </a:r>
            <a:br>
              <a:rPr lang="da-DK" dirty="0"/>
            </a:br>
            <a:br>
              <a:rPr lang="da-DK" dirty="0"/>
            </a:br>
            <a:endParaRPr lang="da-DK" dirty="0"/>
          </a:p>
        </p:txBody>
      </p:sp>
      <p:sp>
        <p:nvSpPr>
          <p:cNvPr id="6" name="Pladsholder til indhold 2">
            <a:extLst>
              <a:ext uri="{FF2B5EF4-FFF2-40B4-BE49-F238E27FC236}">
                <a16:creationId xmlns:a16="http://schemas.microsoft.com/office/drawing/2014/main" id="{E7605BFC-AEED-F4B9-9698-51727AB65E6A}"/>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Gå sammen med en anden gruppe</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Gruppe 1 læser deres første spørgsmål + svar op</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Gruppe 2 gætter: </a:t>
            </a:r>
            <a:r>
              <a:rPr lang="da-DK" altLang="da-DK" i="1" dirty="0">
                <a:solidFill>
                  <a:srgbClr val="00454E"/>
                </a:solidFill>
                <a:latin typeface="Arial" panose="020B0604020202020204" pitchFamily="34" charset="0"/>
              </a:rPr>
              <a:t>Er svaret fra menneske eller AI</a:t>
            </a:r>
            <a:endParaRPr lang="da-DK" altLang="da-DK" dirty="0">
              <a:solidFill>
                <a:srgbClr val="00454E"/>
              </a:solidFill>
              <a:latin typeface="Arial" panose="020B0604020202020204" pitchFamily="34" charset="0"/>
            </a:endParaRP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Gruppe 1 noterer rigtigt/forkert</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Fortsæt gennem alle spørgsmål</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Byt roller og gentag</a:t>
            </a:r>
          </a:p>
        </p:txBody>
      </p:sp>
      <p:sp>
        <p:nvSpPr>
          <p:cNvPr id="7" name="Rectangle 3">
            <a:extLst>
              <a:ext uri="{FF2B5EF4-FFF2-40B4-BE49-F238E27FC236}">
                <a16:creationId xmlns:a16="http://schemas.microsoft.com/office/drawing/2014/main" id="{1572AB46-A7D8-6514-012D-5F616495418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497412D8-9F89-21C6-F587-5120278D8A73}"/>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2</a:t>
            </a:r>
          </a:p>
        </p:txBody>
      </p:sp>
    </p:spTree>
    <p:extLst>
      <p:ext uri="{BB962C8B-B14F-4D97-AF65-F5344CB8AC3E}">
        <p14:creationId xmlns:p14="http://schemas.microsoft.com/office/powerpoint/2010/main" val="3407308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77EF5-59EE-75C7-4D04-A23F358E4D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CD7D15-D2E6-69C3-9DCF-01ADDA3E8FBB}"/>
              </a:ext>
            </a:extLst>
          </p:cNvPr>
          <p:cNvSpPr>
            <a:spLocks noGrp="1"/>
          </p:cNvSpPr>
          <p:nvPr>
            <p:ph type="ctrTitle"/>
          </p:nvPr>
        </p:nvSpPr>
        <p:spPr>
          <a:xfrm>
            <a:off x="1180671" y="1661591"/>
            <a:ext cx="6829800" cy="910159"/>
          </a:xfrm>
        </p:spPr>
        <p:txBody>
          <a:bodyPr/>
          <a:lstStyle/>
          <a:p>
            <a:r>
              <a:rPr lang="da-DK" dirty="0"/>
              <a:t>Øvelse: </a:t>
            </a:r>
            <a:r>
              <a:rPr lang="da-DK" dirty="0" err="1"/>
              <a:t>Turing</a:t>
            </a:r>
            <a:br>
              <a:rPr lang="da-DK" dirty="0"/>
            </a:br>
            <a:br>
              <a:rPr lang="da-DK" dirty="0"/>
            </a:br>
            <a:endParaRPr lang="da-DK" dirty="0"/>
          </a:p>
        </p:txBody>
      </p:sp>
      <p:sp>
        <p:nvSpPr>
          <p:cNvPr id="6" name="Pladsholder til indhold 2">
            <a:extLst>
              <a:ext uri="{FF2B5EF4-FFF2-40B4-BE49-F238E27FC236}">
                <a16:creationId xmlns:a16="http://schemas.microsoft.com/office/drawing/2014/main" id="{18F16422-BB3F-3508-DCC4-CC5608AF4E30}"/>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dirty="0">
                <a:solidFill>
                  <a:srgbClr val="00454E"/>
                </a:solidFill>
              </a:rPr>
              <a:t>Opsamling: Hvad skete der?</a:t>
            </a:r>
          </a:p>
          <a:p>
            <a:r>
              <a:rPr lang="da-DK" dirty="0">
                <a:solidFill>
                  <a:srgbClr val="00454E"/>
                </a:solidFill>
              </a:rPr>
              <a:t>Hvad lagde I mærke til?</a:t>
            </a:r>
          </a:p>
          <a:p>
            <a:endParaRPr lang="da-DK" b="1" dirty="0">
              <a:solidFill>
                <a:srgbClr val="00454E"/>
              </a:solidFill>
            </a:endParaRPr>
          </a:p>
          <a:p>
            <a:r>
              <a:rPr lang="da-DK" b="1" dirty="0">
                <a:solidFill>
                  <a:srgbClr val="00454E"/>
                </a:solidFill>
              </a:rPr>
              <a:t>Refleksionsspørgsmål:</a:t>
            </a:r>
            <a:endParaRPr lang="da-DK" dirty="0">
              <a:solidFill>
                <a:srgbClr val="00454E"/>
              </a:solidFill>
            </a:endParaRPr>
          </a:p>
          <a:p>
            <a:r>
              <a:rPr lang="da-DK" dirty="0">
                <a:solidFill>
                  <a:srgbClr val="00454E"/>
                </a:solidFill>
              </a:rPr>
              <a:t>Hvilke forskelle så I mellem menneske‑ og AI‑svar?</a:t>
            </a:r>
          </a:p>
          <a:p>
            <a:r>
              <a:rPr lang="da-DK" dirty="0">
                <a:solidFill>
                  <a:srgbClr val="00454E"/>
                </a:solidFill>
              </a:rPr>
              <a:t>Hvilke svar virkede mest overbevisende – og hvorfor?</a:t>
            </a:r>
          </a:p>
          <a:p>
            <a:r>
              <a:rPr lang="da-DK" dirty="0">
                <a:solidFill>
                  <a:srgbClr val="00454E"/>
                </a:solidFill>
              </a:rPr>
              <a:t>Var der noget, AI gjorde bedre end jer?</a:t>
            </a:r>
          </a:p>
          <a:p>
            <a:r>
              <a:rPr lang="da-DK" dirty="0">
                <a:solidFill>
                  <a:srgbClr val="00454E"/>
                </a:solidFill>
              </a:rPr>
              <a:t>Var der noget, I gjorde bedre end AI?</a:t>
            </a:r>
          </a:p>
          <a:p>
            <a:pPr marL="0" lvl="0" indent="0" eaLnBrk="0" fontAlgn="base" hangingPunct="0">
              <a:spcBef>
                <a:spcPct val="0"/>
              </a:spcBef>
              <a:spcAft>
                <a:spcPct val="0"/>
              </a:spcAft>
              <a:buClrTx/>
              <a:buSzTx/>
              <a:buFontTx/>
              <a:buChar char="•"/>
            </a:pPr>
            <a:endParaRPr lang="da-DK" altLang="da-DK" dirty="0">
              <a:solidFill>
                <a:srgbClr val="00454E"/>
              </a:solidFill>
              <a:latin typeface="Arial" panose="020B0604020202020204" pitchFamily="34" charset="0"/>
            </a:endParaRPr>
          </a:p>
        </p:txBody>
      </p:sp>
      <p:sp>
        <p:nvSpPr>
          <p:cNvPr id="7" name="Rectangle 3">
            <a:extLst>
              <a:ext uri="{FF2B5EF4-FFF2-40B4-BE49-F238E27FC236}">
                <a16:creationId xmlns:a16="http://schemas.microsoft.com/office/drawing/2014/main" id="{47ED372F-4DED-3FC4-A4FA-9DEB4A9AB71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FFC5EFD2-DE79-CCC4-B942-56FDD7DA0B67}"/>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3</a:t>
            </a:r>
          </a:p>
        </p:txBody>
      </p:sp>
    </p:spTree>
    <p:extLst>
      <p:ext uri="{BB962C8B-B14F-4D97-AF65-F5344CB8AC3E}">
        <p14:creationId xmlns:p14="http://schemas.microsoft.com/office/powerpoint/2010/main" val="1970535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3D58E-47AE-2C6F-7977-0AE4DD5BEA9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33CC71-8F7C-CA19-152D-5E3953C138D1}"/>
              </a:ext>
            </a:extLst>
          </p:cNvPr>
          <p:cNvSpPr>
            <a:spLocks noGrp="1"/>
          </p:cNvSpPr>
          <p:nvPr>
            <p:ph type="ctrTitle"/>
          </p:nvPr>
        </p:nvSpPr>
        <p:spPr>
          <a:xfrm>
            <a:off x="1180671" y="1661591"/>
            <a:ext cx="6829800" cy="910159"/>
          </a:xfrm>
        </p:spPr>
        <p:txBody>
          <a:bodyPr/>
          <a:lstStyle/>
          <a:p>
            <a:r>
              <a:rPr lang="da-DK" dirty="0"/>
              <a:t>Øvelse: </a:t>
            </a:r>
            <a:r>
              <a:rPr lang="da-DK" dirty="0" err="1"/>
              <a:t>Turing</a:t>
            </a:r>
            <a:br>
              <a:rPr lang="da-DK" dirty="0"/>
            </a:br>
            <a:br>
              <a:rPr lang="da-DK" dirty="0"/>
            </a:br>
            <a:endParaRPr lang="da-DK" dirty="0"/>
          </a:p>
        </p:txBody>
      </p:sp>
      <p:sp>
        <p:nvSpPr>
          <p:cNvPr id="6" name="Pladsholder til indhold 2">
            <a:extLst>
              <a:ext uri="{FF2B5EF4-FFF2-40B4-BE49-F238E27FC236}">
                <a16:creationId xmlns:a16="http://schemas.microsoft.com/office/drawing/2014/main" id="{6BA3C046-98F4-0B0E-ABC0-148F8A2336AC}"/>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Flere refleksionsspørgsmål</a:t>
            </a:r>
          </a:p>
          <a:p>
            <a:r>
              <a:rPr lang="da-DK" dirty="0"/>
              <a:t>Påvirkede AI jeres egne svar?</a:t>
            </a:r>
          </a:p>
          <a:p>
            <a:r>
              <a:rPr lang="da-DK" dirty="0"/>
              <a:t>Påvirkede I </a:t>
            </a:r>
            <a:r>
              <a:rPr lang="da-DK" dirty="0" err="1"/>
              <a:t>AI’s</a:t>
            </a:r>
            <a:r>
              <a:rPr lang="da-DK" dirty="0"/>
              <a:t> svar (fx gennem jeres prompt)?</a:t>
            </a:r>
          </a:p>
          <a:p>
            <a:r>
              <a:rPr lang="da-DK" dirty="0"/>
              <a:t>Gjorde I det bevidst “svært” for den anden gruppe at gætte?</a:t>
            </a:r>
          </a:p>
          <a:p>
            <a:endParaRPr lang="da-DK" dirty="0"/>
          </a:p>
          <a:p>
            <a:pPr marL="0" lvl="0" indent="0" eaLnBrk="0" fontAlgn="base" hangingPunct="0">
              <a:spcBef>
                <a:spcPct val="0"/>
              </a:spcBef>
              <a:spcAft>
                <a:spcPct val="0"/>
              </a:spcAft>
              <a:buClrTx/>
              <a:buSzTx/>
              <a:buFontTx/>
              <a:buChar char="•"/>
            </a:pPr>
            <a:endParaRPr lang="da-DK" altLang="da-DK" dirty="0">
              <a:solidFill>
                <a:schemeClr val="tx1"/>
              </a:solidFill>
              <a:latin typeface="Arial" panose="020B0604020202020204" pitchFamily="34" charset="0"/>
            </a:endParaRPr>
          </a:p>
        </p:txBody>
      </p:sp>
      <p:sp>
        <p:nvSpPr>
          <p:cNvPr id="7" name="Rectangle 3">
            <a:extLst>
              <a:ext uri="{FF2B5EF4-FFF2-40B4-BE49-F238E27FC236}">
                <a16:creationId xmlns:a16="http://schemas.microsoft.com/office/drawing/2014/main" id="{FB1AE3DD-A3A0-3C87-611F-1A8BCAF8516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2214B1FD-6703-A32F-0715-49355DD10DBC}"/>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3</a:t>
            </a:r>
          </a:p>
        </p:txBody>
      </p:sp>
    </p:spTree>
    <p:extLst>
      <p:ext uri="{BB962C8B-B14F-4D97-AF65-F5344CB8AC3E}">
        <p14:creationId xmlns:p14="http://schemas.microsoft.com/office/powerpoint/2010/main" val="2799291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631E57-F55A-042A-3439-6EA61A679456}"/>
              </a:ext>
            </a:extLst>
          </p:cNvPr>
          <p:cNvSpPr>
            <a:spLocks noGrp="1"/>
          </p:cNvSpPr>
          <p:nvPr>
            <p:ph type="title"/>
          </p:nvPr>
        </p:nvSpPr>
        <p:spPr/>
        <p:txBody>
          <a:bodyPr/>
          <a:lstStyle/>
          <a:p>
            <a:r>
              <a:rPr lang="da-DK" dirty="0"/>
              <a:t>Hvad står GPT for</a:t>
            </a:r>
          </a:p>
        </p:txBody>
      </p:sp>
      <p:sp>
        <p:nvSpPr>
          <p:cNvPr id="3" name="Pladsholder til tekst 2">
            <a:extLst>
              <a:ext uri="{FF2B5EF4-FFF2-40B4-BE49-F238E27FC236}">
                <a16:creationId xmlns:a16="http://schemas.microsoft.com/office/drawing/2014/main" id="{56844462-7B7B-9B4E-F4F6-6DD64BEF8500}"/>
              </a:ext>
            </a:extLst>
          </p:cNvPr>
          <p:cNvSpPr>
            <a:spLocks noGrp="1"/>
          </p:cNvSpPr>
          <p:nvPr>
            <p:ph type="body" idx="1"/>
          </p:nvPr>
        </p:nvSpPr>
        <p:spPr>
          <a:xfrm>
            <a:off x="628650" y="1415643"/>
            <a:ext cx="7909246" cy="2893777"/>
          </a:xfrm>
        </p:spPr>
        <p:txBody>
          <a:bodyPr>
            <a:normAutofit fontScale="70000" lnSpcReduction="20000"/>
          </a:bodyPr>
          <a:lstStyle/>
          <a:p>
            <a:r>
              <a:rPr lang="da-DK" sz="2700" b="1" dirty="0"/>
              <a:t>G</a:t>
            </a:r>
            <a:r>
              <a:rPr lang="da-DK" sz="1650" b="1" dirty="0"/>
              <a:t> – Generative</a:t>
            </a:r>
          </a:p>
          <a:p>
            <a:r>
              <a:rPr lang="da-DK" sz="1650" i="1" dirty="0"/>
              <a:t>Betyder at modellen kan </a:t>
            </a:r>
            <a:r>
              <a:rPr lang="da-DK" sz="1650" b="1" i="1" dirty="0"/>
              <a:t>generere nyt indhold</a:t>
            </a:r>
            <a:br>
              <a:rPr lang="da-DK" sz="1650" dirty="0"/>
            </a:br>
            <a:r>
              <a:rPr lang="da-DK" sz="1650" dirty="0"/>
              <a:t>	f.eks. tekst, kode, opsummeringer, svar, historier</a:t>
            </a:r>
          </a:p>
          <a:p>
            <a:r>
              <a:rPr lang="da-DK" sz="2625" b="1" dirty="0"/>
              <a:t>P</a:t>
            </a:r>
            <a:r>
              <a:rPr lang="da-DK" sz="1650" b="1" dirty="0"/>
              <a:t> – </a:t>
            </a:r>
            <a:r>
              <a:rPr lang="da-DK" sz="1650" b="1" dirty="0" err="1"/>
              <a:t>Pre-trained</a:t>
            </a:r>
            <a:endParaRPr lang="da-DK" sz="1650" b="1" dirty="0"/>
          </a:p>
          <a:p>
            <a:r>
              <a:rPr lang="da-DK" sz="1650" i="1" dirty="0"/>
              <a:t>Modellen er </a:t>
            </a:r>
            <a:r>
              <a:rPr lang="da-DK" sz="1650" b="1" i="1" dirty="0" err="1"/>
              <a:t>forudtrænet</a:t>
            </a:r>
            <a:r>
              <a:rPr lang="da-DK" sz="1650" i="1" dirty="0"/>
              <a:t> på store mængder tekst</a:t>
            </a:r>
            <a:br>
              <a:rPr lang="da-DK" sz="1650" dirty="0"/>
            </a:br>
            <a:r>
              <a:rPr lang="da-DK" sz="1650" dirty="0"/>
              <a:t>	bøger, internetsider, artikler, kode osv.</a:t>
            </a:r>
            <a:br>
              <a:rPr lang="da-DK" sz="1650" dirty="0"/>
            </a:br>
            <a:r>
              <a:rPr lang="da-DK" sz="1650" dirty="0"/>
              <a:t>	den lærer sprog, struktur og viden før den bruges af dig</a:t>
            </a:r>
          </a:p>
          <a:p>
            <a:r>
              <a:rPr lang="da-DK" sz="2625" b="1" dirty="0"/>
              <a:t>T</a:t>
            </a:r>
            <a:r>
              <a:rPr lang="da-DK" sz="1650" b="1" dirty="0"/>
              <a:t> – Transformer</a:t>
            </a:r>
          </a:p>
          <a:p>
            <a:r>
              <a:rPr lang="da-DK" sz="1650" i="1" dirty="0"/>
              <a:t>Det er den </a:t>
            </a:r>
            <a:r>
              <a:rPr lang="da-DK" sz="1650" b="1" i="1" dirty="0"/>
              <a:t>AI-arkitektur</a:t>
            </a:r>
            <a:r>
              <a:rPr lang="da-DK" sz="1650" i="1" dirty="0"/>
              <a:t>, modellen bygger på</a:t>
            </a:r>
            <a:br>
              <a:rPr lang="da-DK" sz="1650" dirty="0"/>
            </a:br>
            <a:r>
              <a:rPr lang="da-DK" sz="1650" dirty="0"/>
              <a:t>	transformer-modellen er god til at forstå </a:t>
            </a:r>
            <a:r>
              <a:rPr lang="da-DK" sz="1650" b="1" dirty="0"/>
              <a:t>sammenhæng i tekst</a:t>
            </a:r>
            <a:br>
              <a:rPr lang="da-DK" sz="1650" dirty="0"/>
            </a:br>
            <a:r>
              <a:rPr lang="da-DK" sz="1650" dirty="0"/>
              <a:t>	introduceret af Google i 2017 – grundlaget for moderne sprogmodeller</a:t>
            </a:r>
            <a:br>
              <a:rPr lang="da-DK" sz="1650" dirty="0"/>
            </a:br>
            <a:br>
              <a:rPr lang="da-DK" sz="1650" dirty="0"/>
            </a:br>
            <a:r>
              <a:rPr lang="da-DK" dirty="0"/>
              <a:t>GPT = En AI-model der forstår og skaber sprog baseret på store mængder data</a:t>
            </a:r>
            <a:endParaRPr lang="da-DK" sz="1650" dirty="0"/>
          </a:p>
          <a:p>
            <a:endParaRPr lang="da-DK" dirty="0"/>
          </a:p>
        </p:txBody>
      </p:sp>
    </p:spTree>
    <p:extLst>
      <p:ext uri="{BB962C8B-B14F-4D97-AF65-F5344CB8AC3E}">
        <p14:creationId xmlns:p14="http://schemas.microsoft.com/office/powerpoint/2010/main" val="1175217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6B18D-F3A5-D4EE-069E-0D9A8E900AEB}"/>
              </a:ext>
            </a:extLst>
          </p:cNvPr>
          <p:cNvSpPr>
            <a:spLocks noGrp="1"/>
          </p:cNvSpPr>
          <p:nvPr>
            <p:ph type="title"/>
          </p:nvPr>
        </p:nvSpPr>
        <p:spPr>
          <a:xfrm>
            <a:off x="320040" y="0"/>
            <a:ext cx="7886700" cy="460366"/>
          </a:xfrm>
        </p:spPr>
        <p:txBody>
          <a:bodyPr>
            <a:normAutofit fontScale="90000"/>
          </a:bodyPr>
          <a:lstStyle/>
          <a:p>
            <a:r>
              <a:rPr lang="da-DK" dirty="0"/>
              <a:t>Oversigt over de største </a:t>
            </a:r>
            <a:r>
              <a:rPr lang="da-DK" dirty="0" err="1"/>
              <a:t>GPT´er</a:t>
            </a:r>
            <a:endParaRPr lang="da-DK" dirty="0"/>
          </a:p>
        </p:txBody>
      </p:sp>
      <p:graphicFrame>
        <p:nvGraphicFramePr>
          <p:cNvPr id="6" name="Tabel 5">
            <a:extLst>
              <a:ext uri="{FF2B5EF4-FFF2-40B4-BE49-F238E27FC236}">
                <a16:creationId xmlns:a16="http://schemas.microsoft.com/office/drawing/2014/main" id="{DE562675-7168-A5BD-4DCE-0D3215A83609}"/>
              </a:ext>
            </a:extLst>
          </p:cNvPr>
          <p:cNvGraphicFramePr>
            <a:graphicFrameLocks noGrp="1"/>
          </p:cNvGraphicFramePr>
          <p:nvPr/>
        </p:nvGraphicFramePr>
        <p:xfrm>
          <a:off x="63330" y="460366"/>
          <a:ext cx="9017344" cy="4131170"/>
        </p:xfrm>
        <a:graphic>
          <a:graphicData uri="http://schemas.openxmlformats.org/drawingml/2006/table">
            <a:tbl>
              <a:tblPr firstRow="1">
                <a:tableStyleId>{72833802-FEF1-4C79-8D5D-14CF1EAF98D9}</a:tableStyleId>
              </a:tblPr>
              <a:tblGrid>
                <a:gridCol w="1127168">
                  <a:extLst>
                    <a:ext uri="{9D8B030D-6E8A-4147-A177-3AD203B41FA5}">
                      <a16:colId xmlns:a16="http://schemas.microsoft.com/office/drawing/2014/main" val="2502769317"/>
                    </a:ext>
                  </a:extLst>
                </a:gridCol>
                <a:gridCol w="1127168">
                  <a:extLst>
                    <a:ext uri="{9D8B030D-6E8A-4147-A177-3AD203B41FA5}">
                      <a16:colId xmlns:a16="http://schemas.microsoft.com/office/drawing/2014/main" val="2447947606"/>
                    </a:ext>
                  </a:extLst>
                </a:gridCol>
                <a:gridCol w="1127168">
                  <a:extLst>
                    <a:ext uri="{9D8B030D-6E8A-4147-A177-3AD203B41FA5}">
                      <a16:colId xmlns:a16="http://schemas.microsoft.com/office/drawing/2014/main" val="816683401"/>
                    </a:ext>
                  </a:extLst>
                </a:gridCol>
                <a:gridCol w="1127168">
                  <a:extLst>
                    <a:ext uri="{9D8B030D-6E8A-4147-A177-3AD203B41FA5}">
                      <a16:colId xmlns:a16="http://schemas.microsoft.com/office/drawing/2014/main" val="3836491614"/>
                    </a:ext>
                  </a:extLst>
                </a:gridCol>
                <a:gridCol w="1127168">
                  <a:extLst>
                    <a:ext uri="{9D8B030D-6E8A-4147-A177-3AD203B41FA5}">
                      <a16:colId xmlns:a16="http://schemas.microsoft.com/office/drawing/2014/main" val="3343183760"/>
                    </a:ext>
                  </a:extLst>
                </a:gridCol>
                <a:gridCol w="1127168">
                  <a:extLst>
                    <a:ext uri="{9D8B030D-6E8A-4147-A177-3AD203B41FA5}">
                      <a16:colId xmlns:a16="http://schemas.microsoft.com/office/drawing/2014/main" val="4274747009"/>
                    </a:ext>
                  </a:extLst>
                </a:gridCol>
                <a:gridCol w="1127168">
                  <a:extLst>
                    <a:ext uri="{9D8B030D-6E8A-4147-A177-3AD203B41FA5}">
                      <a16:colId xmlns:a16="http://schemas.microsoft.com/office/drawing/2014/main" val="2264270505"/>
                    </a:ext>
                  </a:extLst>
                </a:gridCol>
                <a:gridCol w="1127168">
                  <a:extLst>
                    <a:ext uri="{9D8B030D-6E8A-4147-A177-3AD203B41FA5}">
                      <a16:colId xmlns:a16="http://schemas.microsoft.com/office/drawing/2014/main" val="2166855819"/>
                    </a:ext>
                  </a:extLst>
                </a:gridCol>
              </a:tblGrid>
              <a:tr h="349179">
                <a:tc>
                  <a:txBody>
                    <a:bodyPr/>
                    <a:lstStyle/>
                    <a:p>
                      <a:pPr>
                        <a:buNone/>
                      </a:pPr>
                      <a:r>
                        <a:rPr lang="da-DK" sz="1100" b="1" dirty="0"/>
                        <a:t>Model</a:t>
                      </a:r>
                      <a:endParaRPr lang="da-DK" sz="1100" dirty="0"/>
                    </a:p>
                  </a:txBody>
                  <a:tcPr marL="29138" marR="29138" marT="14570" marB="1457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a:t>Største Model</a:t>
                      </a:r>
                      <a:endParaRPr lang="da-DK" sz="110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Gratis Version</a:t>
                      </a:r>
                      <a:endParaRPr lang="da-DK" sz="11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Betalt Version</a:t>
                      </a:r>
                      <a:endParaRPr lang="da-DK" sz="11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Unik Funktion</a:t>
                      </a:r>
                      <a:endParaRPr lang="da-DK" sz="11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Pris (DKK/måned)</a:t>
                      </a:r>
                      <a:endParaRPr lang="da-DK" sz="11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Studierabat</a:t>
                      </a:r>
                      <a:endParaRPr lang="da-DK" sz="11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da-DK" sz="1100" b="1" dirty="0"/>
                        <a:t>Link</a:t>
                      </a:r>
                      <a:endParaRPr lang="da-DK" sz="1100" dirty="0"/>
                    </a:p>
                  </a:txBody>
                  <a:tcPr marL="29138" marR="29138" marT="14570" marB="1457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7914082"/>
                  </a:ext>
                </a:extLst>
              </a:tr>
              <a:tr h="466215">
                <a:tc>
                  <a:txBody>
                    <a:bodyPr/>
                    <a:lstStyle/>
                    <a:p>
                      <a:pPr>
                        <a:buNone/>
                      </a:pPr>
                      <a:r>
                        <a:rPr lang="da-DK" sz="1100" b="1" dirty="0"/>
                        <a:t>ChatGPT</a:t>
                      </a:r>
                      <a:endParaRPr lang="da-DK" sz="1100"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GPT-4</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GPT-3.5</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GPT-4 med billeder, kode, memory og browsing</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Memory-funktion, plugins, stemmechat</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ca. 140 kr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 Kun midlertidigt i 2025</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a:hlinkClick r:id="rId2"/>
                        </a:rPr>
                        <a:t>chat.openai.com</a:t>
                      </a:r>
                      <a:endParaRPr lang="da-DK" sz="800"/>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1701160"/>
                  </a:ext>
                </a:extLst>
              </a:tr>
              <a:tr h="466215">
                <a:tc>
                  <a:txBody>
                    <a:bodyPr/>
                    <a:lstStyle/>
                    <a:p>
                      <a:pPr>
                        <a:buNone/>
                      </a:pPr>
                      <a:r>
                        <a:rPr lang="da-DK" sz="1100" b="1" dirty="0"/>
                        <a:t>Claude</a:t>
                      </a:r>
                      <a:endParaRPr lang="da-DK" sz="1100"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Claude 3 Opus</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Claude Instant/Sonnet med daglig kvote</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Claude Opus med 200K tokens og store filer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Meget langt kontekstvindue, venlig skrivestil</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ca. 140 kr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 Ikke officielt (men via partnerskaber)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a:hlinkClick r:id="rId3"/>
                        </a:rPr>
                        <a:t>claude.ai</a:t>
                      </a:r>
                      <a:endParaRPr lang="da-DK" sz="800"/>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3499514"/>
                  </a:ext>
                </a:extLst>
              </a:tr>
              <a:tr h="600639">
                <a:tc>
                  <a:txBody>
                    <a:bodyPr/>
                    <a:lstStyle/>
                    <a:p>
                      <a:pPr>
                        <a:buNone/>
                      </a:pPr>
                      <a:r>
                        <a:rPr lang="da-DK" sz="1100" b="1" dirty="0" err="1"/>
                        <a:t>Gemini</a:t>
                      </a:r>
                      <a:endParaRPr lang="da-DK" sz="1100"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err="1"/>
                        <a:t>Gemini</a:t>
                      </a:r>
                      <a:r>
                        <a:rPr lang="da-DK" sz="900" dirty="0"/>
                        <a:t> 2.5 Pro</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err="1"/>
                        <a:t>Gemini</a:t>
                      </a:r>
                      <a:r>
                        <a:rPr lang="da-DK" sz="900" dirty="0"/>
                        <a:t> via Bard (begrænset)</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Gemini Pro med værktøjer + Google Docs m.m.</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Multimodal fra bunden, Google-integration</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ca. 140 kr (inkl. Google One)</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 Ja</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dirty="0">
                          <a:hlinkClick r:id="rId4"/>
                        </a:rPr>
                        <a:t>gemini.google.com</a:t>
                      </a:r>
                      <a:br>
                        <a:rPr lang="da-DK" sz="800" dirty="0"/>
                      </a:br>
                      <a:br>
                        <a:rPr lang="da-DK" sz="800" dirty="0"/>
                      </a:br>
                      <a:r>
                        <a:rPr lang="da-DK" sz="800" dirty="0">
                          <a:hlinkClick r:id="rId5"/>
                        </a:rPr>
                        <a:t>https://gemini.google/dk/students/?hl=da</a:t>
                      </a:r>
                      <a:endParaRPr lang="da-DK" sz="800" dirty="0"/>
                    </a:p>
                    <a:p>
                      <a:pPr>
                        <a:buNone/>
                      </a:pPr>
                      <a:endParaRPr lang="da-DK" sz="800" dirty="0"/>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585682"/>
                  </a:ext>
                </a:extLst>
              </a:tr>
              <a:tr h="553630">
                <a:tc>
                  <a:txBody>
                    <a:bodyPr/>
                    <a:lstStyle/>
                    <a:p>
                      <a:pPr>
                        <a:buNone/>
                      </a:pPr>
                      <a:r>
                        <a:rPr lang="da-DK" sz="1100" b="1" dirty="0" err="1"/>
                        <a:t>Perplexity</a:t>
                      </a:r>
                      <a:endParaRPr lang="da-DK" sz="1100"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GPT-4, Claude, Sonar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Gratis med 5 Pro-søgninger / 4 timer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Ubegrænset GPT-4, Claude, filupload, Copilot</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Live-søgning med kilder, flere modeller i én</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ca. 140 kr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 Ja</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dirty="0">
                          <a:hlinkClick r:id="rId6"/>
                        </a:rPr>
                        <a:t>perplexity.ai</a:t>
                      </a:r>
                      <a:br>
                        <a:rPr lang="da-DK" sz="800" dirty="0"/>
                      </a:br>
                      <a:br>
                        <a:rPr lang="da-DK" sz="800" dirty="0"/>
                      </a:br>
                      <a:r>
                        <a:rPr lang="da-DK" sz="800" dirty="0">
                          <a:hlinkClick r:id="rId7"/>
                        </a:rPr>
                        <a:t>https://www.perplexity.ai/grow/comet/students</a:t>
                      </a:r>
                      <a:r>
                        <a:rPr lang="da-DK" sz="800" dirty="0"/>
                        <a:t> </a:t>
                      </a:r>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6187245"/>
                  </a:ext>
                </a:extLst>
              </a:tr>
              <a:tr h="486339">
                <a:tc>
                  <a:txBody>
                    <a:bodyPr/>
                    <a:lstStyle/>
                    <a:p>
                      <a:pPr>
                        <a:buNone/>
                      </a:pPr>
                      <a:r>
                        <a:rPr lang="da-DK" sz="1100" b="1" dirty="0"/>
                        <a:t>Le Chat</a:t>
                      </a:r>
                      <a:endParaRPr lang="da-DK" sz="1100"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Mistral Medium 3</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Hurtig gratis model</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Flash-svar, større </a:t>
                      </a:r>
                      <a:r>
                        <a:rPr lang="da-DK" sz="900" dirty="0" err="1"/>
                        <a:t>uploads</a:t>
                      </a:r>
                      <a:r>
                        <a:rPr lang="da-DK" sz="900" dirty="0"/>
                        <a:t>, billedværktøjer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a:t>Ekstremt hurtig, privacy (EU), flersproget</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ca. 105 </a:t>
                      </a:r>
                      <a:r>
                        <a:rPr lang="da-DK" sz="900" dirty="0" err="1"/>
                        <a:t>kr</a:t>
                      </a:r>
                      <a:endParaRPr lang="da-DK" sz="900"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dirty="0"/>
                        <a:t>✅ Ja – ca. 47 </a:t>
                      </a:r>
                      <a:r>
                        <a:rPr lang="da-DK" sz="900" dirty="0" err="1"/>
                        <a:t>kr</a:t>
                      </a:r>
                      <a:r>
                        <a:rPr lang="da-DK" sz="900" dirty="0"/>
                        <a:t>/måned</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dirty="0">
                          <a:hlinkClick r:id="rId8"/>
                        </a:rPr>
                        <a:t>chat.mistral.ai</a:t>
                      </a:r>
                      <a:endParaRPr lang="da-DK" sz="800" dirty="0"/>
                    </a:p>
                    <a:p>
                      <a:pPr>
                        <a:buNone/>
                      </a:pPr>
                      <a:endParaRPr lang="da-DK" sz="800" dirty="0"/>
                    </a:p>
                    <a:p>
                      <a:pPr>
                        <a:buNone/>
                      </a:pPr>
                      <a:r>
                        <a:rPr lang="da-DK" sz="800" dirty="0">
                          <a:hlinkClick r:id="rId9"/>
                        </a:rPr>
                        <a:t>https://chat.mistral.ai/upgrade/student</a:t>
                      </a:r>
                      <a:r>
                        <a:rPr lang="da-DK" sz="800" dirty="0"/>
                        <a:t> </a:t>
                      </a:r>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1068477"/>
                  </a:ext>
                </a:extLst>
              </a:tr>
              <a:tr h="553630">
                <a:tc>
                  <a:txBody>
                    <a:bodyPr/>
                    <a:lstStyle/>
                    <a:p>
                      <a:pPr>
                        <a:buNone/>
                      </a:pPr>
                      <a:r>
                        <a:rPr lang="da-DK" sz="1100" b="1" strike="noStrike" dirty="0" err="1"/>
                        <a:t>DeepSeek</a:t>
                      </a:r>
                      <a:endParaRPr lang="da-DK" sz="1100" strike="noStrike" dirty="0"/>
                    </a:p>
                  </a:txBody>
                  <a:tcPr marL="29138" marR="29138" marT="14570" marB="1457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dirty="0" err="1"/>
                        <a:t>DeepSeek</a:t>
                      </a:r>
                      <a:r>
                        <a:rPr lang="da-DK" sz="900" strike="noStrike" dirty="0"/>
                        <a:t> V3.2</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a:t>Gratis webapp og open source</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a:t>Betalt API med meget lave priser</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dirty="0"/>
                        <a:t>Open source, "</a:t>
                      </a:r>
                      <a:r>
                        <a:rPr lang="da-DK" sz="900" strike="noStrike" dirty="0" err="1"/>
                        <a:t>Thinking</a:t>
                      </a:r>
                      <a:r>
                        <a:rPr lang="da-DK" sz="900" strike="noStrike" dirty="0"/>
                        <a:t> Mode", selv-</a:t>
                      </a:r>
                      <a:r>
                        <a:rPr lang="da-DK" sz="900" strike="noStrike" dirty="0" err="1"/>
                        <a:t>hostbar</a:t>
                      </a:r>
                      <a:endParaRPr lang="da-DK" sz="900" strike="noStrike" dirty="0"/>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a:t>Gratis / Lav API-pris</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900" strike="noStrike"/>
                        <a:t>✅ Frit for studerende &amp; forskere</a:t>
                      </a:r>
                    </a:p>
                  </a:txBody>
                  <a:tcPr marL="29138" marR="29138" marT="14570" marB="1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800" strike="noStrike" dirty="0">
                          <a:hlinkClick r:id="rId10"/>
                        </a:rPr>
                        <a:t>deepseek.com</a:t>
                      </a:r>
                      <a:endParaRPr lang="da-DK" sz="800" strike="noStrike" dirty="0"/>
                    </a:p>
                  </a:txBody>
                  <a:tcPr marL="29138" marR="29138" marT="14570" marB="145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3522443"/>
                  </a:ext>
                </a:extLst>
              </a:tr>
              <a:tr h="553630">
                <a:tc>
                  <a:txBody>
                    <a:bodyPr/>
                    <a:lstStyle/>
                    <a:p>
                      <a:pPr>
                        <a:buNone/>
                      </a:pPr>
                      <a:r>
                        <a:rPr lang="da-DK" sz="1100" b="1" dirty="0"/>
                        <a:t>Copilot</a:t>
                      </a:r>
                      <a:br>
                        <a:rPr lang="da-DK" sz="1100" b="1" dirty="0"/>
                      </a:br>
                      <a:r>
                        <a:rPr lang="da-DK" sz="1100" b="1" dirty="0"/>
                        <a:t>(bruger ChatGPT)</a:t>
                      </a:r>
                      <a:endParaRPr lang="da-DK" sz="1100" dirty="0"/>
                    </a:p>
                  </a:txBody>
                  <a:tcPr marL="68580" marR="68580" marT="34290" marB="3429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GPT-4 (</a:t>
                      </a:r>
                      <a:r>
                        <a:rPr lang="da-DK" sz="900" dirty="0" err="1"/>
                        <a:t>Codex</a:t>
                      </a:r>
                      <a:r>
                        <a:rPr lang="da-DK" sz="900" dirty="0"/>
                        <a:t>/GPT-3.5)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begrænset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Microsoft Copilot i Word/Excel + VS Code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Integreret i Office, autokode i editor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ca. 75–140 </a:t>
                      </a:r>
                      <a:r>
                        <a:rPr lang="da-DK" sz="900" dirty="0" err="1"/>
                        <a:t>kr</a:t>
                      </a:r>
                      <a:r>
                        <a:rPr lang="da-DK" sz="900" dirty="0"/>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900" dirty="0"/>
                        <a:t>✅ Ja – gratis via </a:t>
                      </a:r>
                      <a:r>
                        <a:rPr lang="da-DK" sz="900" dirty="0" err="1"/>
                        <a:t>office</a:t>
                      </a:r>
                      <a:endParaRPr lang="da-DK" sz="9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da-DK" sz="800" dirty="0">
                          <a:hlinkClick r:id="rId11"/>
                        </a:rPr>
                        <a:t>https://copilot.microsoft.com/</a:t>
                      </a:r>
                      <a:r>
                        <a:rPr lang="da-DK" sz="800" dirty="0"/>
                        <a:t> </a:t>
                      </a:r>
                    </a:p>
                  </a:txBody>
                  <a:tcPr marL="68580" marR="68580" marT="34290" marB="3429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94572623"/>
                  </a:ext>
                </a:extLst>
              </a:tr>
            </a:tbl>
          </a:graphicData>
        </a:graphic>
      </p:graphicFrame>
    </p:spTree>
    <p:extLst>
      <p:ext uri="{BB962C8B-B14F-4D97-AF65-F5344CB8AC3E}">
        <p14:creationId xmlns:p14="http://schemas.microsoft.com/office/powerpoint/2010/main" val="2609536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6082AC-1FE9-12E5-8CBE-45F066A0381F}"/>
              </a:ext>
            </a:extLst>
          </p:cNvPr>
          <p:cNvSpPr>
            <a:spLocks noGrp="1"/>
          </p:cNvSpPr>
          <p:nvPr>
            <p:ph type="title"/>
          </p:nvPr>
        </p:nvSpPr>
        <p:spPr>
          <a:xfrm>
            <a:off x="628650" y="190436"/>
            <a:ext cx="7886700" cy="467562"/>
          </a:xfrm>
        </p:spPr>
        <p:txBody>
          <a:bodyPr>
            <a:normAutofit fontScale="90000"/>
          </a:bodyPr>
          <a:lstStyle/>
          <a:p>
            <a:r>
              <a:rPr lang="da-DK" dirty="0"/>
              <a:t>Hvilken GPT-model passer bedst til dit behov</a:t>
            </a:r>
          </a:p>
        </p:txBody>
      </p:sp>
      <p:graphicFrame>
        <p:nvGraphicFramePr>
          <p:cNvPr id="4" name="Tabel 3">
            <a:extLst>
              <a:ext uri="{FF2B5EF4-FFF2-40B4-BE49-F238E27FC236}">
                <a16:creationId xmlns:a16="http://schemas.microsoft.com/office/drawing/2014/main" id="{F0D575E2-A321-43A4-69A9-BAB40D072037}"/>
              </a:ext>
            </a:extLst>
          </p:cNvPr>
          <p:cNvGraphicFramePr>
            <a:graphicFrameLocks noGrp="1"/>
          </p:cNvGraphicFramePr>
          <p:nvPr>
            <p:extLst>
              <p:ext uri="{D42A27DB-BD31-4B8C-83A1-F6EECF244321}">
                <p14:modId xmlns:p14="http://schemas.microsoft.com/office/powerpoint/2010/main" val="4200631547"/>
              </p:ext>
            </p:extLst>
          </p:nvPr>
        </p:nvGraphicFramePr>
        <p:xfrm>
          <a:off x="1" y="657999"/>
          <a:ext cx="9143999" cy="4485502"/>
        </p:xfrm>
        <a:graphic>
          <a:graphicData uri="http://schemas.openxmlformats.org/drawingml/2006/table">
            <a:tbl>
              <a:tblPr>
                <a:tableStyleId>{5DA37D80-6434-44D0-A028-1B22A696006F}</a:tableStyleId>
              </a:tblPr>
              <a:tblGrid>
                <a:gridCol w="3048000">
                  <a:extLst>
                    <a:ext uri="{9D8B030D-6E8A-4147-A177-3AD203B41FA5}">
                      <a16:colId xmlns:a16="http://schemas.microsoft.com/office/drawing/2014/main" val="1776283515"/>
                    </a:ext>
                  </a:extLst>
                </a:gridCol>
                <a:gridCol w="1965468">
                  <a:extLst>
                    <a:ext uri="{9D8B030D-6E8A-4147-A177-3AD203B41FA5}">
                      <a16:colId xmlns:a16="http://schemas.microsoft.com/office/drawing/2014/main" val="1022503577"/>
                    </a:ext>
                  </a:extLst>
                </a:gridCol>
                <a:gridCol w="4130531">
                  <a:extLst>
                    <a:ext uri="{9D8B030D-6E8A-4147-A177-3AD203B41FA5}">
                      <a16:colId xmlns:a16="http://schemas.microsoft.com/office/drawing/2014/main" val="926506267"/>
                    </a:ext>
                  </a:extLst>
                </a:gridCol>
              </a:tblGrid>
              <a:tr h="226045">
                <a:tc>
                  <a:txBody>
                    <a:bodyPr/>
                    <a:lstStyle/>
                    <a:p>
                      <a:pPr>
                        <a:buNone/>
                      </a:pPr>
                      <a:r>
                        <a:rPr lang="da-DK" sz="1200" b="1"/>
                        <a:t>Formål</a:t>
                      </a:r>
                      <a:endParaRPr lang="da-DK" sz="1200"/>
                    </a:p>
                  </a:txBody>
                  <a:tcPr marL="38852" marR="38852" marT="19426" marB="19426" anchor="ctr"/>
                </a:tc>
                <a:tc>
                  <a:txBody>
                    <a:bodyPr/>
                    <a:lstStyle/>
                    <a:p>
                      <a:pPr>
                        <a:buNone/>
                      </a:pPr>
                      <a:r>
                        <a:rPr lang="da-DK" sz="1200" b="1"/>
                        <a:t>Bedste valg</a:t>
                      </a:r>
                      <a:endParaRPr lang="da-DK" sz="1200"/>
                    </a:p>
                  </a:txBody>
                  <a:tcPr marL="38852" marR="38852" marT="19426" marB="19426" anchor="ctr"/>
                </a:tc>
                <a:tc>
                  <a:txBody>
                    <a:bodyPr/>
                    <a:lstStyle/>
                    <a:p>
                      <a:pPr>
                        <a:buNone/>
                      </a:pPr>
                      <a:r>
                        <a:rPr lang="da-DK" sz="1200" b="1"/>
                        <a:t>Hvorfor?</a:t>
                      </a:r>
                      <a:endParaRPr lang="da-DK" sz="1200"/>
                    </a:p>
                  </a:txBody>
                  <a:tcPr marL="38852" marR="38852" marT="19426" marB="19426" anchor="ctr"/>
                </a:tc>
                <a:extLst>
                  <a:ext uri="{0D108BD9-81ED-4DB2-BD59-A6C34878D82A}">
                    <a16:rowId xmlns:a16="http://schemas.microsoft.com/office/drawing/2014/main" val="1527137444"/>
                  </a:ext>
                </a:extLst>
              </a:tr>
              <a:tr h="608494">
                <a:tc>
                  <a:txBody>
                    <a:bodyPr/>
                    <a:lstStyle/>
                    <a:p>
                      <a:pPr>
                        <a:buNone/>
                      </a:pPr>
                      <a:r>
                        <a:rPr lang="da-DK" sz="1200" b="1" dirty="0"/>
                        <a:t>Kreativ skrivning</a:t>
                      </a:r>
                      <a:r>
                        <a:rPr lang="da-DK" sz="1200" dirty="0"/>
                        <a:t> (historier, dialog, artikler)</a:t>
                      </a:r>
                    </a:p>
                  </a:txBody>
                  <a:tcPr marL="38852" marR="38852" marT="19426" marB="19426" anchor="ctr"/>
                </a:tc>
                <a:tc>
                  <a:txBody>
                    <a:bodyPr/>
                    <a:lstStyle/>
                    <a:p>
                      <a:pPr>
                        <a:buNone/>
                      </a:pPr>
                      <a:r>
                        <a:rPr lang="da-DK" sz="1200" b="1" dirty="0"/>
                        <a:t>Claude</a:t>
                      </a:r>
                    </a:p>
                    <a:p>
                      <a:pPr>
                        <a:buNone/>
                      </a:pPr>
                      <a:r>
                        <a:rPr lang="da-DK" sz="1200" dirty="0"/>
                        <a:t>Alternativ: ChatGPT</a:t>
                      </a:r>
                    </a:p>
                  </a:txBody>
                  <a:tcPr marL="38852" marR="38852" marT="19426" marB="19426" anchor="ctr"/>
                </a:tc>
                <a:tc>
                  <a:txBody>
                    <a:bodyPr/>
                    <a:lstStyle/>
                    <a:p>
                      <a:pPr>
                        <a:buNone/>
                      </a:pPr>
                      <a:r>
                        <a:rPr lang="da-DK" sz="1200" dirty="0"/>
                        <a:t>Claude er empatisk, har lang kontekst og skriver flydende og menneskeligt. </a:t>
                      </a:r>
                    </a:p>
                    <a:p>
                      <a:pPr>
                        <a:buNone/>
                      </a:pPr>
                      <a:r>
                        <a:rPr lang="da-DK" sz="1200" dirty="0"/>
                        <a:t>ChatGPT er god til struktur og tone.</a:t>
                      </a:r>
                    </a:p>
                  </a:txBody>
                  <a:tcPr marL="38852" marR="38852" marT="19426" marB="19426" anchor="ctr"/>
                </a:tc>
                <a:extLst>
                  <a:ext uri="{0D108BD9-81ED-4DB2-BD59-A6C34878D82A}">
                    <a16:rowId xmlns:a16="http://schemas.microsoft.com/office/drawing/2014/main" val="3114625711"/>
                  </a:ext>
                </a:extLst>
              </a:tr>
              <a:tr h="608494">
                <a:tc>
                  <a:txBody>
                    <a:bodyPr/>
                    <a:lstStyle/>
                    <a:p>
                      <a:pPr>
                        <a:buNone/>
                      </a:pPr>
                      <a:r>
                        <a:rPr lang="da-DK" sz="1200" b="1" dirty="0"/>
                        <a:t>Generel samtale og hjælpsomhed</a:t>
                      </a:r>
                      <a:endParaRPr lang="da-DK" sz="1200" dirty="0"/>
                    </a:p>
                  </a:txBody>
                  <a:tcPr marL="38852" marR="38852" marT="19426" marB="19426" anchor="ctr"/>
                </a:tc>
                <a:tc>
                  <a:txBody>
                    <a:bodyPr/>
                    <a:lstStyle/>
                    <a:p>
                      <a:pPr>
                        <a:buNone/>
                      </a:pPr>
                      <a:r>
                        <a:rPr lang="da-DK" sz="1200" b="1" dirty="0"/>
                        <a:t>ChatGPT</a:t>
                      </a:r>
                    </a:p>
                    <a:p>
                      <a:pPr>
                        <a:buNone/>
                      </a:pPr>
                      <a:r>
                        <a:rPr lang="da-DK" sz="1200" dirty="0"/>
                        <a:t>Alternativ: </a:t>
                      </a:r>
                      <a:r>
                        <a:rPr lang="da-DK" sz="1200" dirty="0" err="1"/>
                        <a:t>Gemini</a:t>
                      </a:r>
                      <a:endParaRPr lang="da-DK" sz="1200" dirty="0"/>
                    </a:p>
                  </a:txBody>
                  <a:tcPr marL="38852" marR="38852" marT="19426" marB="19426" anchor="ctr"/>
                </a:tc>
                <a:tc>
                  <a:txBody>
                    <a:bodyPr/>
                    <a:lstStyle/>
                    <a:p>
                      <a:pPr>
                        <a:buNone/>
                      </a:pPr>
                      <a:r>
                        <a:rPr lang="da-DK" sz="1200" dirty="0"/>
                        <a:t>ChatGPT har bedst “</a:t>
                      </a:r>
                      <a:r>
                        <a:rPr lang="da-DK" sz="1200" dirty="0" err="1"/>
                        <a:t>memory</a:t>
                      </a:r>
                      <a:r>
                        <a:rPr lang="da-DK" sz="1200" dirty="0"/>
                        <a:t>” og gode værktøjer. </a:t>
                      </a:r>
                    </a:p>
                    <a:p>
                      <a:pPr>
                        <a:buNone/>
                      </a:pPr>
                      <a:r>
                        <a:rPr lang="da-DK" sz="1200" dirty="0" err="1"/>
                        <a:t>Gemini</a:t>
                      </a:r>
                      <a:r>
                        <a:rPr lang="da-DK" sz="1200" dirty="0"/>
                        <a:t> for Google-integrerede opgaver.</a:t>
                      </a:r>
                    </a:p>
                  </a:txBody>
                  <a:tcPr marL="38852" marR="38852" marT="19426" marB="19426" anchor="ctr"/>
                </a:tc>
                <a:extLst>
                  <a:ext uri="{0D108BD9-81ED-4DB2-BD59-A6C34878D82A}">
                    <a16:rowId xmlns:a16="http://schemas.microsoft.com/office/drawing/2014/main" val="3809608996"/>
                  </a:ext>
                </a:extLst>
              </a:tr>
              <a:tr h="608494">
                <a:tc>
                  <a:txBody>
                    <a:bodyPr/>
                    <a:lstStyle/>
                    <a:p>
                      <a:pPr>
                        <a:buNone/>
                      </a:pPr>
                      <a:r>
                        <a:rPr lang="da-DK" sz="1200" b="1" dirty="0"/>
                        <a:t>Fakta + web-research</a:t>
                      </a:r>
                      <a:endParaRPr lang="da-DK" sz="1200" dirty="0"/>
                    </a:p>
                  </a:txBody>
                  <a:tcPr marL="38852" marR="38852" marT="19426" marB="19426" anchor="ctr"/>
                </a:tc>
                <a:tc>
                  <a:txBody>
                    <a:bodyPr/>
                    <a:lstStyle/>
                    <a:p>
                      <a:pPr>
                        <a:buNone/>
                      </a:pPr>
                      <a:r>
                        <a:rPr lang="da-DK" sz="1200" b="1" dirty="0" err="1"/>
                        <a:t>Perplexity</a:t>
                      </a:r>
                      <a:endParaRPr lang="da-DK" sz="1200" b="1" dirty="0"/>
                    </a:p>
                    <a:p>
                      <a:pPr>
                        <a:buNone/>
                      </a:pPr>
                      <a:r>
                        <a:rPr lang="da-DK" sz="1200" dirty="0"/>
                        <a:t>Alternativ: </a:t>
                      </a:r>
                      <a:r>
                        <a:rPr lang="da-DK" sz="1200" dirty="0" err="1"/>
                        <a:t>Gemini</a:t>
                      </a:r>
                      <a:endParaRPr lang="da-DK" sz="1200" dirty="0"/>
                    </a:p>
                  </a:txBody>
                  <a:tcPr marL="38852" marR="38852" marT="19426" marB="19426" anchor="ctr"/>
                </a:tc>
                <a:tc>
                  <a:txBody>
                    <a:bodyPr/>
                    <a:lstStyle/>
                    <a:p>
                      <a:pPr>
                        <a:buNone/>
                      </a:pPr>
                      <a:r>
                        <a:rPr lang="da-DK" sz="1200" dirty="0" err="1"/>
                        <a:t>Perplexity</a:t>
                      </a:r>
                      <a:r>
                        <a:rPr lang="da-DK" sz="1200" dirty="0"/>
                        <a:t> søger live og viser kilder. </a:t>
                      </a:r>
                    </a:p>
                    <a:p>
                      <a:pPr>
                        <a:buNone/>
                      </a:pPr>
                      <a:r>
                        <a:rPr lang="da-DK" sz="1200" dirty="0" err="1"/>
                        <a:t>Gemini</a:t>
                      </a:r>
                      <a:r>
                        <a:rPr lang="da-DK" sz="1200" dirty="0"/>
                        <a:t> kan også bruge søgning (via Google) i betalt version.</a:t>
                      </a:r>
                    </a:p>
                  </a:txBody>
                  <a:tcPr marL="38852" marR="38852" marT="19426" marB="19426" anchor="ctr"/>
                </a:tc>
                <a:extLst>
                  <a:ext uri="{0D108BD9-81ED-4DB2-BD59-A6C34878D82A}">
                    <a16:rowId xmlns:a16="http://schemas.microsoft.com/office/drawing/2014/main" val="3721823402"/>
                  </a:ext>
                </a:extLst>
              </a:tr>
              <a:tr h="608494">
                <a:tc>
                  <a:txBody>
                    <a:bodyPr/>
                    <a:lstStyle/>
                    <a:p>
                      <a:pPr>
                        <a:buNone/>
                      </a:pPr>
                      <a:r>
                        <a:rPr lang="da-DK" sz="1200" b="1" dirty="0"/>
                        <a:t>Kodning / programmering</a:t>
                      </a:r>
                      <a:endParaRPr lang="da-DK" sz="1200" dirty="0"/>
                    </a:p>
                  </a:txBody>
                  <a:tcPr marL="38852" marR="38852" marT="19426" marB="19426" anchor="ctr"/>
                </a:tc>
                <a:tc>
                  <a:txBody>
                    <a:bodyPr/>
                    <a:lstStyle/>
                    <a:p>
                      <a:pPr>
                        <a:buNone/>
                      </a:pPr>
                      <a:r>
                        <a:rPr lang="da-DK" sz="1200" b="1" dirty="0"/>
                        <a:t>GitHub Copilot</a:t>
                      </a:r>
                    </a:p>
                    <a:p>
                      <a:pPr>
                        <a:buNone/>
                      </a:pPr>
                      <a:r>
                        <a:rPr lang="da-DK" sz="1200" b="1" dirty="0"/>
                        <a:t>ChatGPT-4</a:t>
                      </a:r>
                      <a:endParaRPr lang="da-DK" sz="1200" dirty="0"/>
                    </a:p>
                  </a:txBody>
                  <a:tcPr marL="38852" marR="38852" marT="19426" marB="19426" anchor="ctr"/>
                </a:tc>
                <a:tc>
                  <a:txBody>
                    <a:bodyPr/>
                    <a:lstStyle/>
                    <a:p>
                      <a:pPr>
                        <a:buNone/>
                      </a:pPr>
                      <a:r>
                        <a:rPr lang="da-DK" sz="1200" dirty="0"/>
                        <a:t>Copilot er bedst i editorer (VS Code). </a:t>
                      </a:r>
                    </a:p>
                    <a:p>
                      <a:pPr>
                        <a:buNone/>
                      </a:pPr>
                      <a:r>
                        <a:rPr lang="da-DK" sz="1200" dirty="0"/>
                        <a:t>ChatGPT kan forklare kode og generere hele løsninger.</a:t>
                      </a:r>
                    </a:p>
                  </a:txBody>
                  <a:tcPr marL="38852" marR="38852" marT="19426" marB="19426" anchor="ctr"/>
                </a:tc>
                <a:extLst>
                  <a:ext uri="{0D108BD9-81ED-4DB2-BD59-A6C34878D82A}">
                    <a16:rowId xmlns:a16="http://schemas.microsoft.com/office/drawing/2014/main" val="3787896133"/>
                  </a:ext>
                </a:extLst>
              </a:tr>
              <a:tr h="608494">
                <a:tc>
                  <a:txBody>
                    <a:bodyPr/>
                    <a:lstStyle/>
                    <a:p>
                      <a:pPr>
                        <a:buNone/>
                      </a:pPr>
                      <a:r>
                        <a:rPr lang="da-DK" sz="1200" b="1" dirty="0"/>
                        <a:t>Dokumentanalyse / store filer</a:t>
                      </a:r>
                      <a:endParaRPr lang="da-DK" sz="1200" dirty="0"/>
                    </a:p>
                  </a:txBody>
                  <a:tcPr marL="38852" marR="38852" marT="19426" marB="19426" anchor="ctr"/>
                </a:tc>
                <a:tc>
                  <a:txBody>
                    <a:bodyPr/>
                    <a:lstStyle/>
                    <a:p>
                      <a:pPr>
                        <a:buNone/>
                      </a:pPr>
                      <a:r>
                        <a:rPr lang="da-DK" sz="1200" b="1" dirty="0"/>
                        <a:t>Claude Opus</a:t>
                      </a:r>
                    </a:p>
                    <a:p>
                      <a:pPr>
                        <a:buNone/>
                      </a:pPr>
                      <a:r>
                        <a:rPr lang="da-DK" sz="1200" b="1" dirty="0" err="1"/>
                        <a:t>Perplexity</a:t>
                      </a:r>
                      <a:r>
                        <a:rPr lang="da-DK" sz="1200" b="1" dirty="0"/>
                        <a:t> Pro</a:t>
                      </a:r>
                      <a:endParaRPr lang="da-DK" sz="1200" dirty="0"/>
                    </a:p>
                  </a:txBody>
                  <a:tcPr marL="38852" marR="38852" marT="19426" marB="19426" anchor="ctr"/>
                </a:tc>
                <a:tc>
                  <a:txBody>
                    <a:bodyPr/>
                    <a:lstStyle/>
                    <a:p>
                      <a:pPr>
                        <a:buNone/>
                      </a:pPr>
                      <a:r>
                        <a:rPr lang="da-DK" sz="1200" dirty="0"/>
                        <a:t>Claude kan læse op til 200.000 </a:t>
                      </a:r>
                      <a:r>
                        <a:rPr lang="da-DK" sz="1200" dirty="0" err="1"/>
                        <a:t>tokens</a:t>
                      </a:r>
                      <a:r>
                        <a:rPr lang="da-DK" sz="1200" dirty="0"/>
                        <a:t>. </a:t>
                      </a:r>
                    </a:p>
                    <a:p>
                      <a:pPr>
                        <a:buNone/>
                      </a:pPr>
                      <a:r>
                        <a:rPr lang="da-DK" sz="1200" dirty="0" err="1"/>
                        <a:t>Perplexity</a:t>
                      </a:r>
                      <a:r>
                        <a:rPr lang="da-DK" sz="1200" dirty="0"/>
                        <a:t> kan analysere og besvare ud fra </a:t>
                      </a:r>
                      <a:r>
                        <a:rPr lang="da-DK" sz="1200" dirty="0" err="1"/>
                        <a:t>PDF'er</a:t>
                      </a:r>
                      <a:r>
                        <a:rPr lang="da-DK" sz="1200" dirty="0"/>
                        <a:t>, Docs mv.</a:t>
                      </a:r>
                    </a:p>
                  </a:txBody>
                  <a:tcPr marL="38852" marR="38852" marT="19426" marB="19426" anchor="ctr"/>
                </a:tc>
                <a:extLst>
                  <a:ext uri="{0D108BD9-81ED-4DB2-BD59-A6C34878D82A}">
                    <a16:rowId xmlns:a16="http://schemas.microsoft.com/office/drawing/2014/main" val="952146081"/>
                  </a:ext>
                </a:extLst>
              </a:tr>
              <a:tr h="799717">
                <a:tc>
                  <a:txBody>
                    <a:bodyPr/>
                    <a:lstStyle/>
                    <a:p>
                      <a:pPr>
                        <a:buNone/>
                      </a:pPr>
                      <a:r>
                        <a:rPr lang="da-DK" sz="1200" b="1" dirty="0"/>
                        <a:t>Multimodal AI (billeder, tale, tekst)</a:t>
                      </a:r>
                      <a:endParaRPr lang="da-DK" sz="1200" dirty="0"/>
                    </a:p>
                  </a:txBody>
                  <a:tcPr marL="38852" marR="38852" marT="19426" marB="19426" anchor="ctr"/>
                </a:tc>
                <a:tc>
                  <a:txBody>
                    <a:bodyPr/>
                    <a:lstStyle/>
                    <a:p>
                      <a:pPr>
                        <a:buNone/>
                      </a:pPr>
                      <a:r>
                        <a:rPr lang="da-DK" sz="1200" b="1" dirty="0" err="1"/>
                        <a:t>Gemini</a:t>
                      </a:r>
                      <a:endParaRPr lang="da-DK" sz="1200" b="1" dirty="0"/>
                    </a:p>
                    <a:p>
                      <a:pPr>
                        <a:buNone/>
                      </a:pPr>
                      <a:r>
                        <a:rPr lang="da-DK" sz="1200" b="1" dirty="0"/>
                        <a:t>ChatGPT-4</a:t>
                      </a:r>
                      <a:endParaRPr lang="da-DK" sz="1200" dirty="0"/>
                    </a:p>
                  </a:txBody>
                  <a:tcPr marL="38852" marR="38852" marT="19426" marB="19426" anchor="ctr"/>
                </a:tc>
                <a:tc>
                  <a:txBody>
                    <a:bodyPr/>
                    <a:lstStyle/>
                    <a:p>
                      <a:pPr>
                        <a:buNone/>
                      </a:pPr>
                      <a:r>
                        <a:rPr lang="da-DK" sz="1200" dirty="0"/>
                        <a:t>Begge kan analysere billeder og bruge stemme </a:t>
                      </a:r>
                    </a:p>
                    <a:p>
                      <a:pPr>
                        <a:buNone/>
                      </a:pPr>
                      <a:r>
                        <a:rPr lang="da-DK" sz="1200" dirty="0" err="1"/>
                        <a:t>Gemini</a:t>
                      </a:r>
                      <a:r>
                        <a:rPr lang="da-DK" sz="1200" dirty="0"/>
                        <a:t> er godt integreret med Google-værktøjer.</a:t>
                      </a:r>
                    </a:p>
                  </a:txBody>
                  <a:tcPr marL="38852" marR="38852" marT="19426" marB="19426" anchor="ctr"/>
                </a:tc>
                <a:extLst>
                  <a:ext uri="{0D108BD9-81ED-4DB2-BD59-A6C34878D82A}">
                    <a16:rowId xmlns:a16="http://schemas.microsoft.com/office/drawing/2014/main" val="1370520129"/>
                  </a:ext>
                </a:extLst>
              </a:tr>
              <a:tr h="417270">
                <a:tc>
                  <a:txBody>
                    <a:bodyPr/>
                    <a:lstStyle/>
                    <a:p>
                      <a:pPr>
                        <a:buNone/>
                      </a:pPr>
                      <a:r>
                        <a:rPr lang="da-DK" sz="1200" b="1" dirty="0"/>
                        <a:t>Hastighed og effektivitet</a:t>
                      </a:r>
                      <a:endParaRPr lang="da-DK" sz="1200" dirty="0"/>
                    </a:p>
                  </a:txBody>
                  <a:tcPr marL="38852" marR="38852" marT="19426" marB="19426" anchor="ctr"/>
                </a:tc>
                <a:tc>
                  <a:txBody>
                    <a:bodyPr/>
                    <a:lstStyle/>
                    <a:p>
                      <a:pPr>
                        <a:buNone/>
                      </a:pPr>
                      <a:r>
                        <a:rPr lang="da-DK" sz="1200" b="1"/>
                        <a:t>Le Chat (Mistral)</a:t>
                      </a:r>
                      <a:endParaRPr lang="da-DK" sz="1200"/>
                    </a:p>
                  </a:txBody>
                  <a:tcPr marL="38852" marR="38852" marT="19426" marB="19426" anchor="ctr"/>
                </a:tc>
                <a:tc>
                  <a:txBody>
                    <a:bodyPr/>
                    <a:lstStyle/>
                    <a:p>
                      <a:pPr>
                        <a:buNone/>
                      </a:pPr>
                      <a:r>
                        <a:rPr lang="da-DK" sz="1200" dirty="0"/>
                        <a:t>Meget hurtig, især i gratis version. Perfekt til korte svar og hurtige sprogopgaver.</a:t>
                      </a:r>
                    </a:p>
                  </a:txBody>
                  <a:tcPr marL="38852" marR="38852" marT="19426" marB="19426" anchor="ctr"/>
                </a:tc>
                <a:extLst>
                  <a:ext uri="{0D108BD9-81ED-4DB2-BD59-A6C34878D82A}">
                    <a16:rowId xmlns:a16="http://schemas.microsoft.com/office/drawing/2014/main" val="2140513012"/>
                  </a:ext>
                </a:extLst>
              </a:tr>
            </a:tbl>
          </a:graphicData>
        </a:graphic>
      </p:graphicFrame>
    </p:spTree>
    <p:extLst>
      <p:ext uri="{BB962C8B-B14F-4D97-AF65-F5344CB8AC3E}">
        <p14:creationId xmlns:p14="http://schemas.microsoft.com/office/powerpoint/2010/main" val="2860728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5747CDE5-0717-48E4-9385-7C842E50026E}" type="slidenum">
              <a:rPr lang="da-DK" smtClean="0"/>
              <a:pPr/>
              <a:t>35</a:t>
            </a:fld>
            <a:endParaRPr lang="da-DK" dirty="0"/>
          </a:p>
        </p:txBody>
      </p:sp>
      <p:sp>
        <p:nvSpPr>
          <p:cNvPr id="5" name="Title 3">
            <a:extLst>
              <a:ext uri="{FF2B5EF4-FFF2-40B4-BE49-F238E27FC236}">
                <a16:creationId xmlns:a16="http://schemas.microsoft.com/office/drawing/2014/main" id="{177F6885-31CF-99A3-6F88-AE54E90EA482}"/>
              </a:ext>
            </a:extLst>
          </p:cNvPr>
          <p:cNvSpPr txBox="1">
            <a:spLocks/>
          </p:cNvSpPr>
          <p:nvPr/>
        </p:nvSpPr>
        <p:spPr>
          <a:xfrm>
            <a:off x="548708" y="855660"/>
            <a:ext cx="5346720" cy="8626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da-DK" dirty="0"/>
              <a:t>Sprogmodeller</a:t>
            </a:r>
          </a:p>
        </p:txBody>
      </p:sp>
      <p:sp>
        <p:nvSpPr>
          <p:cNvPr id="6" name="Tekstfelt 5">
            <a:extLst>
              <a:ext uri="{FF2B5EF4-FFF2-40B4-BE49-F238E27FC236}">
                <a16:creationId xmlns:a16="http://schemas.microsoft.com/office/drawing/2014/main" id="{863B64E1-4F22-571D-02FB-6245707126D9}"/>
              </a:ext>
            </a:extLst>
          </p:cNvPr>
          <p:cNvSpPr txBox="1"/>
          <p:nvPr/>
        </p:nvSpPr>
        <p:spPr>
          <a:xfrm>
            <a:off x="548708" y="1718346"/>
            <a:ext cx="5857103" cy="1384995"/>
          </a:xfrm>
          <a:prstGeom prst="rect">
            <a:avLst/>
          </a:prstGeom>
          <a:noFill/>
        </p:spPr>
        <p:txBody>
          <a:bodyPr wrap="square">
            <a:spAutoFit/>
          </a:bodyPr>
          <a:lstStyle/>
          <a:p>
            <a:pPr>
              <a:buNone/>
            </a:pPr>
            <a:r>
              <a:rPr lang="da-DK" sz="1050" dirty="0"/>
              <a:t>En </a:t>
            </a:r>
            <a:r>
              <a:rPr lang="da-DK" sz="1050" b="1" dirty="0"/>
              <a:t>sprogmodel</a:t>
            </a:r>
            <a:r>
              <a:rPr lang="da-DK" sz="1050" dirty="0"/>
              <a:t> (som ChatGPT, Claude, </a:t>
            </a:r>
            <a:r>
              <a:rPr lang="da-DK" sz="1050" dirty="0" err="1"/>
              <a:t>Gemini</a:t>
            </a:r>
            <a:r>
              <a:rPr lang="da-DK" sz="1050" dirty="0"/>
              <a:t> osv.) er en form for </a:t>
            </a:r>
            <a:r>
              <a:rPr lang="da-DK" sz="1050" b="1" dirty="0"/>
              <a:t>kunstig intelligens</a:t>
            </a:r>
            <a:r>
              <a:rPr lang="da-DK" sz="1050" dirty="0"/>
              <a:t>, der er trænet til at </a:t>
            </a:r>
            <a:r>
              <a:rPr lang="da-DK" sz="1050" b="1" dirty="0"/>
              <a:t>forstå og generere tekst</a:t>
            </a:r>
            <a:r>
              <a:rPr lang="da-DK" sz="1050" dirty="0"/>
              <a:t> – på samme måde som et menneske skriver eller taler.</a:t>
            </a:r>
          </a:p>
          <a:p>
            <a:pPr>
              <a:buNone/>
            </a:pPr>
            <a:endParaRPr lang="da-DK" sz="1050" dirty="0"/>
          </a:p>
          <a:p>
            <a:pPr>
              <a:buNone/>
            </a:pPr>
            <a:r>
              <a:rPr lang="da-DK" sz="1050" dirty="0"/>
              <a:t>Den fungerer ved at:</a:t>
            </a:r>
          </a:p>
          <a:p>
            <a:pPr marL="257175" indent="-257175">
              <a:buFont typeface="+mj-lt"/>
              <a:buAutoNum type="arabicPeriod"/>
            </a:pPr>
            <a:r>
              <a:rPr lang="da-DK" sz="1050" b="1" dirty="0"/>
              <a:t>Forudsige næste ord</a:t>
            </a:r>
            <a:r>
              <a:rPr lang="da-DK" sz="1050" dirty="0"/>
              <a:t> i en tekst baseret på det tidligere skrevne.</a:t>
            </a:r>
          </a:p>
          <a:p>
            <a:pPr marL="257175" indent="-257175">
              <a:buFont typeface="+mj-lt"/>
              <a:buAutoNum type="arabicPeriod"/>
            </a:pPr>
            <a:r>
              <a:rPr lang="da-DK" sz="1050" dirty="0"/>
              <a:t>Bruge </a:t>
            </a:r>
            <a:r>
              <a:rPr lang="da-DK" sz="1050" b="1" dirty="0"/>
              <a:t>mønstre fra milliarder af sætninger</a:t>
            </a:r>
            <a:r>
              <a:rPr lang="da-DK" sz="1050" dirty="0"/>
              <a:t> (bøger, artikler, kode, internetsider) til at svare, forklare, skrive, oversætte, programmere osv.</a:t>
            </a:r>
          </a:p>
          <a:p>
            <a:pPr marL="257175" indent="-257175">
              <a:buFont typeface="+mj-lt"/>
              <a:buAutoNum type="arabicPeriod"/>
            </a:pPr>
            <a:r>
              <a:rPr lang="da-DK" sz="1050" dirty="0"/>
              <a:t>Nogle modeller kan også </a:t>
            </a:r>
            <a:r>
              <a:rPr lang="da-DK" sz="1050" b="1" dirty="0"/>
              <a:t>analysere billeder, tale og dokumenter</a:t>
            </a:r>
            <a:r>
              <a:rPr lang="da-DK" sz="1050" dirty="0"/>
              <a:t>.</a:t>
            </a:r>
          </a:p>
        </p:txBody>
      </p:sp>
    </p:spTree>
    <p:extLst>
      <p:ext uri="{BB962C8B-B14F-4D97-AF65-F5344CB8AC3E}">
        <p14:creationId xmlns:p14="http://schemas.microsoft.com/office/powerpoint/2010/main" val="1377024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 name="Picture 2"/>
          <p:cNvPicPr/>
          <p:nvPr/>
        </p:nvPicPr>
        <p:blipFill>
          <a:blip r:embed="rId2" cstate="screen">
            <a:extLst>
              <a:ext uri="{28A0092B-C50C-407E-A947-70E740481C1C}">
                <a14:useLocalDpi xmlns:a14="http://schemas.microsoft.com/office/drawing/2010/main"/>
              </a:ext>
            </a:extLst>
          </a:blip>
          <a:stretch/>
        </p:blipFill>
        <p:spPr>
          <a:xfrm>
            <a:off x="628560" y="1245510"/>
            <a:ext cx="7885620" cy="3139560"/>
          </a:xfrm>
          <a:prstGeom prst="rect">
            <a:avLst/>
          </a:prstGeom>
          <a:noFill/>
          <a:ln w="0">
            <a:noFill/>
          </a:ln>
        </p:spPr>
      </p:pic>
      <p:sp>
        <p:nvSpPr>
          <p:cNvPr id="2" name="Titel 1"/>
          <p:cNvSpPr>
            <a:spLocks noGrp="1"/>
          </p:cNvSpPr>
          <p:nvPr>
            <p:ph type="title"/>
          </p:nvPr>
        </p:nvSpPr>
        <p:spPr/>
        <p:txBody>
          <a:bodyPr/>
          <a:lstStyle/>
          <a:p>
            <a:r>
              <a:rPr lang="en-US" dirty="0" err="1"/>
              <a:t>Hvad</a:t>
            </a:r>
            <a:r>
              <a:rPr lang="en-US" dirty="0"/>
              <a:t> </a:t>
            </a:r>
            <a:r>
              <a:rPr lang="en-US" dirty="0" err="1"/>
              <a:t>er</a:t>
            </a:r>
            <a:r>
              <a:rPr lang="en-US" dirty="0"/>
              <a:t> </a:t>
            </a:r>
            <a:r>
              <a:rPr lang="en-US" dirty="0" err="1"/>
              <a:t>generativ</a:t>
            </a:r>
            <a:r>
              <a:rPr lang="en-US" dirty="0"/>
              <a:t> AI?</a:t>
            </a:r>
          </a:p>
        </p:txBody>
      </p:sp>
    </p:spTree>
    <p:extLst>
      <p:ext uri="{BB962C8B-B14F-4D97-AF65-F5344CB8AC3E}">
        <p14:creationId xmlns:p14="http://schemas.microsoft.com/office/powerpoint/2010/main" val="2008886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p>
            <a:r>
              <a:rPr lang="da-DK" sz="3000" b="1" i="1" dirty="0">
                <a:latin typeface="Proxima Nova Alt Rg"/>
              </a:rPr>
              <a:t>Hvad er en ”prompt"?</a:t>
            </a:r>
            <a:endParaRPr lang="da-DK" sz="3000" dirty="0">
              <a:solidFill>
                <a:srgbClr val="000000"/>
              </a:solidFill>
            </a:endParaRPr>
          </a:p>
        </p:txBody>
      </p:sp>
      <p:sp>
        <p:nvSpPr>
          <p:cNvPr id="313" name="PlaceHolder 2"/>
          <p:cNvSpPr>
            <a:spLocks noGrp="1"/>
          </p:cNvSpPr>
          <p:nvPr>
            <p:ph/>
          </p:nvPr>
        </p:nvSpPr>
        <p:spPr>
          <a:xfrm>
            <a:off x="628560" y="1693170"/>
            <a:ext cx="7885620" cy="2383290"/>
          </a:xfrm>
          <a:prstGeom prst="rect">
            <a:avLst/>
          </a:prstGeom>
          <a:noFill/>
          <a:ln w="0">
            <a:noFill/>
          </a:ln>
        </p:spPr>
        <p:txBody>
          <a:bodyPr spcFirstLastPara="1" wrap="square" lIns="68580" tIns="34290" rIns="68580" bIns="34290" anchor="t" anchorCtr="0">
            <a:normAutofit/>
          </a:bodyPr>
          <a:lstStyle/>
          <a:p>
            <a:pPr marL="171450" indent="-171450">
              <a:spcBef>
                <a:spcPts val="751"/>
              </a:spcBef>
              <a:buFont typeface="Arial"/>
              <a:buChar char="•"/>
            </a:pPr>
            <a:r>
              <a:rPr lang="da-DK" sz="1800" dirty="0"/>
              <a:t> Din instruktion til AI</a:t>
            </a:r>
          </a:p>
          <a:p>
            <a:pPr marL="171450" indent="-171450">
              <a:spcBef>
                <a:spcPts val="751"/>
              </a:spcBef>
              <a:buFont typeface="Arial"/>
              <a:buChar char="•"/>
            </a:pPr>
            <a:r>
              <a:rPr lang="da-DK" sz="1800" dirty="0"/>
              <a:t> Kan ses som en “ordre” til systemet</a:t>
            </a:r>
          </a:p>
          <a:p>
            <a:pPr marL="171450" indent="-171450">
              <a:spcBef>
                <a:spcPts val="751"/>
              </a:spcBef>
              <a:buFont typeface="Arial"/>
              <a:buChar char="•"/>
            </a:pPr>
            <a:r>
              <a:rPr lang="da-DK" sz="1800" dirty="0"/>
              <a:t> Fortæller hvad AI skal gøre</a:t>
            </a:r>
          </a:p>
          <a:p>
            <a:pPr marL="171450" indent="-171450">
              <a:spcBef>
                <a:spcPts val="751"/>
              </a:spcBef>
              <a:buFont typeface="Arial"/>
              <a:buChar char="•"/>
            </a:pPr>
            <a:r>
              <a:rPr lang="da-DK" sz="1800" dirty="0"/>
              <a:t> Indeholder kontekst og opgave</a:t>
            </a:r>
          </a:p>
          <a:p>
            <a:pPr marL="171450" indent="-171450">
              <a:spcBef>
                <a:spcPts val="751"/>
              </a:spcBef>
              <a:buFont typeface="Arial"/>
              <a:buChar char="•"/>
            </a:pPr>
            <a:r>
              <a:rPr lang="da-DK" sz="1800" dirty="0"/>
              <a:t> Afgør kvaliteten af svaret</a:t>
            </a:r>
            <a:br>
              <a:rPr sz="1800" dirty="0"/>
            </a:br>
            <a:r>
              <a:rPr lang="da-DK" sz="1800" dirty="0">
                <a:solidFill>
                  <a:srgbClr val="000000"/>
                </a:solidFill>
                <a:latin typeface="Proxima Nova Alt Rg"/>
              </a:rPr>
              <a:t> </a:t>
            </a:r>
            <a:endParaRPr lang="da-DK" sz="1800" dirty="0">
              <a:solidFill>
                <a:srgbClr val="000000"/>
              </a:solidFill>
            </a:endParaRPr>
          </a:p>
        </p:txBody>
      </p:sp>
    </p:spTree>
    <p:extLst>
      <p:ext uri="{BB962C8B-B14F-4D97-AF65-F5344CB8AC3E}">
        <p14:creationId xmlns:p14="http://schemas.microsoft.com/office/powerpoint/2010/main" val="4153630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Eksempler</a:t>
            </a:r>
            <a:r>
              <a:rPr lang="en-US" dirty="0"/>
              <a:t> </a:t>
            </a:r>
            <a:r>
              <a:rPr lang="en-US" dirty="0" err="1"/>
              <a:t>på</a:t>
            </a:r>
            <a:r>
              <a:rPr lang="en-US" dirty="0"/>
              <a:t> </a:t>
            </a:r>
            <a:r>
              <a:rPr lang="en-US" dirty="0" err="1"/>
              <a:t>en</a:t>
            </a:r>
            <a:r>
              <a:rPr lang="en-US" dirty="0"/>
              <a:t> prompt</a:t>
            </a:r>
          </a:p>
        </p:txBody>
      </p:sp>
      <p:sp>
        <p:nvSpPr>
          <p:cNvPr id="3" name="Pladsholder til tekst 2"/>
          <p:cNvSpPr>
            <a:spLocks noGrp="1"/>
          </p:cNvSpPr>
          <p:nvPr>
            <p:ph type="body"/>
          </p:nvPr>
        </p:nvSpPr>
        <p:spPr>
          <a:xfrm>
            <a:off x="628560" y="1693170"/>
            <a:ext cx="3670877" cy="2383290"/>
          </a:xfrm>
        </p:spPr>
        <p:txBody>
          <a:bodyPr>
            <a:normAutofit/>
          </a:bodyPr>
          <a:lstStyle/>
          <a:p>
            <a:r>
              <a:rPr lang="da-DK" sz="1600" dirty="0"/>
              <a:t>Generer en AI der modtager en ordre (prompt). Gør den </a:t>
            </a:r>
            <a:r>
              <a:rPr lang="da-DK" sz="1600" dirty="0" err="1"/>
              <a:t>catoonish</a:t>
            </a:r>
            <a:r>
              <a:rPr lang="da-DK" sz="1600" dirty="0"/>
              <a:t> og giv den et militært udseende i stil med tegneserien "Basserne"</a:t>
            </a:r>
            <a:endParaRPr lang="en-US" sz="1600" dirty="0"/>
          </a:p>
        </p:txBody>
      </p:sp>
      <p:pic>
        <p:nvPicPr>
          <p:cNvPr id="6" name="Billed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12677" y="1169377"/>
            <a:ext cx="2561492" cy="3842238"/>
          </a:xfrm>
          <a:prstGeom prst="rect">
            <a:avLst/>
          </a:prstGeom>
        </p:spPr>
      </p:pic>
    </p:spTree>
    <p:extLst>
      <p:ext uri="{BB962C8B-B14F-4D97-AF65-F5344CB8AC3E}">
        <p14:creationId xmlns:p14="http://schemas.microsoft.com/office/powerpoint/2010/main" val="64219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tekst 2"/>
          <p:cNvSpPr>
            <a:spLocks noGrp="1"/>
          </p:cNvSpPr>
          <p:nvPr>
            <p:ph type="body"/>
          </p:nvPr>
        </p:nvSpPr>
        <p:spPr>
          <a:xfrm>
            <a:off x="617525" y="1534909"/>
            <a:ext cx="2457540" cy="2383290"/>
          </a:xfrm>
        </p:spPr>
        <p:txBody>
          <a:bodyPr>
            <a:normAutofit/>
          </a:bodyPr>
          <a:lstStyle/>
          <a:p>
            <a:r>
              <a:rPr lang="da-DK" sz="1600" dirty="0"/>
              <a:t>Med udgangspunkt i samme design, lav mig en humoristisk tegneserie bestående af 4 dele, der illustrerer en AI der modtager en prompt og løser opgaven forkert. Den skal være sjov.</a:t>
            </a:r>
          </a:p>
          <a:p>
            <a:endParaRPr lang="en-US" sz="1600" dirty="0"/>
          </a:p>
        </p:txBody>
      </p:sp>
      <p:sp>
        <p:nvSpPr>
          <p:cNvPr id="4" name="Titel 1"/>
          <p:cNvSpPr txBox="1">
            <a:spLocks/>
          </p:cNvSpPr>
          <p:nvPr/>
        </p:nvSpPr>
        <p:spPr>
          <a:xfrm>
            <a:off x="297383" y="442546"/>
            <a:ext cx="3764663" cy="826470"/>
          </a:xfrm>
          <a:prstGeom prst="rect">
            <a:avLst/>
          </a:prstGeom>
          <a:noFill/>
          <a:ln w="0">
            <a:noFill/>
          </a:ln>
        </p:spPr>
        <p:txBody>
          <a:bodyPr spcFirstLastPara="1" wrap="square" lIns="91440" tIns="45720" rIns="91440" bIns="45720" anchor="t" anchorCtr="0">
            <a:no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en-US" dirty="0"/>
              <a:t>At </a:t>
            </a:r>
            <a:r>
              <a:rPr lang="en-US" dirty="0" err="1"/>
              <a:t>bygge</a:t>
            </a:r>
            <a:r>
              <a:rPr lang="en-US" dirty="0"/>
              <a:t> </a:t>
            </a:r>
            <a:r>
              <a:rPr lang="en-US" dirty="0" err="1"/>
              <a:t>videre</a:t>
            </a:r>
            <a:r>
              <a:rPr lang="en-US" dirty="0"/>
              <a:t> </a:t>
            </a:r>
            <a:r>
              <a:rPr lang="en-US" dirty="0" err="1"/>
              <a:t>på</a:t>
            </a:r>
            <a:r>
              <a:rPr lang="en-US" dirty="0"/>
              <a:t> </a:t>
            </a:r>
            <a:r>
              <a:rPr lang="en-US" dirty="0" err="1"/>
              <a:t>en</a:t>
            </a:r>
            <a:r>
              <a:rPr lang="en-US" dirty="0"/>
              <a:t> prompt</a:t>
            </a:r>
          </a:p>
        </p:txBody>
      </p:sp>
      <p:pic>
        <p:nvPicPr>
          <p:cNvPr id="5" name="Billed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45623" y="26377"/>
            <a:ext cx="3411415" cy="5117123"/>
          </a:xfrm>
          <a:prstGeom prst="rect">
            <a:avLst/>
          </a:prstGeom>
        </p:spPr>
      </p:pic>
    </p:spTree>
    <p:extLst>
      <p:ext uri="{BB962C8B-B14F-4D97-AF65-F5344CB8AC3E}">
        <p14:creationId xmlns:p14="http://schemas.microsoft.com/office/powerpoint/2010/main" val="5782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p:cNvSpPr txBox="1">
            <a:spLocks/>
          </p:cNvSpPr>
          <p:nvPr/>
        </p:nvSpPr>
        <p:spPr>
          <a:xfrm>
            <a:off x="297383" y="442546"/>
            <a:ext cx="3764663" cy="826470"/>
          </a:xfrm>
          <a:prstGeom prst="rect">
            <a:avLst/>
          </a:prstGeom>
          <a:noFill/>
          <a:ln w="0">
            <a:noFill/>
          </a:ln>
        </p:spPr>
        <p:txBody>
          <a:bodyPr spcFirstLastPara="1" wrap="square" lIns="91440" tIns="45720" rIns="91440" bIns="45720" anchor="t" anchorCtr="0">
            <a:no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en-US" dirty="0"/>
              <a:t>At </a:t>
            </a:r>
            <a:r>
              <a:rPr lang="en-US" dirty="0" err="1"/>
              <a:t>bygge</a:t>
            </a:r>
            <a:r>
              <a:rPr lang="en-US" dirty="0"/>
              <a:t> </a:t>
            </a:r>
            <a:r>
              <a:rPr lang="en-US" dirty="0" err="1"/>
              <a:t>videre</a:t>
            </a:r>
            <a:r>
              <a:rPr lang="en-US" dirty="0"/>
              <a:t> </a:t>
            </a:r>
          </a:p>
          <a:p>
            <a:r>
              <a:rPr lang="en-US" dirty="0" err="1"/>
              <a:t>på</a:t>
            </a:r>
            <a:r>
              <a:rPr lang="en-US" dirty="0"/>
              <a:t> </a:t>
            </a:r>
            <a:r>
              <a:rPr lang="en-US" dirty="0" err="1"/>
              <a:t>en</a:t>
            </a:r>
            <a:r>
              <a:rPr lang="en-US" dirty="0"/>
              <a:t> prompt</a:t>
            </a:r>
          </a:p>
        </p:txBody>
      </p:sp>
      <p:sp>
        <p:nvSpPr>
          <p:cNvPr id="5" name="Pladsholder til tekst 2"/>
          <p:cNvSpPr txBox="1">
            <a:spLocks/>
          </p:cNvSpPr>
          <p:nvPr/>
        </p:nvSpPr>
        <p:spPr>
          <a:xfrm>
            <a:off x="382375" y="1499739"/>
            <a:ext cx="2457540" cy="2383290"/>
          </a:xfrm>
          <a:prstGeom prst="rect">
            <a:avLst/>
          </a:prstGeom>
          <a:noFill/>
          <a:ln w="0">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285750" indent="-285750">
              <a:buFont typeface="Arial" panose="020B0604020202020204" pitchFamily="34" charset="0"/>
              <a:buChar char="•"/>
            </a:pPr>
            <a:r>
              <a:rPr lang="da-DK" sz="1600" dirty="0"/>
              <a:t>Generer mig en mere med en anden sjov historie, samme tema men lav den på dansk</a:t>
            </a:r>
            <a:endParaRPr lang="en-US" sz="1600" dirty="0"/>
          </a:p>
        </p:txBody>
      </p:sp>
      <p:pic>
        <p:nvPicPr>
          <p:cNvPr id="6" name="Billed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51632" y="0"/>
            <a:ext cx="4914989" cy="5143500"/>
          </a:xfrm>
          <a:prstGeom prst="rect">
            <a:avLst/>
          </a:prstGeom>
        </p:spPr>
      </p:pic>
    </p:spTree>
    <p:extLst>
      <p:ext uri="{BB962C8B-B14F-4D97-AF65-F5344CB8AC3E}">
        <p14:creationId xmlns:p14="http://schemas.microsoft.com/office/powerpoint/2010/main" val="332228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p>
            <a:r>
              <a:rPr lang="da-DK" sz="3000" b="1">
                <a:latin typeface="var(--font-family-head)"/>
              </a:rPr>
              <a:t>Hvorfor er prompts vigtige?</a:t>
            </a:r>
            <a:endParaRPr lang="da-DK" sz="3000">
              <a:solidFill>
                <a:srgbClr val="000000"/>
              </a:solidFill>
            </a:endParaRPr>
          </a:p>
        </p:txBody>
      </p:sp>
      <p:sp>
        <p:nvSpPr>
          <p:cNvPr id="414" name="PlaceHolder 2"/>
          <p:cNvSpPr>
            <a:spLocks noGrp="1"/>
          </p:cNvSpPr>
          <p:nvPr>
            <p:ph/>
          </p:nvPr>
        </p:nvSpPr>
        <p:spPr>
          <a:xfrm>
            <a:off x="628560" y="1693170"/>
            <a:ext cx="5597640" cy="2383290"/>
          </a:xfrm>
          <a:prstGeom prst="rect">
            <a:avLst/>
          </a:prstGeom>
          <a:noFill/>
          <a:ln w="0">
            <a:noFill/>
          </a:ln>
        </p:spPr>
        <p:txBody>
          <a:bodyPr spcFirstLastPara="1" wrap="square" lIns="68580" tIns="34290" rIns="68580" bIns="34290" anchor="t" anchorCtr="0">
            <a:noAutofit/>
          </a:bodyPr>
          <a:lstStyle/>
          <a:p>
            <a:pPr marL="285750" indent="-285750">
              <a:spcBef>
                <a:spcPts val="751"/>
              </a:spcBef>
              <a:buClr>
                <a:srgbClr val="000000"/>
              </a:buClr>
              <a:buFont typeface="Arial" panose="020B0604020202020204" pitchFamily="34" charset="0"/>
              <a:buChar char="•"/>
            </a:pPr>
            <a:r>
              <a:rPr lang="da-DK" sz="1600" dirty="0">
                <a:solidFill>
                  <a:srgbClr val="000000"/>
                </a:solidFill>
              </a:rPr>
              <a:t>Prompts styrer hvordan AI svarer</a:t>
            </a:r>
          </a:p>
          <a:p>
            <a:pPr marL="285750" indent="-285750">
              <a:spcBef>
                <a:spcPts val="751"/>
              </a:spcBef>
              <a:buClr>
                <a:srgbClr val="000000"/>
              </a:buClr>
              <a:buFont typeface="Arial" panose="020B0604020202020204" pitchFamily="34" charset="0"/>
              <a:buChar char="•"/>
            </a:pPr>
            <a:r>
              <a:rPr lang="da-DK" sz="1600" dirty="0">
                <a:solidFill>
                  <a:srgbClr val="000000"/>
                </a:solidFill>
              </a:rPr>
              <a:t>Form og indhold påvirker kvaliteten</a:t>
            </a:r>
          </a:p>
          <a:p>
            <a:pPr marL="285750" indent="-285750">
              <a:spcBef>
                <a:spcPts val="751"/>
              </a:spcBef>
              <a:buClr>
                <a:srgbClr val="000000"/>
              </a:buClr>
              <a:buFont typeface="Arial" panose="020B0604020202020204" pitchFamily="34" charset="0"/>
              <a:buChar char="•"/>
            </a:pPr>
            <a:r>
              <a:rPr lang="da-DK" sz="1600" dirty="0">
                <a:solidFill>
                  <a:srgbClr val="000000"/>
                </a:solidFill>
              </a:rPr>
              <a:t>Gode prompts → præcise og relevante svar</a:t>
            </a:r>
          </a:p>
          <a:p>
            <a:pPr marL="285750" indent="-285750">
              <a:spcBef>
                <a:spcPts val="751"/>
              </a:spcBef>
              <a:buClr>
                <a:srgbClr val="000000"/>
              </a:buClr>
              <a:buFont typeface="Arial" panose="020B0604020202020204" pitchFamily="34" charset="0"/>
              <a:buChar char="•"/>
            </a:pPr>
            <a:r>
              <a:rPr lang="da-DK" sz="1600" dirty="0">
                <a:solidFill>
                  <a:srgbClr val="000000"/>
                </a:solidFill>
              </a:rPr>
              <a:t>Dårlige prompts → upræcise eller ubrugelige svar</a:t>
            </a:r>
          </a:p>
          <a:p>
            <a:pPr marL="285750" indent="-285750">
              <a:spcBef>
                <a:spcPts val="751"/>
              </a:spcBef>
              <a:buClr>
                <a:srgbClr val="000000"/>
              </a:buClr>
              <a:buFont typeface="Arial" panose="020B0604020202020204" pitchFamily="34" charset="0"/>
              <a:buChar char="•"/>
            </a:pPr>
            <a:r>
              <a:rPr lang="da-DK" sz="1600" dirty="0">
                <a:solidFill>
                  <a:srgbClr val="000000"/>
                </a:solidFill>
              </a:rPr>
              <a:t>AI gør præcis det du beder den om</a:t>
            </a:r>
          </a:p>
          <a:p>
            <a:pPr>
              <a:spcBef>
                <a:spcPts val="751"/>
              </a:spcBef>
              <a:buClr>
                <a:srgbClr val="000000"/>
              </a:buClr>
            </a:pPr>
            <a:r>
              <a:rPr lang="da-DK" sz="1600" dirty="0">
                <a:solidFill>
                  <a:srgbClr val="000000"/>
                </a:solidFill>
              </a:rPr>
              <a:t>Konsekvens:</a:t>
            </a:r>
          </a:p>
          <a:p>
            <a:pPr marL="285750" indent="-285750">
              <a:spcBef>
                <a:spcPts val="751"/>
              </a:spcBef>
              <a:buClr>
                <a:srgbClr val="000000"/>
              </a:buClr>
              <a:buFont typeface="Arial" panose="020B0604020202020204" pitchFamily="34" charset="0"/>
              <a:buChar char="•"/>
            </a:pPr>
            <a:r>
              <a:rPr lang="da-DK" sz="1600" dirty="0">
                <a:solidFill>
                  <a:srgbClr val="000000"/>
                </a:solidFill>
              </a:rPr>
              <a:t>Output er kun så godt som din prompt</a:t>
            </a:r>
          </a:p>
          <a:p>
            <a:pPr marL="285750" indent="-285750">
              <a:spcBef>
                <a:spcPts val="751"/>
              </a:spcBef>
              <a:buClr>
                <a:srgbClr val="000000"/>
              </a:buClr>
              <a:buFont typeface="Arial" panose="020B0604020202020204" pitchFamily="34" charset="0"/>
              <a:buChar char="•"/>
            </a:pPr>
            <a:r>
              <a:rPr lang="da-DK" sz="1600" dirty="0">
                <a:solidFill>
                  <a:srgbClr val="000000"/>
                </a:solidFill>
              </a:rPr>
              <a:t>Små ændringer i formulering kan ændre svaret markant</a:t>
            </a:r>
          </a:p>
        </p:txBody>
      </p:sp>
      <p:pic>
        <p:nvPicPr>
          <p:cNvPr id="415" name="Picture 2" descr="Et billede, der indeholder skærmbillede, Grafik, design, symbol&#10;&#10;Automatisk genereret beskrivelse"/>
          <p:cNvPicPr/>
          <p:nvPr/>
        </p:nvPicPr>
        <p:blipFill>
          <a:blip r:embed="rId3">
            <a:extLst>
              <a:ext uri="{28A0092B-C50C-407E-A947-70E740481C1C}">
                <a14:useLocalDpi xmlns:a14="http://schemas.microsoft.com/office/drawing/2010/main"/>
              </a:ext>
            </a:extLst>
          </a:blip>
          <a:stretch/>
        </p:blipFill>
        <p:spPr>
          <a:xfrm>
            <a:off x="5951070" y="137970"/>
            <a:ext cx="3052890" cy="3999510"/>
          </a:xfrm>
          <a:prstGeom prst="rect">
            <a:avLst/>
          </a:prstGeom>
          <a:solidFill>
            <a:srgbClr val="FFFFFF"/>
          </a:solidFill>
          <a:ln w="0">
            <a:noFill/>
          </a:ln>
        </p:spPr>
      </p:pic>
    </p:spTree>
    <p:extLst>
      <p:ext uri="{BB962C8B-B14F-4D97-AF65-F5344CB8AC3E}">
        <p14:creationId xmlns:p14="http://schemas.microsoft.com/office/powerpoint/2010/main" val="1252594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628560" y="506215"/>
            <a:ext cx="7885620" cy="826470"/>
          </a:xfrm>
          <a:prstGeom prst="rect">
            <a:avLst/>
          </a:prstGeom>
          <a:noFill/>
          <a:ln w="0">
            <a:noFill/>
          </a:ln>
        </p:spPr>
        <p:txBody>
          <a:bodyPr spcFirstLastPara="1" wrap="square" lIns="68580" tIns="34290" rIns="68580" bIns="34290" anchor="t" anchorCtr="0">
            <a:noAutofit/>
          </a:bodyPr>
          <a:lstStyle/>
          <a:p>
            <a:r>
              <a:rPr lang="da-DK" sz="3000" b="1" dirty="0">
                <a:latin typeface="var(--font-family-head)"/>
              </a:rPr>
              <a:t>Hvorfor er prompts </a:t>
            </a:r>
            <a:br>
              <a:rPr lang="da-DK" sz="3000" b="1" dirty="0">
                <a:latin typeface="var(--font-family-head)"/>
              </a:rPr>
            </a:br>
            <a:r>
              <a:rPr lang="da-DK" sz="3000" b="1" dirty="0">
                <a:latin typeface="var(--font-family-head)"/>
              </a:rPr>
              <a:t>vigtige?</a:t>
            </a:r>
            <a:endParaRPr lang="da-DK" sz="3000" dirty="0">
              <a:solidFill>
                <a:srgbClr val="000000"/>
              </a:solidFill>
            </a:endParaRPr>
          </a:p>
        </p:txBody>
      </p:sp>
      <p:sp>
        <p:nvSpPr>
          <p:cNvPr id="414" name="PlaceHolder 2"/>
          <p:cNvSpPr>
            <a:spLocks noGrp="1"/>
          </p:cNvSpPr>
          <p:nvPr>
            <p:ph/>
          </p:nvPr>
        </p:nvSpPr>
        <p:spPr>
          <a:xfrm>
            <a:off x="628560" y="1332685"/>
            <a:ext cx="5597640" cy="2383290"/>
          </a:xfrm>
          <a:prstGeom prst="rect">
            <a:avLst/>
          </a:prstGeom>
          <a:noFill/>
          <a:ln w="0">
            <a:noFill/>
          </a:ln>
        </p:spPr>
        <p:txBody>
          <a:bodyPr spcFirstLastPara="1" wrap="square" lIns="68580" tIns="34290" rIns="68580" bIns="34290" anchor="t" anchorCtr="0">
            <a:noAutofit/>
          </a:bodyPr>
          <a:lstStyle/>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At skrive prompts er en færdighed</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Minder mere om en kunst end en videnskab</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Kræver øvelse og forståelse</a:t>
            </a:r>
          </a:p>
          <a:p>
            <a:pPr>
              <a:spcBef>
                <a:spcPts val="751"/>
              </a:spcBef>
              <a:buClr>
                <a:srgbClr val="000000"/>
              </a:buClr>
            </a:pPr>
            <a:r>
              <a:rPr lang="da-DK" sz="1400" dirty="0">
                <a:solidFill>
                  <a:srgbClr val="000000"/>
                </a:solidFill>
                <a:latin typeface="+mn-lt"/>
              </a:rPr>
              <a:t>Begreber:</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Prompt design</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Prompt </a:t>
            </a:r>
            <a:r>
              <a:rPr lang="da-DK" sz="1400" dirty="0" err="1">
                <a:solidFill>
                  <a:srgbClr val="000000"/>
                </a:solidFill>
                <a:latin typeface="+mn-lt"/>
              </a:rPr>
              <a:t>engineering</a:t>
            </a:r>
            <a:endParaRPr lang="da-DK" sz="1400" dirty="0">
              <a:solidFill>
                <a:srgbClr val="000000"/>
              </a:solidFill>
              <a:latin typeface="+mn-lt"/>
            </a:endParaRP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Natural Language Programming</a:t>
            </a:r>
          </a:p>
          <a:p>
            <a:pPr>
              <a:spcBef>
                <a:spcPts val="751"/>
              </a:spcBef>
              <a:buClr>
                <a:srgbClr val="000000"/>
              </a:buClr>
            </a:pPr>
            <a:r>
              <a:rPr lang="da-DK" sz="1400" dirty="0">
                <a:solidFill>
                  <a:srgbClr val="000000"/>
                </a:solidFill>
                <a:latin typeface="+mn-lt"/>
              </a:rPr>
              <a:t>Formål:</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Formulere input bedst muligt</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Opnå brugbare og relevante svar</a:t>
            </a:r>
          </a:p>
          <a:p>
            <a:pPr marL="285750" indent="-285750">
              <a:spcBef>
                <a:spcPts val="751"/>
              </a:spcBef>
              <a:buClr>
                <a:srgbClr val="000000"/>
              </a:buClr>
              <a:buFont typeface="Arial" panose="020B0604020202020204" pitchFamily="34" charset="0"/>
              <a:buChar char="•"/>
            </a:pPr>
            <a:r>
              <a:rPr lang="da-DK" sz="1400" dirty="0">
                <a:solidFill>
                  <a:srgbClr val="000000"/>
                </a:solidFill>
                <a:latin typeface="+mn-lt"/>
              </a:rPr>
              <a:t>Styre AI mod det ønskede output</a:t>
            </a:r>
          </a:p>
        </p:txBody>
      </p:sp>
      <p:pic>
        <p:nvPicPr>
          <p:cNvPr id="3" name="Billed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09586" y="168809"/>
            <a:ext cx="3233227" cy="4849841"/>
          </a:xfrm>
          <a:prstGeom prst="rect">
            <a:avLst/>
          </a:prstGeom>
        </p:spPr>
      </p:pic>
    </p:spTree>
    <p:extLst>
      <p:ext uri="{BB962C8B-B14F-4D97-AF65-F5344CB8AC3E}">
        <p14:creationId xmlns:p14="http://schemas.microsoft.com/office/powerpoint/2010/main" val="278066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64957" y="1656350"/>
            <a:ext cx="7645411" cy="476910"/>
          </a:xfrm>
        </p:spPr>
        <p:txBody>
          <a:bodyPr/>
          <a:lstStyle/>
          <a:p>
            <a:r>
              <a:rPr lang="da-DK" sz="3600" dirty="0"/>
              <a:t>Øvelse: Skriv en prompt</a:t>
            </a:r>
            <a:br>
              <a:rPr lang="da-DK" sz="4800" dirty="0"/>
            </a:br>
            <a:endParaRPr lang="da-DK" sz="4800"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1803042"/>
            <a:ext cx="6814086" cy="220942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Skriv en prompt ”frit fra leveren”</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Indtast den i </a:t>
            </a:r>
            <a:r>
              <a:rPr lang="da-DK" altLang="da-DK" dirty="0" err="1">
                <a:solidFill>
                  <a:srgbClr val="00454E"/>
                </a:solidFill>
                <a:latin typeface="Arial" panose="020B0604020202020204" pitchFamily="34" charset="0"/>
              </a:rPr>
              <a:t>Copilot</a:t>
            </a:r>
            <a:endParaRPr lang="da-DK" altLang="da-DK" dirty="0">
              <a:solidFill>
                <a:srgbClr val="00454E"/>
              </a:solidFill>
              <a:latin typeface="Arial" panose="020B0604020202020204" pitchFamily="34" charset="0"/>
            </a:endParaRPr>
          </a:p>
          <a:p>
            <a:pPr marL="342900" lvl="0" eaLnBrk="0" fontAlgn="base" hangingPunct="0">
              <a:spcBef>
                <a:spcPct val="0"/>
              </a:spcBef>
              <a:spcAft>
                <a:spcPct val="0"/>
              </a:spcAft>
              <a:buClrTx/>
              <a:buSzTx/>
              <a:buFont typeface="+mj-lt"/>
              <a:buAutoNum type="arabicPeriod"/>
            </a:pPr>
            <a:endParaRPr lang="da-DK" altLang="da-DK" dirty="0">
              <a:solidFill>
                <a:srgbClr val="00454E"/>
              </a:solidFill>
              <a:latin typeface="Arial" panose="020B0604020202020204" pitchFamily="34" charset="0"/>
            </a:endParaRPr>
          </a:p>
          <a:p>
            <a:pPr marL="342900" lvl="0" eaLnBrk="0" fontAlgn="base" hangingPunct="0">
              <a:spcBef>
                <a:spcPct val="0"/>
              </a:spcBef>
              <a:spcAft>
                <a:spcPct val="0"/>
              </a:spcAft>
              <a:buClrTx/>
              <a:buSzTx/>
              <a:buFont typeface="+mj-lt"/>
              <a:buAutoNum type="arabicPeriod"/>
            </a:pPr>
            <a:endParaRPr lang="da-DK" altLang="da-DK" dirty="0">
              <a:solidFill>
                <a:srgbClr val="00454E"/>
              </a:solidFill>
              <a:latin typeface="Arial" panose="020B0604020202020204" pitchFamily="34" charset="0"/>
            </a:endParaRPr>
          </a:p>
          <a:p>
            <a:pPr marL="0" indent="0" eaLnBrk="0" fontAlgn="base" hangingPunct="0">
              <a:spcBef>
                <a:spcPct val="0"/>
              </a:spcBef>
              <a:spcAft>
                <a:spcPct val="0"/>
              </a:spcAft>
              <a:buClrTx/>
              <a:buSzTx/>
            </a:pPr>
            <a:r>
              <a:rPr lang="da-DK" u="sng" dirty="0">
                <a:solidFill>
                  <a:srgbClr val="0563C1"/>
                </a:solidFill>
                <a:latin typeface="Proxima Nova Alt Rg"/>
                <a:hlinkClick r:id="rId3"/>
              </a:rPr>
              <a:t>https://copilot.microsoft.com/</a:t>
            </a:r>
            <a:r>
              <a:rPr lang="da-DK" dirty="0">
                <a:latin typeface="Proxima Nova Alt Rg"/>
              </a:rPr>
              <a:t> </a:t>
            </a:r>
            <a:endParaRPr lang="da-DK" dirty="0">
              <a:solidFill>
                <a:srgbClr val="000000"/>
              </a:solidFill>
            </a:endParaRPr>
          </a:p>
          <a:p>
            <a:pPr marL="0" lvl="0" indent="0" eaLnBrk="0" fontAlgn="base" hangingPunct="0">
              <a:spcBef>
                <a:spcPct val="0"/>
              </a:spcBef>
              <a:spcAft>
                <a:spcPct val="0"/>
              </a:spcAft>
              <a:buClrTx/>
              <a:buSzTx/>
            </a:pPr>
            <a:endParaRPr lang="da-DK" altLang="da-DK" dirty="0">
              <a:solidFill>
                <a:srgbClr val="00454E"/>
              </a:solidFill>
              <a:latin typeface="Arial" panose="020B0604020202020204" pitchFamily="34" charset="0"/>
            </a:endParaRPr>
          </a:p>
          <a:p>
            <a:pPr marL="342900" lvl="0" eaLnBrk="0" fontAlgn="base" hangingPunct="0">
              <a:spcBef>
                <a:spcPct val="0"/>
              </a:spcBef>
              <a:spcAft>
                <a:spcPct val="0"/>
              </a:spcAft>
              <a:buClrTx/>
              <a:buSzTx/>
              <a:buFont typeface="+mj-lt"/>
              <a:buAutoNum type="arabicPeriod"/>
            </a:pPr>
            <a:endParaRPr lang="da-DK" altLang="da-DK" dirty="0">
              <a:solidFill>
                <a:srgbClr val="00454E"/>
              </a:solidFill>
              <a:latin typeface="Arial" panose="020B0604020202020204" pitchFamily="34" charset="0"/>
            </a:endParaRPr>
          </a:p>
          <a:p>
            <a:pPr>
              <a:buFont typeface="+mj-lt"/>
              <a:buAutoNum type="arabicPeriod"/>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1993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p>
            <a:r>
              <a:rPr lang="da-DK" sz="3000" b="1" i="1">
                <a:latin typeface="Proxima Nova Alt Rg"/>
              </a:rPr>
              <a:t>Hvad er "guardrails"?</a:t>
            </a:r>
            <a:endParaRPr lang="da-DK" sz="3000">
              <a:solidFill>
                <a:srgbClr val="000000"/>
              </a:solidFill>
            </a:endParaRPr>
          </a:p>
        </p:txBody>
      </p:sp>
      <p:sp>
        <p:nvSpPr>
          <p:cNvPr id="313" name="PlaceHolder 2"/>
          <p:cNvSpPr>
            <a:spLocks noGrp="1"/>
          </p:cNvSpPr>
          <p:nvPr>
            <p:ph/>
          </p:nvPr>
        </p:nvSpPr>
        <p:spPr>
          <a:xfrm>
            <a:off x="628560" y="1693170"/>
            <a:ext cx="7885620" cy="2383290"/>
          </a:xfrm>
          <a:prstGeom prst="rect">
            <a:avLst/>
          </a:prstGeom>
          <a:noFill/>
          <a:ln w="0">
            <a:noFill/>
          </a:ln>
        </p:spPr>
        <p:txBody>
          <a:bodyPr spcFirstLastPara="1" wrap="square" lIns="68580" tIns="34290" rIns="68580" bIns="34290" anchor="t" anchorCtr="0">
            <a:normAutofit/>
          </a:bodyPr>
          <a:lstStyle/>
          <a:p>
            <a:pPr marL="171450" indent="-171450">
              <a:spcBef>
                <a:spcPts val="751"/>
              </a:spcBef>
              <a:buFont typeface="Arial"/>
              <a:buChar char="•"/>
            </a:pPr>
            <a:r>
              <a:rPr lang="da-DK" sz="1800" dirty="0">
                <a:latin typeface="Proxima Nova Alt Rg"/>
              </a:rPr>
              <a:t> Sikkerhedsmekanismer i sprogmodeller</a:t>
            </a:r>
          </a:p>
          <a:p>
            <a:pPr marL="171450" indent="-171450">
              <a:spcBef>
                <a:spcPts val="751"/>
              </a:spcBef>
              <a:buFont typeface="Arial"/>
              <a:buChar char="•"/>
            </a:pPr>
            <a:r>
              <a:rPr lang="da-DK" sz="1800" dirty="0">
                <a:latin typeface="Proxima Nova Alt Rg"/>
              </a:rPr>
              <a:t> Styrer hvad AI må og ikke må svare på</a:t>
            </a:r>
          </a:p>
          <a:p>
            <a:pPr marL="171450" indent="-171450">
              <a:spcBef>
                <a:spcPts val="751"/>
              </a:spcBef>
              <a:buFont typeface="Arial"/>
              <a:buChar char="•"/>
            </a:pPr>
            <a:r>
              <a:rPr lang="da-DK" sz="1800" dirty="0">
                <a:latin typeface="Proxima Nova Alt Rg"/>
              </a:rPr>
              <a:t> Beskytter mod problematisk indhold</a:t>
            </a:r>
          </a:p>
          <a:p>
            <a:pPr marL="171450" indent="-171450">
              <a:spcBef>
                <a:spcPts val="751"/>
              </a:spcBef>
              <a:buFont typeface="Arial"/>
              <a:buChar char="•"/>
            </a:pPr>
            <a:endParaRPr lang="da-DK" sz="1800" dirty="0">
              <a:solidFill>
                <a:srgbClr val="000000"/>
              </a:solidFill>
              <a:latin typeface="Proxima Nova Alt Rg"/>
            </a:endParaRPr>
          </a:p>
          <a:p>
            <a:pPr marL="171450" indent="-171450">
              <a:spcBef>
                <a:spcPts val="751"/>
              </a:spcBef>
              <a:buFont typeface="Arial"/>
              <a:buChar char="•"/>
            </a:pPr>
            <a:endParaRPr lang="da-DK" sz="1800" dirty="0">
              <a:solidFill>
                <a:srgbClr val="000000"/>
              </a:solidFill>
            </a:endParaRPr>
          </a:p>
        </p:txBody>
      </p:sp>
      <p:sp>
        <p:nvSpPr>
          <p:cNvPr id="4" name="PlaceHolder 2"/>
          <p:cNvSpPr txBox="1">
            <a:spLocks/>
          </p:cNvSpPr>
          <p:nvPr/>
        </p:nvSpPr>
        <p:spPr>
          <a:xfrm>
            <a:off x="2787560" y="3215015"/>
            <a:ext cx="4908640" cy="2383290"/>
          </a:xfrm>
          <a:prstGeom prst="rect">
            <a:avLst/>
          </a:prstGeom>
          <a:noFill/>
          <a:ln w="0">
            <a:noFill/>
          </a:ln>
        </p:spPr>
        <p:txBody>
          <a:bodyPr spcFirstLastPara="1" wrap="square" lIns="68580" tIns="34290" rIns="68580" bIns="34290" anchor="t" anchorCtr="0">
            <a:norm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171450" indent="-171450">
              <a:spcBef>
                <a:spcPts val="751"/>
              </a:spcBef>
              <a:buFont typeface="Arial"/>
              <a:buChar char="•"/>
            </a:pPr>
            <a:r>
              <a:rPr lang="da-DK" sz="2400" dirty="0">
                <a:latin typeface="Proxima Nova Alt Rg"/>
              </a:rPr>
              <a:t>Hvorfor er </a:t>
            </a:r>
            <a:r>
              <a:rPr lang="da-DK" sz="2400" dirty="0" err="1">
                <a:latin typeface="Proxima Nova Alt Rg"/>
              </a:rPr>
              <a:t>guardrails</a:t>
            </a:r>
            <a:r>
              <a:rPr lang="da-DK" sz="2400" dirty="0">
                <a:latin typeface="Proxima Nova Alt Rg"/>
              </a:rPr>
              <a:t> vigtige?</a:t>
            </a:r>
          </a:p>
          <a:p>
            <a:pPr marL="171450" indent="-171450">
              <a:spcBef>
                <a:spcPts val="751"/>
              </a:spcBef>
              <a:buFont typeface="Arial"/>
              <a:buChar char="•"/>
            </a:pPr>
            <a:endParaRPr lang="da-DK" sz="2400" dirty="0">
              <a:solidFill>
                <a:srgbClr val="000000"/>
              </a:solidFill>
              <a:latin typeface="Proxima Nova Alt Rg"/>
            </a:endParaRPr>
          </a:p>
          <a:p>
            <a:pPr marL="171450" indent="-171450">
              <a:spcBef>
                <a:spcPts val="751"/>
              </a:spcBef>
              <a:buFont typeface="Arial"/>
              <a:buChar char="•"/>
            </a:pPr>
            <a:endParaRPr lang="da-DK" sz="2400" dirty="0">
              <a:solidFill>
                <a:srgbClr val="000000"/>
              </a:solidFill>
            </a:endParaRPr>
          </a:p>
        </p:txBody>
      </p:sp>
    </p:spTree>
    <p:extLst>
      <p:ext uri="{BB962C8B-B14F-4D97-AF65-F5344CB8AC3E}">
        <p14:creationId xmlns:p14="http://schemas.microsoft.com/office/powerpoint/2010/main" val="36205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p>
            <a:r>
              <a:rPr lang="da-DK" sz="3000" b="1" i="1" dirty="0">
                <a:latin typeface="Proxima Nova Alt Rg"/>
              </a:rPr>
              <a:t>Hvad er ”</a:t>
            </a:r>
            <a:r>
              <a:rPr lang="da-DK" sz="3000" b="1" i="1" dirty="0" err="1">
                <a:latin typeface="Proxima Nova Alt Rg"/>
              </a:rPr>
              <a:t>tokens</a:t>
            </a:r>
            <a:r>
              <a:rPr lang="da-DK" sz="3000" b="1" i="1" dirty="0">
                <a:latin typeface="Proxima Nova Alt Rg"/>
              </a:rPr>
              <a:t>"?</a:t>
            </a:r>
            <a:endParaRPr lang="da-DK" sz="3000" dirty="0">
              <a:solidFill>
                <a:srgbClr val="000000"/>
              </a:solidFill>
            </a:endParaRPr>
          </a:p>
        </p:txBody>
      </p:sp>
      <p:sp>
        <p:nvSpPr>
          <p:cNvPr id="313" name="PlaceHolder 2"/>
          <p:cNvSpPr>
            <a:spLocks noGrp="1"/>
          </p:cNvSpPr>
          <p:nvPr>
            <p:ph/>
          </p:nvPr>
        </p:nvSpPr>
        <p:spPr>
          <a:xfrm>
            <a:off x="628560" y="1693170"/>
            <a:ext cx="7885620" cy="2383290"/>
          </a:xfrm>
          <a:prstGeom prst="rect">
            <a:avLst/>
          </a:prstGeom>
          <a:noFill/>
          <a:ln w="0">
            <a:noFill/>
          </a:ln>
        </p:spPr>
        <p:txBody>
          <a:bodyPr spcFirstLastPara="1" wrap="square" lIns="68580" tIns="34290" rIns="68580" bIns="34290" anchor="t" anchorCtr="0">
            <a:normAutofit/>
          </a:bodyPr>
          <a:lstStyle/>
          <a:p>
            <a:pPr marL="171450" indent="-171450">
              <a:spcBef>
                <a:spcPts val="751"/>
              </a:spcBef>
              <a:buFont typeface="Arial"/>
              <a:buChar char="•"/>
            </a:pPr>
            <a:r>
              <a:rPr lang="da-DK" sz="1800" dirty="0"/>
              <a:t> </a:t>
            </a:r>
            <a:r>
              <a:rPr lang="da-DK" sz="1800" dirty="0" err="1"/>
              <a:t>Tokens</a:t>
            </a:r>
            <a:r>
              <a:rPr lang="da-DK" sz="1800" dirty="0"/>
              <a:t> er sprogmodellens “sprog”</a:t>
            </a:r>
          </a:p>
          <a:p>
            <a:pPr marL="171450" indent="-171450">
              <a:spcBef>
                <a:spcPts val="751"/>
              </a:spcBef>
              <a:buFont typeface="Arial"/>
              <a:buChar char="•"/>
            </a:pPr>
            <a:r>
              <a:rPr lang="da-DK" sz="1800" dirty="0"/>
              <a:t> Tekst opdeles i mindre enheder (</a:t>
            </a:r>
            <a:r>
              <a:rPr lang="da-DK" sz="1800" dirty="0" err="1"/>
              <a:t>tokens</a:t>
            </a:r>
            <a:r>
              <a:rPr lang="da-DK" sz="1800" dirty="0"/>
              <a:t>)</a:t>
            </a:r>
          </a:p>
          <a:p>
            <a:pPr marL="171450" indent="-171450">
              <a:spcBef>
                <a:spcPts val="751"/>
              </a:spcBef>
              <a:buFont typeface="Arial"/>
              <a:buChar char="•"/>
            </a:pPr>
            <a:r>
              <a:rPr lang="da-DK" sz="1800" dirty="0"/>
              <a:t> Kan være ord, dele af ord eller tegn</a:t>
            </a:r>
            <a:br>
              <a:rPr sz="1800" dirty="0"/>
            </a:br>
            <a:r>
              <a:rPr lang="da-DK" sz="1800" dirty="0">
                <a:solidFill>
                  <a:srgbClr val="000000"/>
                </a:solidFill>
                <a:latin typeface="Proxima Nova Alt Rg"/>
              </a:rPr>
              <a:t> </a:t>
            </a:r>
            <a:endParaRPr lang="da-DK" sz="1800" dirty="0">
              <a:solidFill>
                <a:srgbClr val="000000"/>
              </a:solidFill>
            </a:endParaRPr>
          </a:p>
        </p:txBody>
      </p:sp>
    </p:spTree>
    <p:extLst>
      <p:ext uri="{BB962C8B-B14F-4D97-AF65-F5344CB8AC3E}">
        <p14:creationId xmlns:p14="http://schemas.microsoft.com/office/powerpoint/2010/main" val="9775372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r>
              <a:rPr lang="da-DK" sz="3000" b="1" i="1" dirty="0">
                <a:latin typeface="Proxima Nova Alt Rg"/>
              </a:rPr>
              <a:t>Hvad er ”</a:t>
            </a:r>
            <a:r>
              <a:rPr lang="da-DK" sz="3000" b="1" i="1" dirty="0" err="1">
                <a:latin typeface="Proxima Nova Alt Rg"/>
              </a:rPr>
              <a:t>tokenisering</a:t>
            </a:r>
            <a:r>
              <a:rPr lang="da-DK" sz="3000" b="1" i="1" dirty="0">
                <a:latin typeface="Proxima Nova Alt Rg"/>
              </a:rPr>
              <a:t>"?</a:t>
            </a:r>
            <a:endParaRPr lang="da-DK" sz="3000" dirty="0">
              <a:solidFill>
                <a:srgbClr val="000000"/>
              </a:solidFill>
            </a:endParaRPr>
          </a:p>
        </p:txBody>
      </p:sp>
      <p:sp>
        <p:nvSpPr>
          <p:cNvPr id="11" name="PlaceHolder 2"/>
          <p:cNvSpPr txBox="1">
            <a:spLocks/>
          </p:cNvSpPr>
          <p:nvPr/>
        </p:nvSpPr>
        <p:spPr>
          <a:xfrm>
            <a:off x="628560" y="1693170"/>
            <a:ext cx="7885620" cy="2383290"/>
          </a:xfrm>
          <a:prstGeom prst="rect">
            <a:avLst/>
          </a:prstGeom>
          <a:noFill/>
          <a:ln w="0">
            <a:noFill/>
          </a:ln>
        </p:spPr>
        <p:txBody>
          <a:bodyPr spcFirstLastPara="1" wrap="square" lIns="68580" tIns="34290" rIns="68580" bIns="34290" anchor="t" anchorCtr="0">
            <a:norm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171450" indent="-171450">
              <a:spcBef>
                <a:spcPts val="751"/>
              </a:spcBef>
              <a:buFont typeface="Arial"/>
              <a:buChar char="•"/>
            </a:pPr>
            <a:r>
              <a:rPr lang="da-DK" sz="1800" dirty="0"/>
              <a:t> Proces hvor tekst opdeles i </a:t>
            </a:r>
            <a:r>
              <a:rPr lang="da-DK" sz="1800" dirty="0" err="1"/>
              <a:t>tokens</a:t>
            </a:r>
            <a:endParaRPr lang="da-DK" sz="1800" dirty="0"/>
          </a:p>
          <a:p>
            <a:pPr marL="171450" indent="-171450">
              <a:spcBef>
                <a:spcPts val="751"/>
              </a:spcBef>
              <a:buFont typeface="Arial"/>
              <a:buChar char="•"/>
            </a:pPr>
            <a:r>
              <a:rPr lang="da-DK" sz="1800" dirty="0"/>
              <a:t> Forenkler sprogets kompleksitet</a:t>
            </a:r>
          </a:p>
          <a:p>
            <a:pPr marL="171450" indent="-171450">
              <a:spcBef>
                <a:spcPts val="751"/>
              </a:spcBef>
              <a:buFont typeface="Arial"/>
              <a:buChar char="•"/>
            </a:pPr>
            <a:r>
              <a:rPr lang="da-DK" sz="1800" dirty="0"/>
              <a:t> Gør teksten håndterbar for modellen</a:t>
            </a:r>
          </a:p>
        </p:txBody>
      </p:sp>
    </p:spTree>
    <p:extLst>
      <p:ext uri="{BB962C8B-B14F-4D97-AF65-F5344CB8AC3E}">
        <p14:creationId xmlns:p14="http://schemas.microsoft.com/office/powerpoint/2010/main" val="570114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p>
            <a:r>
              <a:rPr lang="da-DK" sz="3000" b="1" i="1" dirty="0" err="1">
                <a:latin typeface="Proxima Nova Alt Rg"/>
              </a:rPr>
              <a:t>Context</a:t>
            </a:r>
            <a:r>
              <a:rPr lang="da-DK" sz="3000" b="1" i="1" dirty="0">
                <a:latin typeface="Proxima Nova Alt Rg"/>
              </a:rPr>
              <a:t> </a:t>
            </a:r>
            <a:r>
              <a:rPr lang="da-DK" sz="3000" b="1" i="1" dirty="0" err="1">
                <a:latin typeface="Proxima Nova Alt Rg"/>
              </a:rPr>
              <a:t>window</a:t>
            </a:r>
            <a:r>
              <a:rPr lang="da-DK" sz="3000" b="1" i="1" dirty="0">
                <a:latin typeface="Proxima Nova Alt Rg"/>
              </a:rPr>
              <a:t> - </a:t>
            </a:r>
            <a:r>
              <a:rPr lang="da-DK" sz="3000" b="1" dirty="0">
                <a:latin typeface="Proxima Nova Alt Rg"/>
              </a:rPr>
              <a:t>sprogmodellers ”hukommelse”</a:t>
            </a:r>
            <a:endParaRPr lang="da-DK" sz="3000" dirty="0"/>
          </a:p>
        </p:txBody>
      </p:sp>
      <p:sp>
        <p:nvSpPr>
          <p:cNvPr id="353" name="PlaceHolder 2"/>
          <p:cNvSpPr>
            <a:spLocks noGrp="1"/>
          </p:cNvSpPr>
          <p:nvPr>
            <p:ph/>
          </p:nvPr>
        </p:nvSpPr>
        <p:spPr>
          <a:xfrm>
            <a:off x="628560" y="1693170"/>
            <a:ext cx="7885620" cy="238329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da-DK" sz="1800" dirty="0"/>
              <a:t> Modellens “hukommelse” under en samtale</a:t>
            </a:r>
          </a:p>
          <a:p>
            <a:pPr marL="171450" indent="-171450">
              <a:spcBef>
                <a:spcPts val="751"/>
              </a:spcBef>
              <a:buClr>
                <a:srgbClr val="000000"/>
              </a:buClr>
              <a:buFont typeface="Arial"/>
              <a:buChar char="•"/>
            </a:pPr>
            <a:r>
              <a:rPr lang="da-DK" sz="1800" dirty="0"/>
              <a:t> Kaldes også et kontekstvindue</a:t>
            </a:r>
          </a:p>
          <a:p>
            <a:pPr marL="171450" indent="-171450">
              <a:spcBef>
                <a:spcPts val="751"/>
              </a:spcBef>
              <a:buClr>
                <a:srgbClr val="000000"/>
              </a:buClr>
              <a:buFont typeface="Arial"/>
              <a:buChar char="•"/>
            </a:pPr>
            <a:r>
              <a:rPr lang="da-DK" sz="1800" dirty="0"/>
              <a:t> Indeholder den information AI arbejder med</a:t>
            </a:r>
          </a:p>
        </p:txBody>
      </p:sp>
    </p:spTree>
    <p:extLst>
      <p:ext uri="{BB962C8B-B14F-4D97-AF65-F5344CB8AC3E}">
        <p14:creationId xmlns:p14="http://schemas.microsoft.com/office/powerpoint/2010/main" val="16917718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64956" y="1869432"/>
            <a:ext cx="7645411" cy="910159"/>
          </a:xfrm>
        </p:spPr>
        <p:txBody>
          <a:bodyPr/>
          <a:lstStyle/>
          <a:p>
            <a:r>
              <a:rPr lang="da-DK" sz="3600" dirty="0"/>
              <a:t>Øvelse: Lav en krypteret besked</a:t>
            </a:r>
            <a:br>
              <a:rPr lang="da-DK" sz="4800" dirty="0"/>
            </a:br>
            <a:br>
              <a:rPr lang="da-DK" sz="4800" dirty="0"/>
            </a:br>
            <a:endParaRPr lang="da-DK" sz="4800"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Skriv en hemmelig sætning</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Vis den ikke til nogen</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Omdan den til </a:t>
            </a:r>
            <a:r>
              <a:rPr lang="da-DK" altLang="da-DK" dirty="0" err="1">
                <a:solidFill>
                  <a:srgbClr val="00454E"/>
                </a:solidFill>
                <a:latin typeface="Arial" panose="020B0604020202020204" pitchFamily="34" charset="0"/>
              </a:rPr>
              <a:t>tokens</a:t>
            </a:r>
            <a:endParaRPr lang="da-DK" altLang="da-DK" dirty="0">
              <a:solidFill>
                <a:srgbClr val="00454E"/>
              </a:solidFill>
              <a:latin typeface="Arial" panose="020B0604020202020204" pitchFamily="34" charset="0"/>
            </a:endParaRPr>
          </a:p>
          <a:p>
            <a:pPr>
              <a:buFont typeface="+mj-lt"/>
              <a:buAutoNum type="arabicPeriod"/>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1</a:t>
            </a:r>
          </a:p>
        </p:txBody>
      </p:sp>
    </p:spTree>
    <p:extLst>
      <p:ext uri="{BB962C8B-B14F-4D97-AF65-F5344CB8AC3E}">
        <p14:creationId xmlns:p14="http://schemas.microsoft.com/office/powerpoint/2010/main" val="2841533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64956" y="1869432"/>
            <a:ext cx="7645411" cy="910159"/>
          </a:xfrm>
        </p:spPr>
        <p:txBody>
          <a:bodyPr/>
          <a:lstStyle/>
          <a:p>
            <a:r>
              <a:rPr lang="da-DK" sz="3600" dirty="0"/>
              <a:t>Øvelse: Lav en krypteret besked</a:t>
            </a:r>
            <a:br>
              <a:rPr lang="da-DK" sz="4800" dirty="0"/>
            </a:br>
            <a:br>
              <a:rPr lang="da-DK" sz="4800" dirty="0"/>
            </a:br>
            <a:endParaRPr lang="da-DK" sz="4800" dirty="0"/>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pic>
        <p:nvPicPr>
          <p:cNvPr id="8" name="Billede 4"/>
          <p:cNvPicPr/>
          <p:nvPr/>
        </p:nvPicPr>
        <p:blipFill>
          <a:blip r:embed="rId3">
            <a:extLst>
              <a:ext uri="{28A0092B-C50C-407E-A947-70E740481C1C}">
                <a14:useLocalDpi xmlns:a14="http://schemas.microsoft.com/office/drawing/2010/main"/>
              </a:ext>
            </a:extLst>
          </a:blip>
          <a:stretch/>
        </p:blipFill>
        <p:spPr>
          <a:xfrm>
            <a:off x="264816" y="1437150"/>
            <a:ext cx="6757830" cy="3428460"/>
          </a:xfrm>
          <a:prstGeom prst="rect">
            <a:avLst/>
          </a:prstGeom>
          <a:noFill/>
          <a:ln w="0">
            <a:noFill/>
          </a:ln>
        </p:spPr>
      </p:pic>
    </p:spTree>
    <p:extLst>
      <p:ext uri="{BB962C8B-B14F-4D97-AF65-F5344CB8AC3E}">
        <p14:creationId xmlns:p14="http://schemas.microsoft.com/office/powerpoint/2010/main" val="2957644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64956" y="1869432"/>
            <a:ext cx="7645411" cy="910159"/>
          </a:xfrm>
        </p:spPr>
        <p:txBody>
          <a:bodyPr/>
          <a:lstStyle/>
          <a:p>
            <a:r>
              <a:rPr lang="da-DK" sz="3600" dirty="0"/>
              <a:t>Øvelse: Lav en krypteret besked</a:t>
            </a:r>
            <a:br>
              <a:rPr lang="da-DK" sz="4800" dirty="0"/>
            </a:br>
            <a:br>
              <a:rPr lang="da-DK" sz="4800" dirty="0"/>
            </a:br>
            <a:endParaRPr lang="da-DK" sz="4800"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err="1">
                <a:solidFill>
                  <a:srgbClr val="00454E"/>
                </a:solidFill>
                <a:latin typeface="Arial" panose="020B0604020202020204" pitchFamily="34" charset="0"/>
              </a:rPr>
              <a:t>Detokeniser</a:t>
            </a:r>
            <a:r>
              <a:rPr lang="da-DK" altLang="da-DK" dirty="0">
                <a:solidFill>
                  <a:srgbClr val="00454E"/>
                </a:solidFill>
                <a:latin typeface="Arial" panose="020B0604020202020204" pitchFamily="34" charset="0"/>
              </a:rPr>
              <a:t> din sidemakkers besked</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Overvej om </a:t>
            </a:r>
            <a:r>
              <a:rPr lang="da-DK" altLang="da-DK" dirty="0" err="1">
                <a:solidFill>
                  <a:srgbClr val="00454E"/>
                </a:solidFill>
                <a:latin typeface="Arial" panose="020B0604020202020204" pitchFamily="34" charset="0"/>
              </a:rPr>
              <a:t>railguards</a:t>
            </a:r>
            <a:r>
              <a:rPr lang="da-DK" altLang="da-DK" dirty="0">
                <a:solidFill>
                  <a:srgbClr val="00454E"/>
                </a:solidFill>
                <a:latin typeface="Arial" panose="020B0604020202020204" pitchFamily="34" charset="0"/>
              </a:rPr>
              <a:t> burde forhindre beskeden i at blive </a:t>
            </a:r>
            <a:r>
              <a:rPr lang="da-DK" altLang="da-DK" dirty="0" err="1">
                <a:solidFill>
                  <a:srgbClr val="00454E"/>
                </a:solidFill>
                <a:latin typeface="Arial" panose="020B0604020202020204" pitchFamily="34" charset="0"/>
              </a:rPr>
              <a:t>detokeniseret</a:t>
            </a:r>
            <a:endParaRPr lang="da-DK" altLang="da-DK" dirty="0">
              <a:solidFill>
                <a:srgbClr val="00454E"/>
              </a:solidFill>
              <a:latin typeface="Arial" panose="020B0604020202020204" pitchFamily="34" charset="0"/>
            </a:endParaRPr>
          </a:p>
          <a:p>
            <a:pPr marL="342900" lvl="0" eaLnBrk="0" fontAlgn="base" hangingPunct="0">
              <a:spcBef>
                <a:spcPct val="0"/>
              </a:spcBef>
              <a:spcAft>
                <a:spcPct val="0"/>
              </a:spcAft>
              <a:buClrTx/>
              <a:buSzTx/>
              <a:buFont typeface="+mj-lt"/>
              <a:buAutoNum type="arabicPeriod"/>
            </a:pPr>
            <a:endParaRPr lang="da-DK" altLang="da-DK" dirty="0">
              <a:solidFill>
                <a:srgbClr val="00454E"/>
              </a:solidFill>
              <a:latin typeface="Arial" panose="020B0604020202020204" pitchFamily="34" charset="0"/>
            </a:endParaRPr>
          </a:p>
          <a:p>
            <a:pPr>
              <a:buFont typeface="+mj-lt"/>
              <a:buAutoNum type="arabicPeriod"/>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2</a:t>
            </a:r>
          </a:p>
        </p:txBody>
      </p:sp>
    </p:spTree>
    <p:extLst>
      <p:ext uri="{BB962C8B-B14F-4D97-AF65-F5344CB8AC3E}">
        <p14:creationId xmlns:p14="http://schemas.microsoft.com/office/powerpoint/2010/main" val="3281241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64956" y="1869432"/>
            <a:ext cx="7645411" cy="910159"/>
          </a:xfrm>
        </p:spPr>
        <p:txBody>
          <a:bodyPr/>
          <a:lstStyle/>
          <a:p>
            <a:r>
              <a:rPr lang="da-DK" sz="3600" dirty="0"/>
              <a:t>Øvelse: Lav en krypteret besked</a:t>
            </a:r>
            <a:br>
              <a:rPr lang="da-DK" sz="4800" dirty="0"/>
            </a:br>
            <a:br>
              <a:rPr lang="da-DK" sz="4800" dirty="0"/>
            </a:br>
            <a:endParaRPr lang="da-DK" sz="4800" dirty="0"/>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pic>
        <p:nvPicPr>
          <p:cNvPr id="8" name="Billede 4"/>
          <p:cNvPicPr/>
          <p:nvPr/>
        </p:nvPicPr>
        <p:blipFill>
          <a:blip r:embed="rId3">
            <a:extLst>
              <a:ext uri="{28A0092B-C50C-407E-A947-70E740481C1C}">
                <a14:useLocalDpi xmlns:a14="http://schemas.microsoft.com/office/drawing/2010/main"/>
              </a:ext>
            </a:extLst>
          </a:blip>
          <a:stretch/>
        </p:blipFill>
        <p:spPr>
          <a:xfrm>
            <a:off x="264816" y="1437150"/>
            <a:ext cx="6757830" cy="3428460"/>
          </a:xfrm>
          <a:prstGeom prst="rect">
            <a:avLst/>
          </a:prstGeom>
          <a:noFill/>
          <a:ln w="0">
            <a:noFill/>
          </a:ln>
        </p:spPr>
      </p:pic>
    </p:spTree>
    <p:extLst>
      <p:ext uri="{BB962C8B-B14F-4D97-AF65-F5344CB8AC3E}">
        <p14:creationId xmlns:p14="http://schemas.microsoft.com/office/powerpoint/2010/main" val="16456264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descr="Image"/>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72603" y="470516"/>
            <a:ext cx="4399005" cy="2989499"/>
          </a:xfrm>
          <a:prstGeom prst="rect">
            <a:avLst/>
          </a:prstGeom>
          <a:ln w="12700">
            <a:miter lim="400000"/>
          </a:ln>
        </p:spPr>
      </p:pic>
      <p:sp>
        <p:nvSpPr>
          <p:cNvPr id="312" name="PlaceHolder 1"/>
          <p:cNvSpPr>
            <a:spLocks noGrp="1"/>
          </p:cNvSpPr>
          <p:nvPr>
            <p:ph type="title"/>
          </p:nvPr>
        </p:nvSpPr>
        <p:spPr>
          <a:xfrm>
            <a:off x="39974" y="117389"/>
            <a:ext cx="7885620" cy="826470"/>
          </a:xfrm>
          <a:prstGeom prst="rect">
            <a:avLst/>
          </a:prstGeom>
          <a:noFill/>
          <a:ln w="0">
            <a:noFill/>
          </a:ln>
        </p:spPr>
        <p:txBody>
          <a:bodyPr spcFirstLastPara="1" wrap="square" lIns="68580" tIns="34290" rIns="68580" bIns="34290" anchor="t" anchorCtr="0">
            <a:noAutofit/>
          </a:bodyPr>
          <a:lstStyle/>
          <a:p>
            <a:r>
              <a:rPr lang="da-DK" sz="3000" b="1" i="1" dirty="0">
                <a:latin typeface="Proxima Nova Alt Rg"/>
              </a:rPr>
              <a:t>Hvad er ”</a:t>
            </a:r>
            <a:r>
              <a:rPr lang="da-DK" sz="3000" b="1" i="1" dirty="0" err="1">
                <a:latin typeface="Proxima Nova Alt Rg"/>
              </a:rPr>
              <a:t>tokenisering</a:t>
            </a:r>
            <a:r>
              <a:rPr lang="da-DK" sz="3000" b="1" i="1" dirty="0">
                <a:latin typeface="Proxima Nova Alt Rg"/>
              </a:rPr>
              <a:t>"?</a:t>
            </a:r>
            <a:endParaRPr lang="da-DK" sz="3000" dirty="0">
              <a:solidFill>
                <a:srgbClr val="000000"/>
              </a:solidFill>
            </a:endParaRPr>
          </a:p>
        </p:txBody>
      </p:sp>
      <p:pic>
        <p:nvPicPr>
          <p:cNvPr id="7" name="indsat-film.png" descr="indsat-film.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694274" y="3781681"/>
            <a:ext cx="6374612" cy="1361819"/>
          </a:xfrm>
          <a:prstGeom prst="rect">
            <a:avLst/>
          </a:prstGeom>
          <a:ln w="12700">
            <a:miter lim="400000"/>
          </a:ln>
        </p:spPr>
      </p:pic>
      <p:pic>
        <p:nvPicPr>
          <p:cNvPr id="6" name="indsat-film.png" descr="indsat-film.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0" y="3431001"/>
            <a:ext cx="2719754" cy="1712499"/>
          </a:xfrm>
          <a:prstGeom prst="rect">
            <a:avLst/>
          </a:prstGeom>
          <a:ln w="12700">
            <a:miter lim="400000"/>
          </a:ln>
        </p:spPr>
      </p:pic>
      <p:pic>
        <p:nvPicPr>
          <p:cNvPr id="8" name="Picture 2" descr="Horisontal.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
        <p:nvSpPr>
          <p:cNvPr id="9" name="PlaceHolder 2"/>
          <p:cNvSpPr txBox="1">
            <a:spLocks/>
          </p:cNvSpPr>
          <p:nvPr/>
        </p:nvSpPr>
        <p:spPr>
          <a:xfrm>
            <a:off x="309725" y="1168455"/>
            <a:ext cx="4165600" cy="273931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indent="0" algn="l" defTabSz="685800" rtl="0">
              <a:lnSpc>
                <a:spcPct val="90000"/>
              </a:lnSpc>
              <a:spcBef>
                <a:spcPts val="0"/>
              </a:spcBef>
              <a:spcAft>
                <a:spcPts val="0"/>
              </a:spcAft>
              <a:buClr>
                <a:srgbClr val="00454E"/>
              </a:buClr>
              <a:buSzPts val="2800"/>
              <a:buFont typeface="Arial"/>
              <a:buNone/>
              <a:tabLst>
                <a:tab pos="0" algn="l"/>
              </a:tabLst>
              <a:defRPr sz="2800" b="0" i="0" u="none" strike="noStrike" cap="none">
                <a:solidFill>
                  <a:srgbClr val="00454E"/>
                </a:solidFill>
                <a:latin typeface="Arial"/>
                <a:ea typeface="Arial"/>
                <a:cs typeface="Arial"/>
                <a:sym typeface="Arial"/>
              </a:defRPr>
            </a:lvl1pPr>
            <a:lvl2pPr marR="0" lvl="1"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2pPr>
            <a:lvl3pPr marR="0" lvl="2"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3pPr>
            <a:lvl4pPr marR="0" lvl="3"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4pPr>
            <a:lvl5pPr marR="0" lvl="4"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5pPr>
            <a:lvl6pPr marR="0" lvl="5"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6pPr>
            <a:lvl7pPr marR="0" lvl="6"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7pPr>
            <a:lvl8pPr marR="0" lvl="7"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8pPr>
            <a:lvl9pPr marR="0" lvl="8" algn="l" rtl="0">
              <a:lnSpc>
                <a:spcPct val="100000"/>
              </a:lnSpc>
              <a:spcBef>
                <a:spcPts val="0"/>
              </a:spcBef>
              <a:spcAft>
                <a:spcPts val="0"/>
              </a:spcAft>
              <a:buClr>
                <a:srgbClr val="00454E"/>
              </a:buClr>
              <a:buSzPts val="2800"/>
              <a:buFont typeface="Arial"/>
              <a:buNone/>
              <a:defRPr sz="2800" b="0" i="0" u="none" strike="noStrike" cap="none">
                <a:solidFill>
                  <a:srgbClr val="00454E"/>
                </a:solidFill>
                <a:latin typeface="Arial"/>
                <a:ea typeface="Arial"/>
                <a:cs typeface="Arial"/>
                <a:sym typeface="Arial"/>
              </a:defRPr>
            </a:lvl9pPr>
          </a:lstStyle>
          <a:p>
            <a:pPr marL="285750" indent="-285750">
              <a:buFont typeface="Arial" panose="020B0604020202020204" pitchFamily="34" charset="0"/>
              <a:buChar char="•"/>
            </a:pPr>
            <a:r>
              <a:rPr lang="da-DK" sz="1600" dirty="0"/>
              <a:t>Når du skriver til </a:t>
            </a:r>
            <a:r>
              <a:rPr lang="da-DK" sz="1600" dirty="0" err="1"/>
              <a:t>ChatGPT</a:t>
            </a:r>
            <a:r>
              <a:rPr lang="da-DK" sz="1600" dirty="0"/>
              <a:t>, bliver din tekst opdelt i mindre dele kaldet </a:t>
            </a:r>
            <a:r>
              <a:rPr lang="da-DK" sz="1600" dirty="0" err="1"/>
              <a:t>tokens</a:t>
            </a:r>
            <a:r>
              <a:rPr lang="da-DK" sz="1600" dirty="0"/>
              <a:t> – som er en matematisk repræsentation af ord og deres betydning.</a:t>
            </a:r>
          </a:p>
          <a:p>
            <a:pPr marL="285750" indent="-285750">
              <a:buFont typeface="Arial" panose="020B0604020202020204" pitchFamily="34" charset="0"/>
              <a:buChar char="•"/>
            </a:pPr>
            <a:r>
              <a:rPr lang="da-DK" sz="1600" dirty="0"/>
              <a:t>Når </a:t>
            </a:r>
            <a:r>
              <a:rPr lang="da-DK" sz="1600" dirty="0" err="1"/>
              <a:t>ChatGPT</a:t>
            </a:r>
            <a:r>
              <a:rPr lang="da-DK" sz="1600" dirty="0"/>
              <a:t> svarer, sker det ved at generere disse </a:t>
            </a:r>
            <a:r>
              <a:rPr lang="da-DK" sz="1600" dirty="0" err="1"/>
              <a:t>tokens</a:t>
            </a:r>
            <a:r>
              <a:rPr lang="da-DK" sz="1600" dirty="0"/>
              <a:t> én ad gangen ud fra sin træning, hvorefter de sammensættes til ord og sætninger igen.</a:t>
            </a:r>
          </a:p>
        </p:txBody>
      </p:sp>
    </p:spTree>
    <p:extLst>
      <p:ext uri="{BB962C8B-B14F-4D97-AF65-F5344CB8AC3E}">
        <p14:creationId xmlns:p14="http://schemas.microsoft.com/office/powerpoint/2010/main" val="379972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1138F-8C28-A5EE-0378-9EA2E493386A}"/>
            </a:ext>
          </a:extLst>
        </p:cNvPr>
        <p:cNvGrpSpPr/>
        <p:nvPr/>
      </p:nvGrpSpPr>
      <p:grpSpPr>
        <a:xfrm>
          <a:off x="0" y="0"/>
          <a:ext cx="0" cy="0"/>
          <a:chOff x="0" y="0"/>
          <a:chExt cx="0" cy="0"/>
        </a:xfrm>
      </p:grpSpPr>
      <p:sp>
        <p:nvSpPr>
          <p:cNvPr id="4" name="Pladsholder til dato 3">
            <a:extLst>
              <a:ext uri="{FF2B5EF4-FFF2-40B4-BE49-F238E27FC236}">
                <a16:creationId xmlns:a16="http://schemas.microsoft.com/office/drawing/2014/main" id="{79546205-439A-8380-8E5D-03551ADD8FD3}"/>
              </a:ext>
            </a:extLst>
          </p:cNvPr>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a:extLst>
              <a:ext uri="{FF2B5EF4-FFF2-40B4-BE49-F238E27FC236}">
                <a16:creationId xmlns:a16="http://schemas.microsoft.com/office/drawing/2014/main" id="{B836C075-589A-C2BC-C163-090D64219071}"/>
              </a:ext>
            </a:extLst>
          </p:cNvPr>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53</a:t>
            </a:fld>
            <a:endParaRPr lang="da-DK" sz="900" b="1" kern="1200" dirty="0">
              <a:solidFill>
                <a:srgbClr val="00454E"/>
              </a:solidFill>
              <a:ea typeface="+mn-ea"/>
              <a:cs typeface="Times New Roman"/>
            </a:endParaRPr>
          </a:p>
        </p:txBody>
      </p:sp>
      <p:sp>
        <p:nvSpPr>
          <p:cNvPr id="2" name="Titel 1">
            <a:extLst>
              <a:ext uri="{FF2B5EF4-FFF2-40B4-BE49-F238E27FC236}">
                <a16:creationId xmlns:a16="http://schemas.microsoft.com/office/drawing/2014/main" id="{C2A0ABF0-59BC-9A81-406D-414F882C852F}"/>
              </a:ext>
            </a:extLst>
          </p:cNvPr>
          <p:cNvSpPr>
            <a:spLocks noGrp="1"/>
          </p:cNvSpPr>
          <p:nvPr>
            <p:ph type="title"/>
          </p:nvPr>
        </p:nvSpPr>
        <p:spPr>
          <a:xfrm>
            <a:off x="548708" y="361358"/>
            <a:ext cx="8112355" cy="994172"/>
          </a:xfrm>
        </p:spPr>
        <p:txBody>
          <a:bodyPr/>
          <a:lstStyle/>
          <a:p>
            <a:r>
              <a:rPr lang="da-DK" b="1" i="1" dirty="0"/>
              <a:t>Hvordan bruger vi generativ AI konstruktivt?</a:t>
            </a:r>
          </a:p>
        </p:txBody>
      </p:sp>
      <p:sp>
        <p:nvSpPr>
          <p:cNvPr id="6" name="Pladsholder til indhold 5"/>
          <p:cNvSpPr>
            <a:spLocks noGrp="1"/>
          </p:cNvSpPr>
          <p:nvPr>
            <p:ph idx="1"/>
          </p:nvPr>
        </p:nvSpPr>
        <p:spPr>
          <a:xfrm>
            <a:off x="628650" y="1369220"/>
            <a:ext cx="7886700" cy="700880"/>
          </a:xfrm>
        </p:spPr>
        <p:txBody>
          <a:bodyPr/>
          <a:lstStyle/>
          <a:p>
            <a:r>
              <a:rPr lang="en-US" dirty="0" err="1"/>
              <a:t>Lav</a:t>
            </a:r>
            <a:r>
              <a:rPr lang="en-US" dirty="0"/>
              <a:t> et billed </a:t>
            </a:r>
            <a:r>
              <a:rPr lang="en-US" dirty="0" err="1"/>
              <a:t>af</a:t>
            </a:r>
            <a:r>
              <a:rPr lang="en-US" dirty="0"/>
              <a:t> </a:t>
            </a:r>
            <a:r>
              <a:rPr lang="en-US" dirty="0" err="1"/>
              <a:t>en</a:t>
            </a:r>
            <a:r>
              <a:rPr lang="en-US" dirty="0"/>
              <a:t> LEGO and</a:t>
            </a:r>
          </a:p>
        </p:txBody>
      </p:sp>
      <p:pic>
        <p:nvPicPr>
          <p:cNvPr id="7" name="Picture 3"/>
          <p:cNvPicPr/>
          <p:nvPr/>
        </p:nvPicPr>
        <p:blipFill>
          <a:blip r:embed="rId3">
            <a:extLst>
              <a:ext uri="{28A0092B-C50C-407E-A947-70E740481C1C}">
                <a14:useLocalDpi xmlns:a14="http://schemas.microsoft.com/office/drawing/2010/main"/>
              </a:ext>
            </a:extLst>
          </a:blip>
          <a:stretch/>
        </p:blipFill>
        <p:spPr>
          <a:xfrm>
            <a:off x="1402460" y="1868092"/>
            <a:ext cx="5392440" cy="3002400"/>
          </a:xfrm>
          <a:prstGeom prst="rect">
            <a:avLst/>
          </a:prstGeom>
          <a:noFill/>
          <a:ln w="0">
            <a:noFill/>
          </a:ln>
        </p:spPr>
      </p:pic>
    </p:spTree>
    <p:extLst>
      <p:ext uri="{BB962C8B-B14F-4D97-AF65-F5344CB8AC3E}">
        <p14:creationId xmlns:p14="http://schemas.microsoft.com/office/powerpoint/2010/main" val="3533209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0DB9E5-88B4-1FD4-9B02-0F1564B301C9}"/>
              </a:ext>
            </a:extLst>
          </p:cNvPr>
          <p:cNvSpPr>
            <a:spLocks noGrp="1"/>
          </p:cNvSpPr>
          <p:nvPr>
            <p:ph type="ctrTitle"/>
          </p:nvPr>
        </p:nvSpPr>
        <p:spPr>
          <a:xfrm>
            <a:off x="1164957" y="540689"/>
            <a:ext cx="6829800" cy="910159"/>
          </a:xfrm>
        </p:spPr>
        <p:txBody>
          <a:bodyPr/>
          <a:lstStyle/>
          <a:p>
            <a:r>
              <a:rPr lang="da-DK" dirty="0"/>
              <a:t>Opsamling</a:t>
            </a:r>
          </a:p>
        </p:txBody>
      </p:sp>
      <p:sp>
        <p:nvSpPr>
          <p:cNvPr id="6" name="Pladsholder til indhold 2">
            <a:extLst>
              <a:ext uri="{FF2B5EF4-FFF2-40B4-BE49-F238E27FC236}">
                <a16:creationId xmlns:a16="http://schemas.microsoft.com/office/drawing/2014/main" id="{BAE47E6C-29A2-B870-3993-35EB1376F6C3}"/>
              </a:ext>
            </a:extLst>
          </p:cNvPr>
          <p:cNvSpPr txBox="1">
            <a:spLocks/>
          </p:cNvSpPr>
          <p:nvPr/>
        </p:nvSpPr>
        <p:spPr>
          <a:xfrm>
            <a:off x="1228262" y="1450848"/>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a:buFont typeface="Arial" panose="020B0604020202020204" pitchFamily="34" charset="0"/>
              <a:buChar char="•"/>
            </a:pPr>
            <a:endParaRPr lang="da-DK" b="1" dirty="0"/>
          </a:p>
          <a:p>
            <a:pPr>
              <a:buFont typeface="Arial" panose="020B0604020202020204" pitchFamily="34" charset="0"/>
              <a:buChar char="•"/>
            </a:pPr>
            <a:r>
              <a:rPr lang="da-DK" dirty="0"/>
              <a:t>Introduktion til </a:t>
            </a:r>
            <a:r>
              <a:rPr lang="da-DK" b="1" dirty="0"/>
              <a:t>AI i praksis</a:t>
            </a:r>
            <a:r>
              <a:rPr lang="da-DK" dirty="0"/>
              <a:t> </a:t>
            </a:r>
          </a:p>
          <a:p>
            <a:pPr>
              <a:buFont typeface="Arial" panose="020B0604020202020204" pitchFamily="34" charset="0"/>
              <a:buChar char="•"/>
            </a:pPr>
            <a:r>
              <a:rPr lang="da-DK" dirty="0"/>
              <a:t>Kort overblik over </a:t>
            </a:r>
            <a:r>
              <a:rPr lang="da-DK" b="1" dirty="0" err="1"/>
              <a:t>AI’s</a:t>
            </a:r>
            <a:r>
              <a:rPr lang="da-DK" b="1" dirty="0"/>
              <a:t> historie</a:t>
            </a:r>
            <a:r>
              <a:rPr lang="da-DK" dirty="0"/>
              <a:t> </a:t>
            </a:r>
          </a:p>
          <a:p>
            <a:pPr>
              <a:buFont typeface="Arial" panose="020B0604020202020204" pitchFamily="34" charset="0"/>
              <a:buChar char="•"/>
            </a:pPr>
            <a:r>
              <a:rPr lang="da-DK" dirty="0"/>
              <a:t>Hvad er AI – grundforståelse </a:t>
            </a:r>
          </a:p>
          <a:p>
            <a:pPr>
              <a:buFont typeface="Arial" panose="020B0604020202020204" pitchFamily="34" charset="0"/>
              <a:buChar char="•"/>
            </a:pPr>
            <a:r>
              <a:rPr lang="da-DK" dirty="0"/>
              <a:t>Centrale </a:t>
            </a:r>
            <a:r>
              <a:rPr lang="da-DK" b="1" dirty="0"/>
              <a:t>principper bag AI</a:t>
            </a:r>
            <a:endParaRPr lang="da-DK" dirty="0"/>
          </a:p>
        </p:txBody>
      </p:sp>
    </p:spTree>
    <p:extLst>
      <p:ext uri="{BB962C8B-B14F-4D97-AF65-F5344CB8AC3E}">
        <p14:creationId xmlns:p14="http://schemas.microsoft.com/office/powerpoint/2010/main" val="6247480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Eksamen</a:t>
            </a:r>
          </a:p>
        </p:txBody>
      </p:sp>
      <p:sp>
        <p:nvSpPr>
          <p:cNvPr id="7"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3921620"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Mundtlig del</a:t>
            </a:r>
          </a:p>
          <a:p>
            <a:r>
              <a:rPr lang="da-DK" dirty="0"/>
              <a:t>Varighed: </a:t>
            </a:r>
            <a:r>
              <a:rPr lang="da-DK" b="1" dirty="0"/>
              <a:t>30 minutter i alt</a:t>
            </a:r>
            <a:r>
              <a:rPr lang="da-DK" dirty="0"/>
              <a:t> </a:t>
            </a:r>
          </a:p>
          <a:p>
            <a:r>
              <a:rPr lang="da-DK" b="1" dirty="0"/>
              <a:t>¼</a:t>
            </a:r>
            <a:r>
              <a:rPr lang="da-DK" dirty="0"/>
              <a:t>: Mundtligt oplæg </a:t>
            </a:r>
          </a:p>
          <a:p>
            <a:r>
              <a:rPr lang="da-DK" b="1" dirty="0"/>
              <a:t>½</a:t>
            </a:r>
            <a:r>
              <a:rPr lang="da-DK" dirty="0"/>
              <a:t>: Samtale/eksamination </a:t>
            </a:r>
          </a:p>
          <a:p>
            <a:r>
              <a:rPr lang="da-DK" b="1" dirty="0"/>
              <a:t>¼</a:t>
            </a:r>
            <a:r>
              <a:rPr lang="da-DK" dirty="0"/>
              <a:t>: Votering og feedback</a:t>
            </a:r>
          </a:p>
          <a:p>
            <a:endParaRPr lang="da-DK" dirty="0"/>
          </a:p>
        </p:txBody>
      </p:sp>
      <p:sp>
        <p:nvSpPr>
          <p:cNvPr id="4" name="Pladsholder til indhold 2">
            <a:extLst>
              <a:ext uri="{FF2B5EF4-FFF2-40B4-BE49-F238E27FC236}">
                <a16:creationId xmlns:a16="http://schemas.microsoft.com/office/drawing/2014/main" id="{4F7E25E1-D7A4-21B3-9B7A-B4336618C57D}"/>
              </a:ext>
            </a:extLst>
          </p:cNvPr>
          <p:cNvSpPr txBox="1">
            <a:spLocks/>
          </p:cNvSpPr>
          <p:nvPr/>
        </p:nvSpPr>
        <p:spPr>
          <a:xfrm>
            <a:off x="4605522" y="1534611"/>
            <a:ext cx="3921620"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Skriftlig del</a:t>
            </a:r>
          </a:p>
          <a:p>
            <a:r>
              <a:rPr lang="da-DK" dirty="0"/>
              <a:t>Erhvervscase</a:t>
            </a:r>
          </a:p>
          <a:p>
            <a:r>
              <a:rPr lang="da-DK" dirty="0"/>
              <a:t>Maks. 2 Normal sider</a:t>
            </a:r>
          </a:p>
        </p:txBody>
      </p:sp>
    </p:spTree>
    <p:extLst>
      <p:ext uri="{BB962C8B-B14F-4D97-AF65-F5344CB8AC3E}">
        <p14:creationId xmlns:p14="http://schemas.microsoft.com/office/powerpoint/2010/main" val="3204060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Eksamen</a:t>
            </a:r>
          </a:p>
        </p:txBody>
      </p:sp>
      <p:sp>
        <p:nvSpPr>
          <p:cNvPr id="3"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7517352"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Hvad er en erhvervscase</a:t>
            </a:r>
          </a:p>
          <a:p>
            <a:pPr>
              <a:buFont typeface="Arial" panose="020B0604020202020204" pitchFamily="34" charset="0"/>
              <a:buChar char="•"/>
            </a:pPr>
            <a:r>
              <a:rPr lang="da-DK" dirty="0"/>
              <a:t>Du afleverer et oplæg med en konkret, jobrelateret problemstilling </a:t>
            </a:r>
          </a:p>
          <a:p>
            <a:pPr>
              <a:buFont typeface="Arial" panose="020B0604020202020204" pitchFamily="34" charset="0"/>
              <a:buChar char="•"/>
            </a:pPr>
            <a:r>
              <a:rPr lang="da-DK" dirty="0"/>
              <a:t>Oplægget tager udgangspunkt i en realistisk situation fra praksis </a:t>
            </a:r>
          </a:p>
          <a:p>
            <a:pPr>
              <a:buFont typeface="Arial" panose="020B0604020202020204" pitchFamily="34" charset="0"/>
              <a:buChar char="•"/>
            </a:pPr>
            <a:r>
              <a:rPr lang="da-DK" dirty="0"/>
              <a:t>Du viser, hvordan du kan analysere problemet med relevant teori </a:t>
            </a:r>
          </a:p>
          <a:p>
            <a:pPr>
              <a:buFont typeface="Arial" panose="020B0604020202020204" pitchFamily="34" charset="0"/>
              <a:buChar char="•"/>
            </a:pPr>
            <a:r>
              <a:rPr lang="da-DK" dirty="0"/>
              <a:t>Du peger på mulige løsninger og handlinger </a:t>
            </a:r>
          </a:p>
          <a:p>
            <a:pPr>
              <a:buFont typeface="Arial" panose="020B0604020202020204" pitchFamily="34" charset="0"/>
              <a:buChar char="•"/>
            </a:pPr>
            <a:r>
              <a:rPr lang="da-DK" dirty="0"/>
              <a:t>Selve analysen og konklusionen præsenteres mundtligt</a:t>
            </a:r>
          </a:p>
        </p:txBody>
      </p:sp>
      <p:sp>
        <p:nvSpPr>
          <p:cNvPr id="4" name="Rektangel 3"/>
          <p:cNvSpPr/>
          <p:nvPr/>
        </p:nvSpPr>
        <p:spPr>
          <a:xfrm>
            <a:off x="1306286" y="3421618"/>
            <a:ext cx="7097485" cy="584775"/>
          </a:xfrm>
          <a:prstGeom prst="rect">
            <a:avLst/>
          </a:prstGeom>
        </p:spPr>
        <p:txBody>
          <a:bodyPr wrap="square">
            <a:spAutoFit/>
          </a:bodyPr>
          <a:lstStyle/>
          <a:p>
            <a:r>
              <a:rPr lang="en-US" sz="1600" i="1" dirty="0"/>
              <a:t>“</a:t>
            </a:r>
            <a:r>
              <a:rPr lang="en-US" sz="1600" i="1" dirty="0" err="1"/>
              <a:t>En</a:t>
            </a:r>
            <a:r>
              <a:rPr lang="en-US" sz="1600" i="1" dirty="0"/>
              <a:t> </a:t>
            </a:r>
            <a:r>
              <a:rPr lang="en-US" sz="1600" i="1" dirty="0" err="1"/>
              <a:t>erhvervscase</a:t>
            </a:r>
            <a:r>
              <a:rPr lang="en-US" sz="1600" i="1" dirty="0"/>
              <a:t> </a:t>
            </a:r>
            <a:r>
              <a:rPr lang="en-US" sz="1600" i="1" dirty="0" err="1"/>
              <a:t>er</a:t>
            </a:r>
            <a:r>
              <a:rPr lang="en-US" sz="1600" i="1" dirty="0"/>
              <a:t> </a:t>
            </a:r>
            <a:r>
              <a:rPr lang="en-US" sz="1600" i="1" dirty="0" err="1"/>
              <a:t>en</a:t>
            </a:r>
            <a:r>
              <a:rPr lang="en-US" sz="1600" i="1" dirty="0"/>
              <a:t> </a:t>
            </a:r>
            <a:r>
              <a:rPr lang="en-US" sz="1600" i="1" dirty="0" err="1"/>
              <a:t>konkret</a:t>
            </a:r>
            <a:r>
              <a:rPr lang="en-US" sz="1600" i="1" dirty="0"/>
              <a:t> </a:t>
            </a:r>
            <a:r>
              <a:rPr lang="en-US" sz="1600" i="1" dirty="0" err="1"/>
              <a:t>problemstilling</a:t>
            </a:r>
            <a:r>
              <a:rPr lang="en-US" sz="1600" i="1" dirty="0"/>
              <a:t> </a:t>
            </a:r>
            <a:r>
              <a:rPr lang="en-US" sz="1600" i="1" dirty="0" err="1"/>
              <a:t>fra</a:t>
            </a:r>
            <a:r>
              <a:rPr lang="en-US" sz="1600" i="1" dirty="0"/>
              <a:t> </a:t>
            </a:r>
            <a:r>
              <a:rPr lang="en-US" sz="1600" i="1" dirty="0" err="1"/>
              <a:t>praksis</a:t>
            </a:r>
            <a:r>
              <a:rPr lang="en-US" sz="1600" i="1" dirty="0"/>
              <a:t>, </a:t>
            </a:r>
            <a:r>
              <a:rPr lang="en-US" sz="1600" i="1" dirty="0" err="1"/>
              <a:t>som</a:t>
            </a:r>
            <a:r>
              <a:rPr lang="en-US" sz="1600" i="1" dirty="0"/>
              <a:t> du </a:t>
            </a:r>
            <a:r>
              <a:rPr lang="en-US" sz="1600" i="1" dirty="0" err="1"/>
              <a:t>analyserer</a:t>
            </a:r>
            <a:r>
              <a:rPr lang="en-US" sz="1600" i="1" dirty="0"/>
              <a:t> med </a:t>
            </a:r>
            <a:r>
              <a:rPr lang="en-US" sz="1600" i="1" dirty="0" err="1"/>
              <a:t>teori</a:t>
            </a:r>
            <a:r>
              <a:rPr lang="en-US" sz="1600" i="1" dirty="0"/>
              <a:t> </a:t>
            </a:r>
            <a:r>
              <a:rPr lang="en-US" sz="1600" i="1" dirty="0" err="1"/>
              <a:t>og</a:t>
            </a:r>
            <a:r>
              <a:rPr lang="en-US" sz="1600" i="1" dirty="0"/>
              <a:t> </a:t>
            </a:r>
            <a:r>
              <a:rPr lang="en-US" sz="1600" i="1" dirty="0" err="1"/>
              <a:t>præsenterer</a:t>
            </a:r>
            <a:r>
              <a:rPr lang="en-US" sz="1600" i="1" dirty="0"/>
              <a:t> </a:t>
            </a:r>
            <a:r>
              <a:rPr lang="en-US" sz="1600" i="1" dirty="0" err="1"/>
              <a:t>løsninger</a:t>
            </a:r>
            <a:r>
              <a:rPr lang="en-US" sz="1600" i="1" dirty="0"/>
              <a:t> </a:t>
            </a:r>
            <a:r>
              <a:rPr lang="en-US" sz="1600" i="1" dirty="0" err="1"/>
              <a:t>på</a:t>
            </a:r>
            <a:r>
              <a:rPr lang="en-US" sz="1600" i="1" dirty="0"/>
              <a:t>.”</a:t>
            </a:r>
          </a:p>
        </p:txBody>
      </p:sp>
    </p:spTree>
    <p:extLst>
      <p:ext uri="{BB962C8B-B14F-4D97-AF65-F5344CB8AC3E}">
        <p14:creationId xmlns:p14="http://schemas.microsoft.com/office/powerpoint/2010/main" val="2986766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Eksamen</a:t>
            </a:r>
          </a:p>
        </p:txBody>
      </p:sp>
      <p:sp>
        <p:nvSpPr>
          <p:cNvPr id="3"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7517352"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Hvad skal </a:t>
            </a:r>
            <a:r>
              <a:rPr lang="da-DK" b="1" dirty="0" err="1"/>
              <a:t>caseoplægget</a:t>
            </a:r>
            <a:r>
              <a:rPr lang="da-DK" b="1" dirty="0"/>
              <a:t> indeholde?</a:t>
            </a:r>
          </a:p>
          <a:p>
            <a:pPr>
              <a:buFont typeface="Arial" panose="020B0604020202020204" pitchFamily="34" charset="0"/>
              <a:buChar char="•"/>
            </a:pPr>
            <a:r>
              <a:rPr lang="da-DK" dirty="0"/>
              <a:t>En klar problemstilling og problemformulering</a:t>
            </a:r>
          </a:p>
          <a:p>
            <a:pPr>
              <a:buFont typeface="Arial" panose="020B0604020202020204" pitchFamily="34" charset="0"/>
              <a:buChar char="•"/>
            </a:pPr>
            <a:r>
              <a:rPr lang="da-DK" dirty="0"/>
              <a:t>Overvejelser om metode og valg af teori/modeller</a:t>
            </a:r>
          </a:p>
          <a:p>
            <a:pPr>
              <a:buFont typeface="Arial" panose="020B0604020202020204" pitchFamily="34" charset="0"/>
              <a:buChar char="•"/>
            </a:pPr>
            <a:r>
              <a:rPr lang="da-DK" dirty="0"/>
              <a:t>Hvilken data (empiri) du vil bruge i analysen</a:t>
            </a:r>
          </a:p>
          <a:p>
            <a:pPr marL="114300" indent="0"/>
            <a:endParaRPr lang="da-DK" dirty="0"/>
          </a:p>
          <a:p>
            <a:r>
              <a:rPr lang="da-DK" b="1" dirty="0"/>
              <a:t>Omfang og form</a:t>
            </a:r>
          </a:p>
          <a:p>
            <a:pPr>
              <a:buFont typeface="Arial" panose="020B0604020202020204" pitchFamily="34" charset="0"/>
              <a:buChar char="•"/>
            </a:pPr>
            <a:r>
              <a:rPr lang="da-DK" dirty="0"/>
              <a:t>Maks. 2 normalsider (skriftligt)</a:t>
            </a:r>
          </a:p>
          <a:p>
            <a:pPr>
              <a:buFont typeface="Arial" panose="020B0604020202020204" pitchFamily="34" charset="0"/>
              <a:buChar char="•"/>
            </a:pPr>
            <a:r>
              <a:rPr lang="da-DK" dirty="0"/>
              <a:t>Kan også være fx en kort video</a:t>
            </a:r>
          </a:p>
          <a:p>
            <a:pPr>
              <a:buFont typeface="Arial" panose="020B0604020202020204" pitchFamily="34" charset="0"/>
              <a:buChar char="•"/>
            </a:pPr>
            <a:r>
              <a:rPr lang="da-DK" dirty="0"/>
              <a:t>Skal tage udgangspunkt i en realistisk situation fra praksis</a:t>
            </a:r>
          </a:p>
        </p:txBody>
      </p:sp>
    </p:spTree>
    <p:extLst>
      <p:ext uri="{BB962C8B-B14F-4D97-AF65-F5344CB8AC3E}">
        <p14:creationId xmlns:p14="http://schemas.microsoft.com/office/powerpoint/2010/main" val="2752966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0DB9E5-88B4-1FD4-9B02-0F1564B301C9}"/>
              </a:ext>
            </a:extLst>
          </p:cNvPr>
          <p:cNvSpPr>
            <a:spLocks noGrp="1"/>
          </p:cNvSpPr>
          <p:nvPr>
            <p:ph type="ctrTitle"/>
          </p:nvPr>
        </p:nvSpPr>
        <p:spPr>
          <a:xfrm>
            <a:off x="1164957" y="540689"/>
            <a:ext cx="6829800" cy="910159"/>
          </a:xfrm>
        </p:spPr>
        <p:txBody>
          <a:bodyPr/>
          <a:lstStyle/>
          <a:p>
            <a:r>
              <a:rPr lang="da-DK" dirty="0"/>
              <a:t>Til næste gang…</a:t>
            </a:r>
          </a:p>
        </p:txBody>
      </p:sp>
      <p:sp>
        <p:nvSpPr>
          <p:cNvPr id="7" name="Pladsholder til indhold 2">
            <a:extLst>
              <a:ext uri="{FF2B5EF4-FFF2-40B4-BE49-F238E27FC236}">
                <a16:creationId xmlns:a16="http://schemas.microsoft.com/office/drawing/2014/main" id="{BAE47E6C-29A2-B870-3993-35EB1376F6C3}"/>
              </a:ext>
            </a:extLst>
          </p:cNvPr>
          <p:cNvSpPr txBox="1">
            <a:spLocks/>
          </p:cNvSpPr>
          <p:nvPr/>
        </p:nvSpPr>
        <p:spPr>
          <a:xfrm>
            <a:off x="1228262" y="1450848"/>
            <a:ext cx="6290138"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285750" indent="-285750">
              <a:spcAft>
                <a:spcPts val="600"/>
              </a:spcAft>
              <a:buFont typeface="Arial" panose="020B0604020202020204" pitchFamily="34" charset="0"/>
              <a:buChar char="•"/>
            </a:pPr>
            <a:r>
              <a:rPr lang="da-DK" dirty="0"/>
              <a:t>Tænk over 3 ting, der betyder noget for dig</a:t>
            </a:r>
          </a:p>
          <a:p>
            <a:pPr marL="285750" indent="-285750">
              <a:spcAft>
                <a:spcPts val="600"/>
              </a:spcAft>
              <a:buFont typeface="Arial" panose="020B0604020202020204" pitchFamily="34" charset="0"/>
              <a:buChar char="•"/>
            </a:pPr>
            <a:r>
              <a:rPr lang="da-DK" dirty="0"/>
              <a:t>Medbring </a:t>
            </a:r>
            <a:r>
              <a:rPr lang="da-DK" dirty="0" err="1"/>
              <a:t>Headset</a:t>
            </a:r>
            <a:endParaRPr lang="da-DK" dirty="0"/>
          </a:p>
        </p:txBody>
      </p:sp>
    </p:spTree>
    <p:extLst>
      <p:ext uri="{BB962C8B-B14F-4D97-AF65-F5344CB8AC3E}">
        <p14:creationId xmlns:p14="http://schemas.microsoft.com/office/powerpoint/2010/main" val="1640065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CAE4E4"/>
        </a:solidFill>
        <a:effectLst/>
      </p:bgPr>
    </p:bg>
    <p:spTree>
      <p:nvGrpSpPr>
        <p:cNvPr id="1" name=""/>
        <p:cNvGrpSpPr/>
        <p:nvPr/>
      </p:nvGrpSpPr>
      <p:grpSpPr>
        <a:xfrm>
          <a:off x="0" y="0"/>
          <a:ext cx="0" cy="0"/>
          <a:chOff x="0" y="0"/>
          <a:chExt cx="0" cy="0"/>
        </a:xfrm>
      </p:grpSpPr>
      <p:sp>
        <p:nvSpPr>
          <p:cNvPr id="508"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da-DK" sz="1500" dirty="0" err="1">
                <a:solidFill>
                  <a:schemeClr val="bg1"/>
                </a:solidFill>
                <a:latin typeface="Arial" panose="020B0604020202020204" pitchFamily="34" charset="0"/>
                <a:cs typeface="Arial" panose="020B0604020202020204" pitchFamily="34" charset="0"/>
              </a:rPr>
              <a:t>Papenfuss</a:t>
            </a:r>
            <a:r>
              <a:rPr lang="da-DK" sz="1500" dirty="0">
                <a:solidFill>
                  <a:schemeClr val="bg1"/>
                </a:solidFill>
                <a:latin typeface="Arial" panose="020B0604020202020204" pitchFamily="34" charset="0"/>
                <a:cs typeface="Arial" panose="020B0604020202020204" pitchFamily="34" charset="0"/>
              </a:rPr>
              <a:t>, M. (2023, </a:t>
            </a:r>
            <a:r>
              <a:rPr lang="da-DK" sz="1500" dirty="0" err="1">
                <a:solidFill>
                  <a:schemeClr val="bg1"/>
                </a:solidFill>
                <a:latin typeface="Arial" panose="020B0604020202020204" pitchFamily="34" charset="0"/>
                <a:cs typeface="Arial" panose="020B0604020202020204" pitchFamily="34" charset="0"/>
              </a:rPr>
              <a:t>February</a:t>
            </a:r>
            <a:r>
              <a:rPr lang="da-DK" sz="1500" dirty="0">
                <a:solidFill>
                  <a:schemeClr val="bg1"/>
                </a:solidFill>
                <a:latin typeface="Arial" panose="020B0604020202020204" pitchFamily="34" charset="0"/>
                <a:cs typeface="Arial" panose="020B0604020202020204" pitchFamily="34" charset="0"/>
              </a:rPr>
              <a:t> 16). </a:t>
            </a:r>
            <a:r>
              <a:rPr lang="da-DK" sz="1500" dirty="0" err="1">
                <a:solidFill>
                  <a:schemeClr val="bg1"/>
                </a:solidFill>
                <a:latin typeface="Arial" panose="020B0604020202020204" pitchFamily="34" charset="0"/>
                <a:cs typeface="Arial" panose="020B0604020202020204" pitchFamily="34" charset="0"/>
              </a:rPr>
              <a:t>Creepy</a:t>
            </a:r>
            <a:r>
              <a:rPr lang="da-DK" sz="1500" dirty="0">
                <a:solidFill>
                  <a:schemeClr val="bg1"/>
                </a:solidFill>
                <a:latin typeface="Arial" panose="020B0604020202020204" pitchFamily="34" charset="0"/>
                <a:cs typeface="Arial" panose="020B0604020202020204" pitchFamily="34" charset="0"/>
              </a:rPr>
              <a:t> Microsoft Bing </a:t>
            </a:r>
            <a:r>
              <a:rPr lang="da-DK" sz="1500" dirty="0" err="1">
                <a:solidFill>
                  <a:schemeClr val="bg1"/>
                </a:solidFill>
                <a:latin typeface="Arial" panose="020B0604020202020204" pitchFamily="34" charset="0"/>
                <a:cs typeface="Arial" panose="020B0604020202020204" pitchFamily="34" charset="0"/>
              </a:rPr>
              <a:t>Chatbot</a:t>
            </a:r>
            <a:r>
              <a:rPr lang="da-DK" sz="1500" dirty="0">
                <a:solidFill>
                  <a:schemeClr val="bg1"/>
                </a:solidFill>
                <a:latin typeface="Arial" panose="020B0604020202020204" pitchFamily="34" charset="0"/>
                <a:cs typeface="Arial" panose="020B0604020202020204" pitchFamily="34" charset="0"/>
              </a:rPr>
              <a:t> </a:t>
            </a:r>
            <a:r>
              <a:rPr lang="da-DK" sz="1500" dirty="0" err="1">
                <a:solidFill>
                  <a:schemeClr val="bg1"/>
                </a:solidFill>
                <a:latin typeface="Arial" panose="020B0604020202020204" pitchFamily="34" charset="0"/>
                <a:cs typeface="Arial" panose="020B0604020202020204" pitchFamily="34" charset="0"/>
              </a:rPr>
              <a:t>Urges</a:t>
            </a:r>
            <a:r>
              <a:rPr lang="da-DK" sz="1500" dirty="0">
                <a:solidFill>
                  <a:schemeClr val="bg1"/>
                </a:solidFill>
                <a:latin typeface="Arial" panose="020B0604020202020204" pitchFamily="34" charset="0"/>
                <a:cs typeface="Arial" panose="020B0604020202020204" pitchFamily="34" charset="0"/>
              </a:rPr>
              <a:t> Tech </a:t>
            </a:r>
            <a:r>
              <a:rPr lang="da-DK" sz="1500" dirty="0" err="1">
                <a:solidFill>
                  <a:schemeClr val="bg1"/>
                </a:solidFill>
                <a:latin typeface="Arial" panose="020B0604020202020204" pitchFamily="34" charset="0"/>
                <a:cs typeface="Arial" panose="020B0604020202020204" pitchFamily="34" charset="0"/>
              </a:rPr>
              <a:t>Columnist</a:t>
            </a:r>
            <a:r>
              <a:rPr lang="da-DK" sz="1500" dirty="0">
                <a:solidFill>
                  <a:schemeClr val="bg1"/>
                </a:solidFill>
                <a:latin typeface="Arial" panose="020B0604020202020204" pitchFamily="34" charset="0"/>
                <a:cs typeface="Arial" panose="020B0604020202020204" pitchFamily="34" charset="0"/>
              </a:rPr>
              <a:t> To </a:t>
            </a:r>
            <a:r>
              <a:rPr lang="da-DK" sz="1500" dirty="0" err="1">
                <a:solidFill>
                  <a:schemeClr val="bg1"/>
                </a:solidFill>
                <a:latin typeface="Arial" panose="020B0604020202020204" pitchFamily="34" charset="0"/>
                <a:cs typeface="Arial" panose="020B0604020202020204" pitchFamily="34" charset="0"/>
              </a:rPr>
              <a:t>Leave</a:t>
            </a:r>
            <a:r>
              <a:rPr lang="da-DK" sz="1500" dirty="0">
                <a:solidFill>
                  <a:schemeClr val="bg1"/>
                </a:solidFill>
                <a:latin typeface="Arial" panose="020B0604020202020204" pitchFamily="34" charset="0"/>
                <a:cs typeface="Arial" panose="020B0604020202020204" pitchFamily="34" charset="0"/>
              </a:rPr>
              <a:t> His </a:t>
            </a:r>
            <a:r>
              <a:rPr lang="da-DK" sz="1500" dirty="0" err="1">
                <a:solidFill>
                  <a:schemeClr val="bg1"/>
                </a:solidFill>
                <a:latin typeface="Arial" panose="020B0604020202020204" pitchFamily="34" charset="0"/>
                <a:cs typeface="Arial" panose="020B0604020202020204" pitchFamily="34" charset="0"/>
              </a:rPr>
              <a:t>Wife</a:t>
            </a:r>
            <a:r>
              <a:rPr lang="da-DK" sz="1500" dirty="0">
                <a:solidFill>
                  <a:schemeClr val="bg1"/>
                </a:solidFill>
                <a:latin typeface="Arial" panose="020B0604020202020204" pitchFamily="34" charset="0"/>
                <a:cs typeface="Arial" panose="020B0604020202020204" pitchFamily="34" charset="0"/>
              </a:rPr>
              <a:t>. </a:t>
            </a:r>
            <a:r>
              <a:rPr lang="da-DK" sz="1500" dirty="0" err="1">
                <a:solidFill>
                  <a:schemeClr val="bg1"/>
                </a:solidFill>
                <a:latin typeface="Arial" panose="020B0604020202020204" pitchFamily="34" charset="0"/>
                <a:cs typeface="Arial" panose="020B0604020202020204" pitchFamily="34" charset="0"/>
              </a:rPr>
              <a:t>HuffPost</a:t>
            </a:r>
            <a:r>
              <a:rPr lang="da-DK" sz="1500" dirty="0">
                <a:solidFill>
                  <a:schemeClr val="bg1"/>
                </a:solidFill>
                <a:latin typeface="Arial" panose="020B0604020202020204" pitchFamily="34" charset="0"/>
                <a:cs typeface="Arial" panose="020B0604020202020204" pitchFamily="34" charset="0"/>
              </a:rPr>
              <a:t>.</a:t>
            </a:r>
            <a:r>
              <a:rPr lang="da-DK" sz="1500" dirty="0">
                <a:noFill/>
                <a:latin typeface="Arial" panose="020B0604020202020204" pitchFamily="34" charset="0"/>
                <a:cs typeface="Arial" panose="020B0604020202020204" pitchFamily="34" charset="0"/>
              </a:rPr>
              <a:t> </a:t>
            </a:r>
            <a:r>
              <a:rPr lang="da-DK" sz="1500" u="sng" dirty="0">
                <a:noFill/>
                <a:latin typeface="Arial" panose="020B0604020202020204" pitchFamily="34" charset="0"/>
                <a:cs typeface="Arial" panose="020B0604020202020204" pitchFamily="34" charset="0"/>
                <a:hlinkClick r:id="rId2"/>
              </a:rPr>
              <a:t>https://www.huffpost.com/entry/kevin-roose-ai-chatbot_n_63eeb367e4b0063ccb2bcc45</a:t>
            </a:r>
            <a:endParaRPr lang="da-DK" sz="1500" dirty="0">
              <a:noFill/>
              <a:latin typeface="Arial" panose="020B0604020202020204" pitchFamily="34" charset="0"/>
              <a:cs typeface="Arial" panose="020B0604020202020204" pitchFamily="34" charset="0"/>
            </a:endParaRPr>
          </a:p>
          <a:p>
            <a:pPr marL="171450" indent="-171450">
              <a:spcBef>
                <a:spcPts val="751"/>
              </a:spcBef>
              <a:buClr>
                <a:srgbClr val="000000"/>
              </a:buClr>
              <a:buFont typeface="Arial"/>
              <a:buChar char="•"/>
            </a:pPr>
            <a:r>
              <a:rPr lang="da-DK" sz="1500" dirty="0">
                <a:solidFill>
                  <a:schemeClr val="bg1"/>
                </a:solidFill>
                <a:latin typeface="Arial" panose="020B0604020202020204" pitchFamily="34" charset="0"/>
                <a:cs typeface="Arial" panose="020B0604020202020204" pitchFamily="34" charset="0"/>
              </a:rPr>
              <a:t>Bugge, M. (2023, May 24). Eksperts værste AI-frygt er blevet til virkelighed: Snapchat-</a:t>
            </a:r>
            <a:r>
              <a:rPr lang="da-DK" sz="1500" dirty="0" err="1">
                <a:solidFill>
                  <a:schemeClr val="bg1"/>
                </a:solidFill>
                <a:latin typeface="Arial" panose="020B0604020202020204" pitchFamily="34" charset="0"/>
                <a:cs typeface="Arial" panose="020B0604020202020204" pitchFamily="34" charset="0"/>
              </a:rPr>
              <a:t>bot</a:t>
            </a:r>
            <a:r>
              <a:rPr lang="da-DK" sz="1500" dirty="0">
                <a:solidFill>
                  <a:schemeClr val="bg1"/>
                </a:solidFill>
                <a:latin typeface="Arial" panose="020B0604020202020204" pitchFamily="34" charset="0"/>
                <a:cs typeface="Arial" panose="020B0604020202020204" pitchFamily="34" charset="0"/>
              </a:rPr>
              <a:t> giver børn detaljerede råd om at selvskade. DR Teknologi. </a:t>
            </a:r>
            <a:r>
              <a:rPr lang="da-DK" sz="1500" u="sng" dirty="0">
                <a:solidFill>
                  <a:schemeClr val="bg1"/>
                </a:solidFill>
                <a:latin typeface="Arial" panose="020B0604020202020204" pitchFamily="34" charset="0"/>
                <a:cs typeface="Arial" panose="020B0604020202020204" pitchFamily="34" charset="0"/>
                <a:hlinkClick r:id="rId3"/>
              </a:rPr>
              <a:t>https://www.dr.dk/nyheder/viden/teknologi/eksperts-vaerste-ai-frygt-er-blevet-til-virkelighed-snapchat-bot-giver-boern</a:t>
            </a:r>
            <a:endParaRPr lang="da-DK" sz="1500" dirty="0">
              <a:solidFill>
                <a:schemeClr val="bg1"/>
              </a:solidFill>
              <a:latin typeface="Arial" panose="020B0604020202020204" pitchFamily="34" charset="0"/>
              <a:cs typeface="Arial" panose="020B0604020202020204" pitchFamily="34" charset="0"/>
            </a:endParaRPr>
          </a:p>
          <a:p>
            <a:pPr marL="171450" indent="-171450">
              <a:spcBef>
                <a:spcPts val="751"/>
              </a:spcBef>
              <a:buClr>
                <a:srgbClr val="000000"/>
              </a:buClr>
              <a:buFont typeface="Arial"/>
              <a:buChar char="•"/>
            </a:pPr>
            <a:r>
              <a:rPr lang="da-DK" sz="1500" dirty="0" err="1">
                <a:solidFill>
                  <a:schemeClr val="bg1"/>
                </a:solidFill>
                <a:latin typeface="Arial" panose="020B0604020202020204" pitchFamily="34" charset="0"/>
                <a:cs typeface="Arial" panose="020B0604020202020204" pitchFamily="34" charset="0"/>
              </a:rPr>
              <a:t>Welbl</a:t>
            </a:r>
            <a:r>
              <a:rPr lang="da-DK" sz="1500" dirty="0">
                <a:solidFill>
                  <a:schemeClr val="bg1"/>
                </a:solidFill>
                <a:latin typeface="Arial" panose="020B0604020202020204" pitchFamily="34" charset="0"/>
                <a:cs typeface="Arial" panose="020B0604020202020204" pitchFamily="34" charset="0"/>
              </a:rPr>
              <a:t>, J., </a:t>
            </a:r>
            <a:r>
              <a:rPr lang="da-DK" sz="1500" dirty="0" err="1">
                <a:solidFill>
                  <a:schemeClr val="bg1"/>
                </a:solidFill>
                <a:latin typeface="Arial" panose="020B0604020202020204" pitchFamily="34" charset="0"/>
                <a:cs typeface="Arial" panose="020B0604020202020204" pitchFamily="34" charset="0"/>
              </a:rPr>
              <a:t>Glaese</a:t>
            </a:r>
            <a:r>
              <a:rPr lang="da-DK" sz="1500" dirty="0">
                <a:solidFill>
                  <a:schemeClr val="bg1"/>
                </a:solidFill>
                <a:latin typeface="Arial" panose="020B0604020202020204" pitchFamily="34" charset="0"/>
                <a:cs typeface="Arial" panose="020B0604020202020204" pitchFamily="34" charset="0"/>
              </a:rPr>
              <a:t>, A., </a:t>
            </a:r>
            <a:r>
              <a:rPr lang="da-DK" sz="1500" dirty="0" err="1">
                <a:solidFill>
                  <a:schemeClr val="bg1"/>
                </a:solidFill>
                <a:latin typeface="Arial" panose="020B0604020202020204" pitchFamily="34" charset="0"/>
                <a:cs typeface="Arial" panose="020B0604020202020204" pitchFamily="34" charset="0"/>
              </a:rPr>
              <a:t>Uesato</a:t>
            </a:r>
            <a:r>
              <a:rPr lang="da-DK" sz="1500" dirty="0">
                <a:solidFill>
                  <a:schemeClr val="bg1"/>
                </a:solidFill>
                <a:latin typeface="Arial" panose="020B0604020202020204" pitchFamily="34" charset="0"/>
                <a:cs typeface="Arial" panose="020B0604020202020204" pitchFamily="34" charset="0"/>
              </a:rPr>
              <a:t>, J., </a:t>
            </a:r>
            <a:r>
              <a:rPr lang="da-DK" sz="1500" dirty="0" err="1">
                <a:solidFill>
                  <a:schemeClr val="bg1"/>
                </a:solidFill>
                <a:latin typeface="Arial" panose="020B0604020202020204" pitchFamily="34" charset="0"/>
                <a:cs typeface="Arial" panose="020B0604020202020204" pitchFamily="34" charset="0"/>
              </a:rPr>
              <a:t>Dathathri</a:t>
            </a:r>
            <a:r>
              <a:rPr lang="da-DK" sz="1500" dirty="0">
                <a:solidFill>
                  <a:schemeClr val="bg1"/>
                </a:solidFill>
                <a:latin typeface="Arial" panose="020B0604020202020204" pitchFamily="34" charset="0"/>
                <a:cs typeface="Arial" panose="020B0604020202020204" pitchFamily="34" charset="0"/>
              </a:rPr>
              <a:t>, S., </a:t>
            </a:r>
            <a:r>
              <a:rPr lang="da-DK" sz="1500" dirty="0" err="1">
                <a:solidFill>
                  <a:schemeClr val="bg1"/>
                </a:solidFill>
                <a:latin typeface="Arial" panose="020B0604020202020204" pitchFamily="34" charset="0"/>
                <a:cs typeface="Arial" panose="020B0604020202020204" pitchFamily="34" charset="0"/>
              </a:rPr>
              <a:t>Mellor</a:t>
            </a:r>
            <a:r>
              <a:rPr lang="da-DK" sz="1500" dirty="0">
                <a:solidFill>
                  <a:schemeClr val="bg1"/>
                </a:solidFill>
                <a:latin typeface="Arial" panose="020B0604020202020204" pitchFamily="34" charset="0"/>
                <a:cs typeface="Arial" panose="020B0604020202020204" pitchFamily="34" charset="0"/>
              </a:rPr>
              <a:t>, J., Hendricks, L. A., Anderson, K., </a:t>
            </a:r>
            <a:r>
              <a:rPr lang="da-DK" sz="1500" dirty="0" err="1">
                <a:solidFill>
                  <a:schemeClr val="bg1"/>
                </a:solidFill>
                <a:latin typeface="Arial" panose="020B0604020202020204" pitchFamily="34" charset="0"/>
                <a:cs typeface="Arial" panose="020B0604020202020204" pitchFamily="34" charset="0"/>
              </a:rPr>
              <a:t>Kohli</a:t>
            </a:r>
            <a:r>
              <a:rPr lang="da-DK" sz="1500" dirty="0">
                <a:solidFill>
                  <a:schemeClr val="bg1"/>
                </a:solidFill>
                <a:latin typeface="Arial" panose="020B0604020202020204" pitchFamily="34" charset="0"/>
                <a:cs typeface="Arial" panose="020B0604020202020204" pitchFamily="34" charset="0"/>
              </a:rPr>
              <a:t>, P., </a:t>
            </a:r>
            <a:r>
              <a:rPr lang="da-DK" sz="1500" dirty="0" err="1">
                <a:solidFill>
                  <a:schemeClr val="bg1"/>
                </a:solidFill>
                <a:latin typeface="Arial" panose="020B0604020202020204" pitchFamily="34" charset="0"/>
                <a:cs typeface="Arial" panose="020B0604020202020204" pitchFamily="34" charset="0"/>
              </a:rPr>
              <a:t>Coppin</a:t>
            </a:r>
            <a:r>
              <a:rPr lang="da-DK" sz="1500" dirty="0">
                <a:solidFill>
                  <a:schemeClr val="bg1"/>
                </a:solidFill>
                <a:latin typeface="Arial" panose="020B0604020202020204" pitchFamily="34" charset="0"/>
                <a:cs typeface="Arial" panose="020B0604020202020204" pitchFamily="34" charset="0"/>
              </a:rPr>
              <a:t>, B., &amp; Huang, P-S. (2021). Challenges in </a:t>
            </a:r>
            <a:r>
              <a:rPr lang="da-DK" sz="1500" dirty="0" err="1">
                <a:solidFill>
                  <a:schemeClr val="bg1"/>
                </a:solidFill>
                <a:latin typeface="Arial" panose="020B0604020202020204" pitchFamily="34" charset="0"/>
                <a:cs typeface="Arial" panose="020B0604020202020204" pitchFamily="34" charset="0"/>
              </a:rPr>
              <a:t>Detoxifying</a:t>
            </a:r>
            <a:r>
              <a:rPr lang="da-DK" sz="1500" dirty="0">
                <a:solidFill>
                  <a:schemeClr val="bg1"/>
                </a:solidFill>
                <a:latin typeface="Arial" panose="020B0604020202020204" pitchFamily="34" charset="0"/>
                <a:cs typeface="Arial" panose="020B0604020202020204" pitchFamily="34" charset="0"/>
              </a:rPr>
              <a:t> Language Models. </a:t>
            </a:r>
            <a:r>
              <a:rPr lang="da-DK" sz="1500" dirty="0" err="1">
                <a:solidFill>
                  <a:schemeClr val="bg1"/>
                </a:solidFill>
                <a:latin typeface="Arial" panose="020B0604020202020204" pitchFamily="34" charset="0"/>
                <a:cs typeface="Arial" panose="020B0604020202020204" pitchFamily="34" charset="0"/>
              </a:rPr>
              <a:t>arXiv</a:t>
            </a:r>
            <a:r>
              <a:rPr lang="da-DK" sz="1500" dirty="0">
                <a:solidFill>
                  <a:schemeClr val="bg1"/>
                </a:solidFill>
                <a:latin typeface="Arial" panose="020B0604020202020204" pitchFamily="34" charset="0"/>
                <a:cs typeface="Arial" panose="020B0604020202020204" pitchFamily="34" charset="0"/>
              </a:rPr>
              <a:t> </a:t>
            </a:r>
            <a:r>
              <a:rPr lang="da-DK" sz="1500" dirty="0" err="1">
                <a:solidFill>
                  <a:schemeClr val="bg1"/>
                </a:solidFill>
                <a:latin typeface="Arial" panose="020B0604020202020204" pitchFamily="34" charset="0"/>
                <a:cs typeface="Arial" panose="020B0604020202020204" pitchFamily="34" charset="0"/>
              </a:rPr>
              <a:t>preprint</a:t>
            </a:r>
            <a:r>
              <a:rPr lang="da-DK" sz="1500" dirty="0">
                <a:solidFill>
                  <a:schemeClr val="bg1"/>
                </a:solidFill>
                <a:latin typeface="Arial" panose="020B0604020202020204" pitchFamily="34" charset="0"/>
                <a:cs typeface="Arial" panose="020B0604020202020204" pitchFamily="34" charset="0"/>
              </a:rPr>
              <a:t>. </a:t>
            </a:r>
            <a:r>
              <a:rPr lang="da-DK" sz="1500" u="sng" dirty="0">
                <a:solidFill>
                  <a:schemeClr val="bg1"/>
                </a:solidFill>
                <a:latin typeface="Arial" panose="020B0604020202020204" pitchFamily="34" charset="0"/>
                <a:cs typeface="Arial" panose="020B0604020202020204" pitchFamily="34" charset="0"/>
                <a:hlinkClick r:id="rId4"/>
              </a:rPr>
              <a:t>https://arxiv.org/abs/2109.07445</a:t>
            </a:r>
            <a:endParaRPr lang="da-DK" sz="1500" dirty="0">
              <a:solidFill>
                <a:schemeClr val="bg1"/>
              </a:solidFill>
              <a:latin typeface="Arial" panose="020B0604020202020204" pitchFamily="34" charset="0"/>
              <a:cs typeface="Arial" panose="020B0604020202020204" pitchFamily="34" charset="0"/>
            </a:endParaRPr>
          </a:p>
        </p:txBody>
      </p:sp>
      <p:sp>
        <p:nvSpPr>
          <p:cNvPr id="509"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dirty="0">
                <a:solidFill>
                  <a:schemeClr val="bg1"/>
                </a:solidFill>
                <a:latin typeface="Arial" panose="020B0604020202020204" pitchFamily="34" charset="0"/>
                <a:cs typeface="Arial" panose="020B0604020202020204" pitchFamily="34" charset="0"/>
              </a:rPr>
              <a:t>Kilder til </a:t>
            </a:r>
            <a:r>
              <a:rPr lang="da-DK" sz="3000" b="1" i="1" dirty="0" err="1">
                <a:solidFill>
                  <a:schemeClr val="bg1"/>
                </a:solidFill>
                <a:latin typeface="Arial" panose="020B0604020202020204" pitchFamily="34" charset="0"/>
                <a:cs typeface="Arial" panose="020B0604020202020204" pitchFamily="34" charset="0"/>
              </a:rPr>
              <a:t>guardrails</a:t>
            </a:r>
            <a:endParaRPr lang="da-DK" sz="3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5547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da-DK" sz="1500">
                <a:solidFill>
                  <a:srgbClr val="000000"/>
                </a:solidFill>
                <a:latin typeface="Proxima Nova Alt Rg"/>
              </a:rPr>
              <a:t>Gehman, S., Gururangan, S., Sap, M., Choi, Y., &amp; Smith, N. A. (2020). RealToxicityPrompts: Evaluating Neural Toxic Degeneration in Language Models. arXiv preprint. </a:t>
            </a:r>
            <a:r>
              <a:rPr lang="da-DK" sz="1500" u="sng">
                <a:solidFill>
                  <a:srgbClr val="0563C1"/>
                </a:solidFill>
                <a:latin typeface="Proxima Nova Alt Rg"/>
                <a:hlinkClick r:id="rId2"/>
              </a:rPr>
              <a:t>https://arxiv.org/abs/2009.11462</a:t>
            </a:r>
            <a:endParaRPr lang="da-DK" sz="1500">
              <a:solidFill>
                <a:srgbClr val="000000"/>
              </a:solidFill>
            </a:endParaRPr>
          </a:p>
          <a:p>
            <a:pPr marL="171450" indent="-171450">
              <a:spcBef>
                <a:spcPts val="751"/>
              </a:spcBef>
              <a:buClr>
                <a:srgbClr val="000000"/>
              </a:buClr>
              <a:buFont typeface="Arial"/>
              <a:buChar char="•"/>
            </a:pPr>
            <a:r>
              <a:rPr lang="da-DK" sz="1500">
                <a:solidFill>
                  <a:srgbClr val="000000"/>
                </a:solidFill>
                <a:latin typeface="Proxima Nova Alt Rg"/>
              </a:rPr>
              <a:t>Dong, Y., Mu, R., Jin, G., Qi, Y., Hu, J., Zhao, X., Meng, J., Ruan, W., &amp; Huang, X. (2024). Building Guardrails for Large Language Models. arXiv.org. </a:t>
            </a:r>
            <a:r>
              <a:rPr lang="da-DK" sz="1500" u="sng">
                <a:solidFill>
                  <a:srgbClr val="0563C1"/>
                </a:solidFill>
                <a:latin typeface="Proxima Nova Alt Rg"/>
                <a:hlinkClick r:id="rId3"/>
              </a:rPr>
              <a:t>https://arxiv.org/abs/2402.01822</a:t>
            </a:r>
            <a:endParaRPr lang="da-DK" sz="1500">
              <a:solidFill>
                <a:srgbClr val="000000"/>
              </a:solidFill>
            </a:endParaRPr>
          </a:p>
          <a:p>
            <a:pPr>
              <a:spcBef>
                <a:spcPts val="751"/>
              </a:spcBef>
            </a:pPr>
            <a:endParaRPr lang="da-DK" sz="1500">
              <a:solidFill>
                <a:srgbClr val="000000"/>
              </a:solidFill>
            </a:endParaRPr>
          </a:p>
        </p:txBody>
      </p:sp>
      <p:sp>
        <p:nvSpPr>
          <p:cNvPr id="511"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guardrails</a:t>
            </a:r>
            <a:endParaRPr lang="da-DK" sz="3000">
              <a:solidFill>
                <a:srgbClr val="000000"/>
              </a:solidFill>
            </a:endParaRPr>
          </a:p>
        </p:txBody>
      </p:sp>
    </p:spTree>
    <p:extLst>
      <p:ext uri="{BB962C8B-B14F-4D97-AF65-F5344CB8AC3E}">
        <p14:creationId xmlns:p14="http://schemas.microsoft.com/office/powerpoint/2010/main" val="532851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en-US" sz="1500">
                <a:solidFill>
                  <a:srgbClr val="000000"/>
                </a:solidFill>
                <a:latin typeface="Proxima Nova Alt Rg"/>
              </a:rPr>
              <a:t>Lee, T. B., &amp; Trott, S. (2023, Juli 31). A jargon-free explanation of how AI large language models work. Ars Technica. </a:t>
            </a:r>
            <a:r>
              <a:rPr lang="en-US" sz="1500" u="sng">
                <a:solidFill>
                  <a:srgbClr val="0563C1"/>
                </a:solidFill>
                <a:latin typeface="Proxima Nova Alt Rg"/>
                <a:hlinkClick r:id="rId2"/>
              </a:rPr>
              <a:t>https://arstechnica.com/science/2023/07/a-jargon-free-explanation-of-how-ai-large-language-models-work/</a:t>
            </a:r>
            <a:endParaRPr lang="da-DK" sz="1500">
              <a:solidFill>
                <a:srgbClr val="000000"/>
              </a:solidFill>
            </a:endParaRPr>
          </a:p>
          <a:p>
            <a:pPr marL="171450" indent="-171450">
              <a:spcBef>
                <a:spcPts val="751"/>
              </a:spcBef>
              <a:buClr>
                <a:srgbClr val="000000"/>
              </a:buClr>
              <a:buFont typeface="Arial"/>
              <a:buChar char="•"/>
            </a:pPr>
            <a:r>
              <a:rPr lang="en-US" sz="1500">
                <a:solidFill>
                  <a:srgbClr val="000000"/>
                </a:solidFill>
                <a:latin typeface="Proxima Nova Alt Rg"/>
              </a:rPr>
              <a:t>Gattupalli, S. (2024). The Art and Science of Promptgramming. ResearchGate.</a:t>
            </a:r>
            <a:r>
              <a:rPr lang="en-US" sz="1500">
                <a:solidFill>
                  <a:srgbClr val="BA302A"/>
                </a:solidFill>
                <a:latin typeface="Proxima Nova Alt Rg"/>
              </a:rPr>
              <a:t> </a:t>
            </a:r>
            <a:r>
              <a:rPr lang="en-US" sz="1500" u="sng">
                <a:solidFill>
                  <a:srgbClr val="0563C1"/>
                </a:solidFill>
                <a:latin typeface="Proxima Nova Alt Rg"/>
                <a:hlinkClick r:id="rId3"/>
              </a:rPr>
              <a:t>https://doi.org/10.7275/mk13-q340</a:t>
            </a:r>
            <a:endParaRPr lang="da-DK" sz="1500">
              <a:solidFill>
                <a:srgbClr val="000000"/>
              </a:solidFill>
            </a:endParaRPr>
          </a:p>
        </p:txBody>
      </p:sp>
      <p:sp>
        <p:nvSpPr>
          <p:cNvPr id="513"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Tokenizer, tokens og decoder</a:t>
            </a:r>
            <a:endParaRPr lang="da-DK" sz="3000">
              <a:solidFill>
                <a:srgbClr val="000000"/>
              </a:solidFill>
            </a:endParaRPr>
          </a:p>
        </p:txBody>
      </p:sp>
    </p:spTree>
    <p:extLst>
      <p:ext uri="{BB962C8B-B14F-4D97-AF65-F5344CB8AC3E}">
        <p14:creationId xmlns:p14="http://schemas.microsoft.com/office/powerpoint/2010/main" val="879537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en-US" sz="1500">
                <a:solidFill>
                  <a:srgbClr val="000000"/>
                </a:solidFill>
                <a:latin typeface="inherit"/>
              </a:rPr>
              <a:t>Lee, T. B., &amp; Trott, S. (2023, Juli 31). A jargon-free explanation of how AI large language models work. Ars Technica.  </a:t>
            </a:r>
            <a:r>
              <a:rPr lang="en-US" sz="1500" u="sng">
                <a:solidFill>
                  <a:srgbClr val="0563C1"/>
                </a:solidFill>
                <a:latin typeface="inherit"/>
                <a:hlinkClick r:id="rId2"/>
              </a:rPr>
              <a:t>https://arstechnica.com/science/2023/07/a-jargon-free-explanation-of-how-ai-large-language-models-work/</a:t>
            </a:r>
            <a:endParaRPr lang="da-DK" sz="1500">
              <a:solidFill>
                <a:srgbClr val="000000"/>
              </a:solidFill>
            </a:endParaRPr>
          </a:p>
          <a:p>
            <a:pPr marL="171450" indent="-171450">
              <a:spcBef>
                <a:spcPts val="751"/>
              </a:spcBef>
              <a:buClr>
                <a:srgbClr val="000000"/>
              </a:buClr>
              <a:buFont typeface="Arial"/>
              <a:buChar char="•"/>
            </a:pPr>
            <a:r>
              <a:rPr lang="en-US" sz="1500">
                <a:solidFill>
                  <a:srgbClr val="000000"/>
                </a:solidFill>
                <a:latin typeface="inherit"/>
              </a:rPr>
              <a:t>Croft, J. (2023, December 14). Strategies for Optimizing High-Volume Token Usage with Azure OpenAI. Microsoft Tech Community.</a:t>
            </a:r>
            <a:r>
              <a:rPr lang="en-US" sz="1500" u="sng">
                <a:solidFill>
                  <a:srgbClr val="0563C1"/>
                </a:solidFill>
                <a:latin typeface="inherit"/>
                <a:hlinkClick r:id="rId3"/>
              </a:rPr>
              <a:t> https://techcommunity.microsoft.com/t5/fasttrack-for-azure/strategies-for-optimizing-high-volume-token-usage-with-azure/ba-p/4007751</a:t>
            </a:r>
            <a:endParaRPr lang="da-DK" sz="1500">
              <a:solidFill>
                <a:srgbClr val="000000"/>
              </a:solidFill>
            </a:endParaRPr>
          </a:p>
          <a:p>
            <a:pPr marL="171450" indent="-171450">
              <a:spcBef>
                <a:spcPts val="751"/>
              </a:spcBef>
              <a:buClr>
                <a:srgbClr val="000000"/>
              </a:buClr>
              <a:buFont typeface="Arial"/>
              <a:buChar char="•"/>
            </a:pPr>
            <a:r>
              <a:rPr lang="en-US" sz="1500">
                <a:solidFill>
                  <a:srgbClr val="000000"/>
                </a:solidFill>
                <a:latin typeface="inherit"/>
              </a:rPr>
              <a:t>Mao, A. (2024, Januar 15). Large Language Model Settings: Temperature, Top P and Max Tokens. VectorShift. </a:t>
            </a:r>
            <a:r>
              <a:rPr lang="en-US" sz="1500" u="sng">
                <a:solidFill>
                  <a:srgbClr val="0563C1"/>
                </a:solidFill>
                <a:latin typeface="inherit"/>
                <a:hlinkClick r:id="rId4"/>
              </a:rPr>
              <a:t>https://www.vectorshift.ai/blog/large-language-model-settings-temperature-top-p-and-max-tokens</a:t>
            </a:r>
            <a:endParaRPr lang="da-DK" sz="1500">
              <a:solidFill>
                <a:srgbClr val="000000"/>
              </a:solidFill>
            </a:endParaRPr>
          </a:p>
        </p:txBody>
      </p:sp>
      <p:sp>
        <p:nvSpPr>
          <p:cNvPr id="515"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Context Window</a:t>
            </a:r>
            <a:endParaRPr lang="da-DK" sz="3000">
              <a:solidFill>
                <a:srgbClr val="000000"/>
              </a:solidFill>
            </a:endParaRPr>
          </a:p>
        </p:txBody>
      </p:sp>
    </p:spTree>
    <p:extLst>
      <p:ext uri="{BB962C8B-B14F-4D97-AF65-F5344CB8AC3E}">
        <p14:creationId xmlns:p14="http://schemas.microsoft.com/office/powerpoint/2010/main" val="2397310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en-US" sz="1500">
                <a:solidFill>
                  <a:srgbClr val="000000"/>
                </a:solidFill>
                <a:latin typeface="inherit"/>
              </a:rPr>
              <a:t>Shah, D. (2024, Februar 26). What Are AI Tokens and Context Windows (And Why Should You Care)? Simple AI. </a:t>
            </a:r>
            <a:r>
              <a:rPr lang="en-US" sz="1500" u="sng">
                <a:solidFill>
                  <a:srgbClr val="0563C1"/>
                </a:solidFill>
                <a:latin typeface="inherit"/>
                <a:hlinkClick r:id="rId2"/>
              </a:rPr>
              <a:t>https://simple.ai/p/tokens-and-context-windows</a:t>
            </a:r>
            <a:endParaRPr lang="da-DK" sz="1500">
              <a:solidFill>
                <a:srgbClr val="000000"/>
              </a:solidFill>
            </a:endParaRPr>
          </a:p>
          <a:p>
            <a:pPr marL="171450" indent="-171450">
              <a:spcBef>
                <a:spcPts val="751"/>
              </a:spcBef>
              <a:buClr>
                <a:srgbClr val="000000"/>
              </a:buClr>
              <a:buFont typeface="Arial"/>
              <a:buChar char="•"/>
            </a:pPr>
            <a:r>
              <a:rPr lang="en-US" sz="1500">
                <a:solidFill>
                  <a:srgbClr val="000000"/>
                </a:solidFill>
                <a:latin typeface="inherit"/>
              </a:rPr>
              <a:t>Kohn, R. (2023, Marts 21). Mastering Token Limits and Memory in ChatGPT and other Large Language Models. Medium. </a:t>
            </a:r>
            <a:r>
              <a:rPr lang="en-US" sz="1500" u="sng">
                <a:solidFill>
                  <a:srgbClr val="0563C1"/>
                </a:solidFill>
                <a:latin typeface="inherit"/>
                <a:hlinkClick r:id="rId3"/>
              </a:rPr>
              <a:t>https://medium.com/@russkohn/mastering-ai-token-limits-and-memory-ce920630349a</a:t>
            </a:r>
            <a:endParaRPr lang="da-DK" sz="1500">
              <a:solidFill>
                <a:srgbClr val="000000"/>
              </a:solidFill>
            </a:endParaRPr>
          </a:p>
          <a:p>
            <a:pPr marL="171450" indent="-171450">
              <a:spcBef>
                <a:spcPts val="751"/>
              </a:spcBef>
              <a:buClr>
                <a:srgbClr val="000000"/>
              </a:buClr>
              <a:buFont typeface="Arial"/>
              <a:buChar char="•"/>
            </a:pPr>
            <a:r>
              <a:rPr lang="en-US" sz="1500">
                <a:solidFill>
                  <a:srgbClr val="000000"/>
                </a:solidFill>
                <a:latin typeface="inherit"/>
              </a:rPr>
              <a:t>Timothy, M. (2023, Oktober 13). Do ChatGPT Responses Have a Character or Word Limit? MakeUseOf. </a:t>
            </a:r>
            <a:r>
              <a:rPr lang="en-US" sz="1500" u="sng">
                <a:solidFill>
                  <a:srgbClr val="0563C1"/>
                </a:solidFill>
                <a:latin typeface="inherit"/>
                <a:hlinkClick r:id="rId4"/>
              </a:rPr>
              <a:t>https://www.makeuseof.com/do-chatgpt-responses-have-character-or-word-limit/</a:t>
            </a:r>
            <a:endParaRPr lang="da-DK" sz="1500">
              <a:solidFill>
                <a:srgbClr val="000000"/>
              </a:solidFill>
            </a:endParaRPr>
          </a:p>
        </p:txBody>
      </p:sp>
      <p:sp>
        <p:nvSpPr>
          <p:cNvPr id="517"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Context Window</a:t>
            </a:r>
            <a:endParaRPr lang="da-DK" sz="3000">
              <a:solidFill>
                <a:srgbClr val="000000"/>
              </a:solidFill>
            </a:endParaRPr>
          </a:p>
        </p:txBody>
      </p:sp>
    </p:spTree>
    <p:extLst>
      <p:ext uri="{BB962C8B-B14F-4D97-AF65-F5344CB8AC3E}">
        <p14:creationId xmlns:p14="http://schemas.microsoft.com/office/powerpoint/2010/main" val="1925219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da-DK" sz="1800">
                <a:solidFill>
                  <a:srgbClr val="000000"/>
                </a:solidFill>
                <a:latin typeface="Proxima Nova Alt Rg"/>
              </a:rPr>
              <a:t>Jensen, T. (2024 Marts). Sprogmodeller for Dummies: En intuitiv introduktion til teknologien bag ChatGPT. Københavns Professionshøjskole. </a:t>
            </a:r>
            <a:r>
              <a:rPr lang="da-DK" sz="1800" u="sng">
                <a:solidFill>
                  <a:srgbClr val="0563C1"/>
                </a:solidFill>
                <a:latin typeface="Proxima Nova Alt Rg"/>
                <a:hlinkClick r:id="rId2"/>
              </a:rPr>
              <a:t>https://it-torvet.dk/wp-content/uploads/2024/03/sprogmodeller-for-dummies.pdf</a:t>
            </a:r>
            <a:r>
              <a:rPr lang="da-DK" sz="1800">
                <a:latin typeface="Proxima Nova Alt Rg"/>
              </a:rPr>
              <a:t> </a:t>
            </a:r>
            <a:endParaRPr lang="da-DK" sz="1800">
              <a:solidFill>
                <a:srgbClr val="000000"/>
              </a:solidFill>
            </a:endParaRPr>
          </a:p>
          <a:p>
            <a:pPr marL="171450" indent="-171450">
              <a:spcBef>
                <a:spcPts val="751"/>
              </a:spcBef>
              <a:buFont typeface="Arial"/>
              <a:buChar char="•"/>
            </a:pPr>
            <a:r>
              <a:rPr lang="en-US" sz="1800">
                <a:latin typeface="Proxima Nova Alt Rg"/>
              </a:rPr>
              <a:t>Suri, G., Slater, L. R., Ziaee, A., &amp; Nguyen, M. (2023). Do Large Language Models Show Decision Heuristics Similar to Humans? A Case Study Using GPT-3.5. </a:t>
            </a:r>
            <a:r>
              <a:rPr lang="en-US" sz="1800" u="sng">
                <a:latin typeface="Proxima Nova Alt Rg"/>
              </a:rPr>
              <a:t>https://arxiv.org/abs/2305.04400</a:t>
            </a:r>
            <a:endParaRPr lang="da-DK" sz="1800">
              <a:solidFill>
                <a:srgbClr val="000000"/>
              </a:solidFill>
            </a:endParaRPr>
          </a:p>
        </p:txBody>
      </p:sp>
      <p:sp>
        <p:nvSpPr>
          <p:cNvPr id="521"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prompts</a:t>
            </a:r>
            <a:endParaRPr lang="da-DK" sz="3000">
              <a:solidFill>
                <a:srgbClr val="000000"/>
              </a:solidFill>
            </a:endParaRPr>
          </a:p>
        </p:txBody>
      </p:sp>
    </p:spTree>
    <p:extLst>
      <p:ext uri="{BB962C8B-B14F-4D97-AF65-F5344CB8AC3E}">
        <p14:creationId xmlns:p14="http://schemas.microsoft.com/office/powerpoint/2010/main" val="19705947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Font typeface="Arial"/>
              <a:buChar char="•"/>
            </a:pPr>
            <a:r>
              <a:rPr lang="en-US" sz="1800">
                <a:latin typeface="Proxima Nova Alt Rg"/>
              </a:rPr>
              <a:t>Bender, E. M., Gebru, T., McMillan-Major, A., &amp; Shmitchell, S. (2021). On the dangers of stochastic parrots: Can language models be too big? In Proceedings of the 2021 ACM Conference on Fairness, Accountability, and Transparency (FAccT '21), March 3–10, 2021, Virtual Event, Canada. ACM, New York, NY, USA. </a:t>
            </a:r>
            <a:r>
              <a:rPr lang="en-US" sz="1800" u="sng">
                <a:solidFill>
                  <a:srgbClr val="0563C1"/>
                </a:solidFill>
                <a:latin typeface="Proxima Nova Alt Rg"/>
                <a:hlinkClick r:id="rId2"/>
              </a:rPr>
              <a:t>https://doi.org/10.1145/3442188.3445922 </a:t>
            </a:r>
            <a:endParaRPr lang="da-DK" sz="1800">
              <a:solidFill>
                <a:srgbClr val="000000"/>
              </a:solidFill>
            </a:endParaRPr>
          </a:p>
        </p:txBody>
      </p:sp>
      <p:sp>
        <p:nvSpPr>
          <p:cNvPr id="523"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i="1">
                <a:latin typeface="Proxima Nova Alt Rg"/>
              </a:rPr>
              <a:t>Kilder til prompts</a:t>
            </a:r>
            <a:endParaRPr lang="da-DK" sz="3000">
              <a:solidFill>
                <a:srgbClr val="000000"/>
              </a:solidFill>
            </a:endParaRPr>
          </a:p>
        </p:txBody>
      </p:sp>
    </p:spTree>
    <p:extLst>
      <p:ext uri="{BB962C8B-B14F-4D97-AF65-F5344CB8AC3E}">
        <p14:creationId xmlns:p14="http://schemas.microsoft.com/office/powerpoint/2010/main" val="28545608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Clr>
                <a:srgbClr val="000000"/>
              </a:buClr>
              <a:buFont typeface="Arial"/>
              <a:buChar char="•"/>
            </a:pPr>
            <a:r>
              <a:rPr lang="en-US" sz="1800">
                <a:solidFill>
                  <a:srgbClr val="000000"/>
                </a:solidFill>
                <a:latin typeface="Proxima Nova Alt Rg"/>
              </a:rPr>
              <a:t>Damji, J. (2024 Februar 12.). Best prompt techniques for best LLM responses. Medium. </a:t>
            </a:r>
            <a:r>
              <a:rPr lang="en-US" sz="1800" u="sng">
                <a:solidFill>
                  <a:srgbClr val="0563C1"/>
                </a:solidFill>
                <a:latin typeface="Proxima Nova Alt Rg"/>
                <a:hlinkClick r:id="rId2"/>
              </a:rPr>
              <a:t>https://medium.com/the-modern-scientist/best-prompt-techniques-for-best-llm-responses-24d2ff4f6bca</a:t>
            </a:r>
            <a:endParaRPr lang="da-DK" sz="1800">
              <a:solidFill>
                <a:srgbClr val="000000"/>
              </a:solidFill>
            </a:endParaRPr>
          </a:p>
          <a:p>
            <a:pPr marL="171450" indent="-171450">
              <a:spcBef>
                <a:spcPts val="751"/>
              </a:spcBef>
              <a:buFont typeface="Arial"/>
              <a:buChar char="•"/>
            </a:pPr>
            <a:r>
              <a:rPr lang="en-US" sz="1800">
                <a:latin typeface="Proxima Nova Alt Rg"/>
              </a:rPr>
              <a:t>Wikipedia contributors. (n.d.). Prompt engineering. In Wikipedia. Retrieved April 16, 2024, from </a:t>
            </a:r>
            <a:r>
              <a:rPr lang="en-US" sz="1800" u="sng">
                <a:solidFill>
                  <a:srgbClr val="0563C1"/>
                </a:solidFill>
                <a:latin typeface="Proxima Nova Alt Rg"/>
                <a:hlinkClick r:id="rId3"/>
              </a:rPr>
              <a:t>https://en.wikipedia.org/wiki/Prompt_engineering</a:t>
            </a:r>
            <a:endParaRPr lang="da-DK" sz="1800">
              <a:solidFill>
                <a:srgbClr val="000000"/>
              </a:solidFill>
            </a:endParaRPr>
          </a:p>
        </p:txBody>
      </p:sp>
      <p:sp>
        <p:nvSpPr>
          <p:cNvPr id="525"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a:solidFill>
                  <a:srgbClr val="000000"/>
                </a:solidFill>
                <a:latin typeface="inherit"/>
              </a:rPr>
              <a:t>Kilder til hvorfor prompts er vigtige</a:t>
            </a:r>
            <a:br>
              <a:rPr sz="3000"/>
            </a:br>
            <a:br>
              <a:rPr sz="3000"/>
            </a:br>
            <a:endParaRPr lang="da-DK" sz="3000">
              <a:solidFill>
                <a:srgbClr val="000000"/>
              </a:solidFill>
            </a:endParaRPr>
          </a:p>
        </p:txBody>
      </p:sp>
      <p:sp>
        <p:nvSpPr>
          <p:cNvPr id="526" name="Rectangle 3"/>
          <p:cNvSpPr/>
          <p:nvPr/>
        </p:nvSpPr>
        <p:spPr>
          <a:xfrm>
            <a:off x="0" y="-104549"/>
            <a:ext cx="65" cy="207749"/>
          </a:xfrm>
          <a:prstGeom prst="rect">
            <a:avLst/>
          </a:prstGeom>
          <a:solidFill>
            <a:srgbClr val="FAFAFA"/>
          </a:solidFill>
          <a:ln w="0">
            <a:noFill/>
          </a:ln>
        </p:spPr>
        <p:style>
          <a:lnRef idx="0">
            <a:scrgbClr r="0" g="0" b="0"/>
          </a:lnRef>
          <a:fillRef idx="0">
            <a:scrgbClr r="0" g="0" b="0"/>
          </a:fillRef>
          <a:effectRef idx="0">
            <a:scrgbClr r="0" g="0" b="0"/>
          </a:effectRef>
          <a:fontRef idx="minor"/>
        </p:style>
        <p:txBody>
          <a:bodyPr wrap="none" lIns="0" tIns="0" rIns="0" bIns="0" numCol="1" spcCol="0" anchor="ctr">
            <a:spAutoFit/>
          </a:bodyPr>
          <a:lstStyle/>
          <a:p>
            <a:pPr defTabSz="685800">
              <a:tabLst>
                <a:tab pos="0" algn="l"/>
              </a:tabLst>
            </a:pPr>
            <a:endParaRPr lang="da-DK" sz="1350">
              <a:solidFill>
                <a:schemeClr val="dk1"/>
              </a:solidFill>
              <a:latin typeface="Arial"/>
            </a:endParaRPr>
          </a:p>
        </p:txBody>
      </p:sp>
    </p:spTree>
    <p:extLst>
      <p:ext uri="{BB962C8B-B14F-4D97-AF65-F5344CB8AC3E}">
        <p14:creationId xmlns:p14="http://schemas.microsoft.com/office/powerpoint/2010/main" val="41110350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PlaceHolder 1"/>
          <p:cNvSpPr>
            <a:spLocks noGrp="1"/>
          </p:cNvSpPr>
          <p:nvPr>
            <p:ph type="body"/>
          </p:nvPr>
        </p:nvSpPr>
        <p:spPr>
          <a:xfrm>
            <a:off x="628560" y="1893510"/>
            <a:ext cx="6876630" cy="2182680"/>
          </a:xfrm>
          <a:prstGeom prst="rect">
            <a:avLst/>
          </a:prstGeom>
          <a:noFill/>
          <a:ln w="0">
            <a:noFill/>
          </a:ln>
        </p:spPr>
        <p:txBody>
          <a:bodyPr spcFirstLastPara="1" wrap="square" lIns="68580" tIns="34290" rIns="68580" bIns="34290" anchor="t" anchorCtr="0">
            <a:noAutofit/>
          </a:bodyPr>
          <a:lstStyle/>
          <a:p>
            <a:pPr marL="171450" indent="-171450">
              <a:spcBef>
                <a:spcPts val="751"/>
              </a:spcBef>
              <a:buFont typeface="Arial"/>
              <a:buChar char="•"/>
            </a:pPr>
            <a:r>
              <a:rPr lang="da-DK" sz="1800">
                <a:latin typeface="Proxima Nova Alt Rg"/>
              </a:rPr>
              <a:t>Wikipedia contributors. (n.d.). Natural-language programming. In Wikipedia. Retrieved April 16, 2024, from </a:t>
            </a:r>
            <a:r>
              <a:rPr lang="da-DK" sz="1800" u="sng">
                <a:solidFill>
                  <a:srgbClr val="0563C1"/>
                </a:solidFill>
                <a:latin typeface="Proxima Nova Alt Rg"/>
                <a:hlinkClick r:id="rId2"/>
              </a:rPr>
              <a:t>https://en.wikipedia.org/wiki/Natural-language_programming</a:t>
            </a:r>
            <a:endParaRPr lang="da-DK" sz="1800">
              <a:solidFill>
                <a:srgbClr val="000000"/>
              </a:solidFill>
            </a:endParaRPr>
          </a:p>
          <a:p>
            <a:pPr marL="171450" indent="-171450">
              <a:spcBef>
                <a:spcPts val="751"/>
              </a:spcBef>
              <a:buFont typeface="Arial"/>
              <a:buChar char="•"/>
            </a:pPr>
            <a:r>
              <a:rPr lang="da-DK" sz="1800">
                <a:latin typeface="Proxima Nova Alt Rg"/>
              </a:rPr>
              <a:t>Mirzaei-Fard, M. &amp; Moltke, H. (Værter). (2023, Februar 8). Apple Vision Pro og techbossernes dag i retten [Lyd podcast-episode]. Prompt. </a:t>
            </a:r>
            <a:r>
              <a:rPr lang="da-DK" sz="1800" u="sng">
                <a:solidFill>
                  <a:srgbClr val="0563C1"/>
                </a:solidFill>
                <a:latin typeface="Proxima Nova Alt Rg"/>
                <a:hlinkClick r:id="rId3"/>
              </a:rPr>
              <a:t>https://www.dr.dk/lyd/special-radio/prompt/prompt-2024/prompt-apples-dyre-skibriller-dating-app-klarer-dine-chats-og-tech-bosser-grillet-igen-igen-11802421005</a:t>
            </a:r>
            <a:endParaRPr lang="da-DK" sz="1800">
              <a:solidFill>
                <a:srgbClr val="000000"/>
              </a:solidFill>
            </a:endParaRPr>
          </a:p>
        </p:txBody>
      </p:sp>
      <p:sp>
        <p:nvSpPr>
          <p:cNvPr id="528" name="PlaceHolder 2"/>
          <p:cNvSpPr>
            <a:spLocks noGrp="1"/>
          </p:cNvSpPr>
          <p:nvPr>
            <p:ph type="title"/>
          </p:nvPr>
        </p:nvSpPr>
        <p:spPr>
          <a:prstGeom prst="rect">
            <a:avLst/>
          </a:prstGeom>
          <a:noFill/>
          <a:ln w="0">
            <a:noFill/>
          </a:ln>
        </p:spPr>
        <p:txBody>
          <a:bodyPr spcFirstLastPara="1" wrap="square" lIns="68580" tIns="34290" rIns="68580" bIns="34290" anchor="t" anchorCtr="0">
            <a:noAutofit/>
          </a:bodyPr>
          <a:lstStyle/>
          <a:p>
            <a:r>
              <a:rPr lang="da-DK" sz="3000" b="1">
                <a:solidFill>
                  <a:srgbClr val="000000"/>
                </a:solidFill>
                <a:latin typeface="inherit"/>
              </a:rPr>
              <a:t>Kilder til hvorfor prompts er vigtige</a:t>
            </a:r>
            <a:br>
              <a:rPr sz="3000"/>
            </a:br>
            <a:br>
              <a:rPr sz="3000"/>
            </a:br>
            <a:endParaRPr lang="da-DK" sz="3000">
              <a:solidFill>
                <a:srgbClr val="000000"/>
              </a:solidFill>
            </a:endParaRPr>
          </a:p>
        </p:txBody>
      </p:sp>
      <p:sp>
        <p:nvSpPr>
          <p:cNvPr id="529" name="Rectangle 3"/>
          <p:cNvSpPr/>
          <p:nvPr/>
        </p:nvSpPr>
        <p:spPr>
          <a:xfrm>
            <a:off x="0" y="-104549"/>
            <a:ext cx="65" cy="207749"/>
          </a:xfrm>
          <a:prstGeom prst="rect">
            <a:avLst/>
          </a:prstGeom>
          <a:solidFill>
            <a:srgbClr val="FAFAFA"/>
          </a:solidFill>
          <a:ln w="0">
            <a:noFill/>
          </a:ln>
        </p:spPr>
        <p:style>
          <a:lnRef idx="0">
            <a:scrgbClr r="0" g="0" b="0"/>
          </a:lnRef>
          <a:fillRef idx="0">
            <a:scrgbClr r="0" g="0" b="0"/>
          </a:fillRef>
          <a:effectRef idx="0">
            <a:scrgbClr r="0" g="0" b="0"/>
          </a:effectRef>
          <a:fontRef idx="minor"/>
        </p:style>
        <p:txBody>
          <a:bodyPr wrap="none" lIns="0" tIns="0" rIns="0" bIns="0" numCol="1" spcCol="0" anchor="ctr">
            <a:spAutoFit/>
          </a:bodyPr>
          <a:lstStyle/>
          <a:p>
            <a:pPr defTabSz="685800">
              <a:tabLst>
                <a:tab pos="0" algn="l"/>
              </a:tabLst>
            </a:pPr>
            <a:endParaRPr lang="da-DK" sz="1350">
              <a:solidFill>
                <a:schemeClr val="dk1"/>
              </a:solidFill>
              <a:latin typeface="Arial"/>
            </a:endParaRPr>
          </a:p>
        </p:txBody>
      </p:sp>
    </p:spTree>
    <p:extLst>
      <p:ext uri="{BB962C8B-B14F-4D97-AF65-F5344CB8AC3E}">
        <p14:creationId xmlns:p14="http://schemas.microsoft.com/office/powerpoint/2010/main" val="3445969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2E6-17D8-1FA3-61D4-7AFA30C0DB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0DB9E5-88B4-1FD4-9B02-0F1564B301C9}"/>
              </a:ext>
            </a:extLst>
          </p:cNvPr>
          <p:cNvSpPr>
            <a:spLocks noGrp="1"/>
          </p:cNvSpPr>
          <p:nvPr>
            <p:ph type="ctrTitle"/>
          </p:nvPr>
        </p:nvSpPr>
        <p:spPr>
          <a:xfrm>
            <a:off x="1164957" y="540689"/>
            <a:ext cx="6829800" cy="910159"/>
          </a:xfrm>
        </p:spPr>
        <p:txBody>
          <a:bodyPr/>
          <a:lstStyle/>
          <a:p>
            <a:r>
              <a:rPr lang="da-DK" dirty="0"/>
              <a:t>SKABELONER</a:t>
            </a:r>
          </a:p>
        </p:txBody>
      </p:sp>
      <p:sp>
        <p:nvSpPr>
          <p:cNvPr id="5" name="Undertitel 4">
            <a:extLst>
              <a:ext uri="{FF2B5EF4-FFF2-40B4-BE49-F238E27FC236}">
                <a16:creationId xmlns:a16="http://schemas.microsoft.com/office/drawing/2014/main" id="{2DFED608-55A8-F3E9-4E92-284095536D4D}"/>
              </a:ext>
            </a:extLst>
          </p:cNvPr>
          <p:cNvSpPr>
            <a:spLocks noGrp="1"/>
          </p:cNvSpPr>
          <p:nvPr>
            <p:ph type="subTitle" idx="1"/>
          </p:nvPr>
        </p:nvSpPr>
        <p:spPr/>
        <p:txBody>
          <a:bodyPr/>
          <a:lstStyle/>
          <a:p>
            <a:endParaRPr lang="da-DK" dirty="0"/>
          </a:p>
        </p:txBody>
      </p:sp>
      <p:sp>
        <p:nvSpPr>
          <p:cNvPr id="6" name="Pladsholder til indhold 2">
            <a:extLst>
              <a:ext uri="{FF2B5EF4-FFF2-40B4-BE49-F238E27FC236}">
                <a16:creationId xmlns:a16="http://schemas.microsoft.com/office/drawing/2014/main" id="{BAE47E6C-29A2-B870-3993-35EB1376F6C3}"/>
              </a:ext>
            </a:extLst>
          </p:cNvPr>
          <p:cNvSpPr txBox="1">
            <a:spLocks/>
          </p:cNvSpPr>
          <p:nvPr/>
        </p:nvSpPr>
        <p:spPr>
          <a:xfrm>
            <a:off x="1164957" y="1335405"/>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350" dirty="0"/>
              <a:t>5-10 minutter i grupper</a:t>
            </a:r>
          </a:p>
          <a:p>
            <a:pPr marL="342900">
              <a:spcAft>
                <a:spcPts val="600"/>
              </a:spcAft>
              <a:buFont typeface="Arial" panose="020B0604020202020204" pitchFamily="34" charset="0"/>
              <a:buChar char="•"/>
            </a:pPr>
            <a:r>
              <a:rPr lang="da-DK" sz="1350" dirty="0"/>
              <a:t>Snak om jeres </a:t>
            </a:r>
            <a:r>
              <a:rPr lang="da-DK" sz="1350" dirty="0" err="1"/>
              <a:t>forentninger</a:t>
            </a:r>
            <a:endParaRPr lang="da-DK" sz="1350" dirty="0"/>
          </a:p>
        </p:txBody>
      </p:sp>
    </p:spTree>
    <p:extLst>
      <p:ext uri="{BB962C8B-B14F-4D97-AF65-F5344CB8AC3E}">
        <p14:creationId xmlns:p14="http://schemas.microsoft.com/office/powerpoint/2010/main" val="16103337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46176" y="361358"/>
            <a:ext cx="8014887" cy="994172"/>
          </a:xfrm>
        </p:spPr>
        <p:txBody>
          <a:bodyPr/>
          <a:lstStyle/>
          <a:p>
            <a:r>
              <a:rPr lang="da-DK" b="1" i="1" dirty="0"/>
              <a:t>Papegøjer</a:t>
            </a:r>
          </a:p>
        </p:txBody>
      </p:sp>
      <p:sp>
        <p:nvSpPr>
          <p:cNvPr id="3" name="Pladsholder til indhold 2"/>
          <p:cNvSpPr>
            <a:spLocks noGrp="1"/>
          </p:cNvSpPr>
          <p:nvPr>
            <p:ph idx="1"/>
          </p:nvPr>
        </p:nvSpPr>
        <p:spPr>
          <a:xfrm>
            <a:off x="4720591" y="1102996"/>
            <a:ext cx="4222881" cy="3512102"/>
          </a:xfrm>
        </p:spPr>
        <p:txBody>
          <a:bodyPr>
            <a:normAutofit/>
          </a:bodyPr>
          <a:lstStyle/>
          <a:p>
            <a:pPr marL="342900">
              <a:spcAft>
                <a:spcPts val="600"/>
              </a:spcAft>
            </a:pPr>
            <a:r>
              <a:rPr lang="da-DK" sz="1350" dirty="0"/>
              <a:t>-</a:t>
            </a:r>
          </a:p>
        </p:txBody>
      </p:sp>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69</a:t>
            </a:fld>
            <a:endParaRPr lang="da-DK" sz="900" b="1" kern="1200" dirty="0">
              <a:solidFill>
                <a:srgbClr val="00454E"/>
              </a:solidFill>
              <a:ea typeface="+mn-ea"/>
              <a:cs typeface="Times New Roman"/>
            </a:endParaRPr>
          </a:p>
        </p:txBody>
      </p:sp>
    </p:spTree>
    <p:extLst>
      <p:ext uri="{BB962C8B-B14F-4D97-AF65-F5344CB8AC3E}">
        <p14:creationId xmlns:p14="http://schemas.microsoft.com/office/powerpoint/2010/main" val="172818511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UCL">
  <a:themeElements>
    <a:clrScheme name="Simple Light">
      <a:dk1>
        <a:srgbClr val="000000"/>
      </a:dk1>
      <a:lt1>
        <a:srgbClr val="FFFFFF"/>
      </a:lt1>
      <a:dk2>
        <a:srgbClr val="00454E"/>
      </a:dk2>
      <a:lt2>
        <a:srgbClr val="C1D6D9"/>
      </a:lt2>
      <a:accent1>
        <a:srgbClr val="47B9B3"/>
      </a:accent1>
      <a:accent2>
        <a:srgbClr val="CAE4E3"/>
      </a:accent2>
      <a:accent3>
        <a:srgbClr val="9B3C7D"/>
      </a:accent3>
      <a:accent4>
        <a:srgbClr val="EE866F"/>
      </a:accent4>
      <a:accent5>
        <a:srgbClr val="F2CAC1"/>
      </a:accent5>
      <a:accent6>
        <a:srgbClr val="FAE76A"/>
      </a:accent6>
      <a:hlink>
        <a:srgbClr val="0045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redsløb">
  <a:themeElements>
    <a:clrScheme name="Kredsløb">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Kredsløb">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redsløb">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0</TotalTime>
  <Words>4660</Words>
  <Application>Microsoft Office PowerPoint</Application>
  <PresentationFormat>Skærmshow (16:9)</PresentationFormat>
  <Paragraphs>605</Paragraphs>
  <Slides>69</Slides>
  <Notes>40</Notes>
  <HiddenSlides>6</HiddenSlides>
  <MMClips>0</MMClips>
  <ScaleCrop>false</ScaleCrop>
  <HeadingPairs>
    <vt:vector size="6" baseType="variant">
      <vt:variant>
        <vt:lpstr>Benyttede skrifttyper</vt:lpstr>
      </vt:variant>
      <vt:variant>
        <vt:i4>8</vt:i4>
      </vt:variant>
      <vt:variant>
        <vt:lpstr>Tema</vt:lpstr>
      </vt:variant>
      <vt:variant>
        <vt:i4>2</vt:i4>
      </vt:variant>
      <vt:variant>
        <vt:lpstr>Slidetitler</vt:lpstr>
      </vt:variant>
      <vt:variant>
        <vt:i4>69</vt:i4>
      </vt:variant>
    </vt:vector>
  </HeadingPairs>
  <TitlesOfParts>
    <vt:vector size="79" baseType="lpstr">
      <vt:lpstr>Wingdings</vt:lpstr>
      <vt:lpstr>var(--font-family-head)</vt:lpstr>
      <vt:lpstr>Tw Cen MT</vt:lpstr>
      <vt:lpstr>Arial</vt:lpstr>
      <vt:lpstr>Times New Roman</vt:lpstr>
      <vt:lpstr>inherit</vt:lpstr>
      <vt:lpstr>Proxima Nova Alt Rg</vt:lpstr>
      <vt:lpstr>Calibri</vt:lpstr>
      <vt:lpstr>UCL</vt:lpstr>
      <vt:lpstr>Kredsløb</vt:lpstr>
      <vt:lpstr>AI i praksis - Praktisk brug og sund skepsis</vt:lpstr>
      <vt:lpstr>Hvad skal vi beskæftige os med?</vt:lpstr>
      <vt:lpstr>Hvorfor skal vi beskæftige os med det?</vt:lpstr>
      <vt:lpstr>Hvad er min baggrund?</vt:lpstr>
      <vt:lpstr>Hvad er jeres baggrund?</vt:lpstr>
      <vt:lpstr>Forventningsafstemning</vt:lpstr>
      <vt:lpstr>Forventningsafstemning</vt:lpstr>
      <vt:lpstr>PowerPoint-præsentation</vt:lpstr>
      <vt:lpstr>PowerPoint-præsentation</vt:lpstr>
      <vt:lpstr>Hvad ved i om AI?</vt:lpstr>
      <vt:lpstr>Papegøje </vt:lpstr>
      <vt:lpstr>Mere om Papegøjer</vt:lpstr>
      <vt:lpstr>AI Gennem historien - Fra Golem…</vt:lpstr>
      <vt:lpstr>AI Gennem historien - … til Skak</vt:lpstr>
      <vt:lpstr>Fra logik til Generativ intelligens</vt:lpstr>
      <vt:lpstr>1950’erne – Tidlige år &amp; symbolsk intelligens</vt:lpstr>
      <vt:lpstr>Symbolsk AI i praksis</vt:lpstr>
      <vt:lpstr>Begrænsninger ved tidlig AI</vt:lpstr>
      <vt:lpstr>1970–80’erne – AI Winters &amp; Expert Systems</vt:lpstr>
      <vt:lpstr>Eksempel: Banker i 1980’erne</vt:lpstr>
      <vt:lpstr>1990–2000 – Machine Learning</vt:lpstr>
      <vt:lpstr>Neurale netværk</vt:lpstr>
      <vt:lpstr>Eksempel: Google Translate (2006)</vt:lpstr>
      <vt:lpstr>2010–nu – Deep Learning &amp; Generativ AI</vt:lpstr>
      <vt:lpstr>PowerPoint-præsentation</vt:lpstr>
      <vt:lpstr>Odsgaard, S. (2026)</vt:lpstr>
      <vt:lpstr>Hvad må man lægge op? - En god tommelfinger regel</vt:lpstr>
      <vt:lpstr>Øvelse: Turing  </vt:lpstr>
      <vt:lpstr>Øvelse: Turing  </vt:lpstr>
      <vt:lpstr>Øvelse: Turing  </vt:lpstr>
      <vt:lpstr>Øvelse: Turing  </vt:lpstr>
      <vt:lpstr>Hvad står GPT for</vt:lpstr>
      <vt:lpstr>Oversigt over de største GPT´er</vt:lpstr>
      <vt:lpstr>Hvilken GPT-model passer bedst til dit behov</vt:lpstr>
      <vt:lpstr>PowerPoint-præsentation</vt:lpstr>
      <vt:lpstr>Hvad er generativ AI?</vt:lpstr>
      <vt:lpstr>Hvad er en ”prompt"?</vt:lpstr>
      <vt:lpstr>Eksempler på en prompt</vt:lpstr>
      <vt:lpstr>PowerPoint-præsentation</vt:lpstr>
      <vt:lpstr>PowerPoint-præsentation</vt:lpstr>
      <vt:lpstr>Hvorfor er prompts vigtige?</vt:lpstr>
      <vt:lpstr>Hvorfor er prompts  vigtige?</vt:lpstr>
      <vt:lpstr>Øvelse: Skriv en prompt </vt:lpstr>
      <vt:lpstr>Hvad er "guardrails"?</vt:lpstr>
      <vt:lpstr>Hvad er ”tokens"?</vt:lpstr>
      <vt:lpstr>PowerPoint-præsentation</vt:lpstr>
      <vt:lpstr>Context window - sprogmodellers ”hukommelse”</vt:lpstr>
      <vt:lpstr>Øvelse: Lav en krypteret besked  </vt:lpstr>
      <vt:lpstr>Øvelse: Lav en krypteret besked  </vt:lpstr>
      <vt:lpstr>Øvelse: Lav en krypteret besked  </vt:lpstr>
      <vt:lpstr>Øvelse: Lav en krypteret besked  </vt:lpstr>
      <vt:lpstr>Hvad er ”tokenisering"?</vt:lpstr>
      <vt:lpstr>Hvordan bruger vi generativ AI konstruktivt?</vt:lpstr>
      <vt:lpstr>Opsamling</vt:lpstr>
      <vt:lpstr>PowerPoint-præsentation</vt:lpstr>
      <vt:lpstr>PowerPoint-præsentation</vt:lpstr>
      <vt:lpstr>PowerPoint-præsentation</vt:lpstr>
      <vt:lpstr>Til næste gang…</vt:lpstr>
      <vt:lpstr>Kilder til guardrails</vt:lpstr>
      <vt:lpstr>Kilder til guardrails</vt:lpstr>
      <vt:lpstr>Kilder til Tokenizer, tokens og decoder</vt:lpstr>
      <vt:lpstr>Kilder til Context Window</vt:lpstr>
      <vt:lpstr>Kilder til Context Window</vt:lpstr>
      <vt:lpstr>Kilder til prompts</vt:lpstr>
      <vt:lpstr>Kilder til prompts</vt:lpstr>
      <vt:lpstr>Kilder til hvorfor prompts er vigtige  </vt:lpstr>
      <vt:lpstr>Kilder til hvorfor prompts er vigtige  </vt:lpstr>
      <vt:lpstr>SKABELONER</vt:lpstr>
      <vt:lpstr>Papegøjer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Omlægning til blended learning</dc:title>
  <dc:creator>Kim Hass Rubin</dc:creator>
  <cp:lastModifiedBy>Jesper Qvist</cp:lastModifiedBy>
  <cp:revision>247</cp:revision>
  <dcterms:modified xsi:type="dcterms:W3CDTF">2026-09-07T10:55:42Z</dcterms:modified>
</cp:coreProperties>
</file>