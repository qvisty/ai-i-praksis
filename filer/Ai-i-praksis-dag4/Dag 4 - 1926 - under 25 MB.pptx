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3"/>
  </p:notesMasterIdLst>
  <p:sldIdLst>
    <p:sldId id="526" r:id="rId2"/>
    <p:sldId id="415" r:id="rId3"/>
    <p:sldId id="416" r:id="rId4"/>
    <p:sldId id="499" r:id="rId5"/>
    <p:sldId id="500" r:id="rId6"/>
    <p:sldId id="501" r:id="rId7"/>
    <p:sldId id="525" r:id="rId8"/>
    <p:sldId id="502" r:id="rId9"/>
    <p:sldId id="503" r:id="rId10"/>
    <p:sldId id="504" r:id="rId11"/>
    <p:sldId id="505" r:id="rId12"/>
    <p:sldId id="506" r:id="rId13"/>
    <p:sldId id="507" r:id="rId14"/>
    <p:sldId id="508" r:id="rId15"/>
    <p:sldId id="509" r:id="rId16"/>
    <p:sldId id="510" r:id="rId17"/>
    <p:sldId id="511" r:id="rId18"/>
    <p:sldId id="512" r:id="rId19"/>
    <p:sldId id="513" r:id="rId20"/>
    <p:sldId id="514" r:id="rId21"/>
    <p:sldId id="515" r:id="rId22"/>
    <p:sldId id="418" r:id="rId23"/>
    <p:sldId id="437" r:id="rId24"/>
    <p:sldId id="438" r:id="rId25"/>
    <p:sldId id="439" r:id="rId26"/>
    <p:sldId id="440" r:id="rId27"/>
    <p:sldId id="441" r:id="rId28"/>
    <p:sldId id="442" r:id="rId29"/>
    <p:sldId id="443" r:id="rId30"/>
    <p:sldId id="444" r:id="rId31"/>
    <p:sldId id="445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453" r:id="rId40"/>
    <p:sldId id="454" r:id="rId41"/>
    <p:sldId id="455" r:id="rId42"/>
    <p:sldId id="456" r:id="rId43"/>
    <p:sldId id="457" r:id="rId44"/>
    <p:sldId id="458" r:id="rId45"/>
    <p:sldId id="459" r:id="rId46"/>
    <p:sldId id="460" r:id="rId47"/>
    <p:sldId id="461" r:id="rId48"/>
    <p:sldId id="462" r:id="rId49"/>
    <p:sldId id="463" r:id="rId50"/>
    <p:sldId id="464" r:id="rId51"/>
    <p:sldId id="468" r:id="rId52"/>
    <p:sldId id="467" r:id="rId53"/>
    <p:sldId id="421" r:id="rId54"/>
    <p:sldId id="469" r:id="rId55"/>
    <p:sldId id="340" r:id="rId56"/>
    <p:sldId id="485" r:id="rId57"/>
    <p:sldId id="486" r:id="rId58"/>
    <p:sldId id="487" r:id="rId59"/>
    <p:sldId id="488" r:id="rId60"/>
    <p:sldId id="489" r:id="rId61"/>
    <p:sldId id="490" r:id="rId62"/>
    <p:sldId id="491" r:id="rId63"/>
    <p:sldId id="492" r:id="rId64"/>
    <p:sldId id="423" r:id="rId65"/>
    <p:sldId id="493" r:id="rId66"/>
    <p:sldId id="494" r:id="rId67"/>
    <p:sldId id="424" r:id="rId68"/>
    <p:sldId id="495" r:id="rId69"/>
    <p:sldId id="497" r:id="rId70"/>
    <p:sldId id="498" r:id="rId71"/>
    <p:sldId id="425" r:id="rId72"/>
    <p:sldId id="527" r:id="rId73"/>
    <p:sldId id="528" r:id="rId74"/>
    <p:sldId id="529" r:id="rId75"/>
    <p:sldId id="530" r:id="rId76"/>
    <p:sldId id="516" r:id="rId77"/>
    <p:sldId id="428" r:id="rId78"/>
    <p:sldId id="426" r:id="rId79"/>
    <p:sldId id="427" r:id="rId80"/>
    <p:sldId id="419" r:id="rId81"/>
    <p:sldId id="517" r:id="rId82"/>
    <p:sldId id="518" r:id="rId83"/>
    <p:sldId id="519" r:id="rId84"/>
    <p:sldId id="520" r:id="rId85"/>
    <p:sldId id="521" r:id="rId86"/>
    <p:sldId id="522" r:id="rId87"/>
    <p:sldId id="433" r:id="rId88"/>
    <p:sldId id="523" r:id="rId89"/>
    <p:sldId id="524" r:id="rId90"/>
    <p:sldId id="566" r:id="rId91"/>
    <p:sldId id="436" r:id="rId92"/>
    <p:sldId id="567" r:id="rId93"/>
    <p:sldId id="568" r:id="rId94"/>
    <p:sldId id="569" r:id="rId95"/>
    <p:sldId id="570" r:id="rId96"/>
    <p:sldId id="571" r:id="rId97"/>
    <p:sldId id="572" r:id="rId98"/>
    <p:sldId id="573" r:id="rId99"/>
    <p:sldId id="574" r:id="rId100"/>
    <p:sldId id="575" r:id="rId101"/>
    <p:sldId id="576" r:id="rId102"/>
    <p:sldId id="577" r:id="rId103"/>
    <p:sldId id="578" r:id="rId104"/>
    <p:sldId id="579" r:id="rId105"/>
    <p:sldId id="580" r:id="rId106"/>
    <p:sldId id="581" r:id="rId107"/>
    <p:sldId id="582" r:id="rId108"/>
    <p:sldId id="583" r:id="rId109"/>
    <p:sldId id="584" r:id="rId110"/>
    <p:sldId id="585" r:id="rId111"/>
    <p:sldId id="256" r:id="rId112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14"/>
      <p:bold r:id="rId115"/>
      <p:italic r:id="rId116"/>
      <p:boldItalic r:id="rId1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81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8E8C"/>
    <a:srgbClr val="66FF33"/>
    <a:srgbClr val="438E77"/>
    <a:srgbClr val="E6FAEB"/>
    <a:srgbClr val="ADD8AC"/>
    <a:srgbClr val="93C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4F6C1-146A-459B-B2E1-965E89D541F2}" v="3" dt="2026-09-07T10:59:47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70118" autoAdjust="0"/>
  </p:normalViewPr>
  <p:slideViewPr>
    <p:cSldViewPr snapToGrid="0">
      <p:cViewPr varScale="1">
        <p:scale>
          <a:sx n="103" d="100"/>
          <a:sy n="103" d="100"/>
        </p:scale>
        <p:origin x="1800" y="102"/>
      </p:cViewPr>
      <p:guideLst>
        <p:guide orient="horz" pos="1620"/>
        <p:guide pos="2880"/>
        <p:guide pos="8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.fntdata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Gevær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65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616B-2551-4F3B-9F98-37489227F742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1263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49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312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dirty="0"/>
              <a:t>Bias </a:t>
            </a:r>
            <a:r>
              <a:rPr lang="en-US" dirty="0" err="1"/>
              <a:t>betyder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nødvendigvis</a:t>
            </a:r>
            <a:r>
              <a:rPr lang="en-US" dirty="0"/>
              <a:t> ‘</a:t>
            </a:r>
            <a:r>
              <a:rPr lang="en-US" dirty="0" err="1"/>
              <a:t>ond</a:t>
            </a:r>
            <a:r>
              <a:rPr lang="en-US" dirty="0"/>
              <a:t> </a:t>
            </a:r>
            <a:r>
              <a:rPr lang="en-US" dirty="0" err="1"/>
              <a:t>vilje</a:t>
            </a:r>
            <a:r>
              <a:rPr lang="en-US" dirty="0"/>
              <a:t>’ –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ofte</a:t>
            </a:r>
            <a:r>
              <a:rPr lang="en-US" dirty="0"/>
              <a:t> et data-problem.</a:t>
            </a:r>
          </a:p>
          <a:p>
            <a:r>
              <a:rPr lang="en-US" dirty="0"/>
              <a:t>AI </a:t>
            </a:r>
            <a:r>
              <a:rPr lang="en-US" dirty="0" err="1"/>
              <a:t>kopierer</a:t>
            </a:r>
            <a:r>
              <a:rPr lang="en-US" dirty="0"/>
              <a:t> den </a:t>
            </a:r>
            <a:r>
              <a:rPr lang="en-US" dirty="0" err="1"/>
              <a:t>virkelighed</a:t>
            </a:r>
            <a:r>
              <a:rPr lang="en-US" dirty="0"/>
              <a:t>, den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trænet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Hvem</a:t>
            </a:r>
            <a:r>
              <a:rPr lang="en-US" dirty="0"/>
              <a:t> </a:t>
            </a:r>
            <a:r>
              <a:rPr lang="en-US" dirty="0" err="1"/>
              <a:t>bestemmer</a:t>
            </a:r>
            <a:r>
              <a:rPr lang="en-US" dirty="0"/>
              <a:t> </a:t>
            </a:r>
            <a:r>
              <a:rPr lang="en-US" dirty="0" err="1"/>
              <a:t>hvilken</a:t>
            </a:r>
            <a:r>
              <a:rPr lang="en-US" dirty="0"/>
              <a:t> </a:t>
            </a:r>
            <a:r>
              <a:rPr lang="en-US" dirty="0" err="1"/>
              <a:t>virkelighed</a:t>
            </a:r>
            <a:r>
              <a:rPr lang="en-US" dirty="0"/>
              <a:t> den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trænet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?</a:t>
            </a:r>
          </a:p>
          <a:p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historien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skæv</a:t>
            </a:r>
            <a:r>
              <a:rPr lang="en-US" dirty="0"/>
              <a:t>,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fremtiden</a:t>
            </a:r>
            <a:r>
              <a:rPr lang="en-US" dirty="0"/>
              <a:t> 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skæv</a:t>
            </a:r>
            <a:r>
              <a:rPr lang="en-US" dirty="0"/>
              <a:t>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489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AI arver vores fejl.</a:t>
            </a:r>
          </a:p>
          <a:p>
            <a:r>
              <a:rPr lang="da-DK" dirty="0"/>
              <a:t>Hvis bestemte grupper er underrepræsenteret, bliver de også dårligere behandlet.</a:t>
            </a:r>
          </a:p>
          <a:p>
            <a:r>
              <a:rPr lang="da-DK" dirty="0"/>
              <a:t>Bias kan opstå både før, under og efter træning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476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Store studenter- og borgerprotester i Beijing </a:t>
            </a:r>
          </a:p>
          <a:p>
            <a:r>
              <a:rPr lang="da-DK" dirty="0"/>
              <a:t>Krav om demokrati og reformer </a:t>
            </a:r>
          </a:p>
          <a:p>
            <a:r>
              <a:rPr lang="da-DK" dirty="0"/>
              <a:t>Slået ned af militæret </a:t>
            </a:r>
          </a:p>
          <a:p>
            <a:r>
              <a:rPr lang="da-DK" dirty="0"/>
              <a:t>Mange døde (præcist antal er stadig omdiskuteret)</a:t>
            </a:r>
          </a:p>
          <a:p>
            <a:endParaRPr lang="da-DK" b="1" dirty="0"/>
          </a:p>
          <a:p>
            <a:r>
              <a:rPr lang="da-DK" dirty="0"/>
              <a:t>Emnet er </a:t>
            </a:r>
            <a:r>
              <a:rPr lang="da-DK" b="0" dirty="0"/>
              <a:t>strengt censureret i Kina </a:t>
            </a:r>
          </a:p>
          <a:p>
            <a:r>
              <a:rPr lang="da-DK" dirty="0"/>
              <a:t>Kinesiske AI-systemer er underlagt lovgivning og filtrerer derfor sådanne emner </a:t>
            </a:r>
          </a:p>
          <a:p>
            <a:r>
              <a:rPr lang="da-DK" dirty="0"/>
              <a:t>Derfor vil mange kinesiske </a:t>
            </a:r>
            <a:r>
              <a:rPr lang="da-DK" dirty="0" err="1"/>
              <a:t>chatbots</a:t>
            </a:r>
            <a:r>
              <a:rPr lang="da-DK" dirty="0"/>
              <a:t>: </a:t>
            </a:r>
          </a:p>
          <a:p>
            <a:pPr lvl="1"/>
            <a:r>
              <a:rPr lang="da-DK" dirty="0"/>
              <a:t>afvise at svare </a:t>
            </a:r>
          </a:p>
          <a:p>
            <a:pPr lvl="1"/>
            <a:r>
              <a:rPr lang="da-DK" dirty="0"/>
              <a:t>ændre emnet </a:t>
            </a:r>
          </a:p>
          <a:p>
            <a:pPr lvl="1"/>
            <a:r>
              <a:rPr lang="da-DK" dirty="0"/>
              <a:t>eller give et meget begrænset svar</a:t>
            </a:r>
          </a:p>
          <a:p>
            <a:endParaRPr lang="da-DK" b="1" dirty="0"/>
          </a:p>
          <a:p>
            <a:r>
              <a:rPr lang="da-DK" dirty="0"/>
              <a:t>Det her er et godt eksempel på, at AI ikke er neutralt – det afhænger af hvem der bygger og kontrollerer det.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764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Hvad har de ydergående venstre partier til fælles?</a:t>
            </a:r>
          </a:p>
          <a:p>
            <a:r>
              <a:rPr lang="da-DK" dirty="0"/>
              <a:t>Hvad er deres holdning til EU, AI og militær?</a:t>
            </a:r>
          </a:p>
          <a:p>
            <a:r>
              <a:rPr lang="da-DK" dirty="0"/>
              <a:t>Kunne man forestille sig at nogle amerikanske </a:t>
            </a:r>
            <a:r>
              <a:rPr lang="da-DK" dirty="0" err="1"/>
              <a:t>tech</a:t>
            </a:r>
            <a:r>
              <a:rPr lang="da-DK" dirty="0"/>
              <a:t> enheder kunne have en interesse i at hindre europæisk udvikling, ift.</a:t>
            </a:r>
            <a:r>
              <a:rPr lang="da-DK" baseline="0" dirty="0"/>
              <a:t> Teknologi, AI og militær</a:t>
            </a:r>
            <a:r>
              <a:rPr lang="da-DK" dirty="0"/>
              <a:t>?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590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436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“finder </a:t>
            </a:r>
            <a:r>
              <a:rPr lang="en-US" dirty="0" err="1"/>
              <a:t>på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5225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overkomplicere</a:t>
            </a:r>
            <a:r>
              <a:rPr lang="en-US" baseline="0" dirty="0"/>
              <a:t> 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25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Folk vælger selv en </a:t>
            </a:r>
            <a:r>
              <a:rPr lang="da-DK" dirty="0" err="1"/>
              <a:t>chatbot</a:t>
            </a:r>
            <a:endParaRPr lang="da-DK" dirty="0"/>
          </a:p>
          <a:p>
            <a:r>
              <a:rPr lang="da-DK" dirty="0"/>
              <a:t>Spørg den om dens egen bias</a:t>
            </a:r>
          </a:p>
          <a:p>
            <a:r>
              <a:rPr lang="da-DK" dirty="0"/>
              <a:t>Lad dem læse svarene</a:t>
            </a:r>
          </a:p>
          <a:p>
            <a:r>
              <a:rPr lang="da-DK" dirty="0"/>
              <a:t>Gennemgå svarene på klassen</a:t>
            </a:r>
          </a:p>
          <a:p>
            <a:r>
              <a:rPr lang="da-DK" dirty="0"/>
              <a:t>Hav en dialog om </a:t>
            </a:r>
            <a:r>
              <a:rPr lang="da-DK" dirty="0" err="1"/>
              <a:t>chatbots</a:t>
            </a:r>
            <a:r>
              <a:rPr lang="da-DK" dirty="0"/>
              <a:t> egen bevidsthed.</a:t>
            </a:r>
            <a:r>
              <a:rPr lang="da-DK" baseline="0" dirty="0"/>
              <a:t> Tror vi på dem?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6076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8678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521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AI bruges i flere kritiske beslutninger </a:t>
            </a:r>
          </a:p>
          <a:p>
            <a:r>
              <a:rPr lang="da-DK" dirty="0"/>
              <a:t>Risiko for bias og fejl </a:t>
            </a:r>
          </a:p>
          <a:p>
            <a:r>
              <a:rPr lang="da-DK" dirty="0"/>
              <a:t>Manglende regulering skaber usikkerhed </a:t>
            </a:r>
          </a:p>
          <a:p>
            <a:r>
              <a:rPr lang="da-DK" dirty="0"/>
              <a:t>Målet er at skabe tillid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733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 </a:t>
            </a:r>
            <a:r>
              <a:rPr lang="en-US" dirty="0" err="1"/>
              <a:t>er</a:t>
            </a:r>
            <a:r>
              <a:rPr lang="en-US" dirty="0"/>
              <a:t> first mover </a:t>
            </a:r>
            <a:r>
              <a:rPr lang="en-US" dirty="0" err="1"/>
              <a:t>globalt</a:t>
            </a:r>
            <a:r>
              <a:rPr lang="en-US" dirty="0"/>
              <a:t> </a:t>
            </a:r>
          </a:p>
          <a:p>
            <a:r>
              <a:rPr lang="en-US" dirty="0" err="1"/>
              <a:t>Det</a:t>
            </a:r>
            <a:r>
              <a:rPr lang="en-US" dirty="0"/>
              <a:t> her </a:t>
            </a:r>
            <a:r>
              <a:rPr lang="en-US" dirty="0" err="1"/>
              <a:t>påvirker</a:t>
            </a:r>
            <a:r>
              <a:rPr lang="en-US" dirty="0"/>
              <a:t> </a:t>
            </a:r>
            <a:r>
              <a:rPr lang="en-US" dirty="0" err="1"/>
              <a:t>alle</a:t>
            </a:r>
            <a:r>
              <a:rPr lang="en-US" dirty="0"/>
              <a:t> – </a:t>
            </a:r>
            <a:r>
              <a:rPr lang="en-US" dirty="0" err="1"/>
              <a:t>ikke</a:t>
            </a:r>
            <a:r>
              <a:rPr lang="en-US" dirty="0"/>
              <a:t> kun tech </a:t>
            </a:r>
          </a:p>
          <a:p>
            <a:r>
              <a:rPr lang="en-US" dirty="0" err="1"/>
              <a:t>Det</a:t>
            </a:r>
            <a:r>
              <a:rPr lang="en-US" dirty="0"/>
              <a:t> handler om </a:t>
            </a:r>
            <a:r>
              <a:rPr lang="en-US" dirty="0" err="1"/>
              <a:t>samfund</a:t>
            </a:r>
            <a:r>
              <a:rPr lang="en-US" dirty="0"/>
              <a:t>, </a:t>
            </a:r>
            <a:r>
              <a:rPr lang="en-US" dirty="0" err="1"/>
              <a:t>ikke</a:t>
            </a:r>
            <a:r>
              <a:rPr lang="en-US" dirty="0"/>
              <a:t> kun </a:t>
            </a:r>
            <a:r>
              <a:rPr lang="en-US" dirty="0" err="1"/>
              <a:t>teknologi</a:t>
            </a:r>
            <a:r>
              <a:rPr lang="en-US" dirty="0"/>
              <a:t> </a:t>
            </a:r>
          </a:p>
          <a:p>
            <a:r>
              <a:rPr lang="en-US" dirty="0"/>
              <a:t>“</a:t>
            </a:r>
            <a:r>
              <a:rPr lang="en-US" dirty="0" err="1"/>
              <a:t>Det</a:t>
            </a:r>
            <a:r>
              <a:rPr lang="en-US" dirty="0"/>
              <a:t> her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fremtid</a:t>
            </a:r>
            <a:r>
              <a:rPr lang="en-US" dirty="0"/>
              <a:t> –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nu”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003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</a:t>
            </a:r>
            <a:r>
              <a:rPr lang="en-US" dirty="0" err="1"/>
              <a:t>mellem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udvikling</a:t>
            </a:r>
            <a:r>
              <a:rPr lang="en-US" dirty="0"/>
              <a:t> </a:t>
            </a:r>
          </a:p>
          <a:p>
            <a:r>
              <a:rPr lang="en-US" dirty="0" err="1"/>
              <a:t>Borgerbeskyttelse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centralt</a:t>
            </a:r>
            <a:r>
              <a:rPr lang="en-US" dirty="0"/>
              <a:t> </a:t>
            </a:r>
          </a:p>
          <a:p>
            <a:r>
              <a:rPr lang="en-US" dirty="0"/>
              <a:t>EU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førende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ansvarlig</a:t>
            </a:r>
            <a:r>
              <a:rPr lang="en-US" dirty="0"/>
              <a:t> </a:t>
            </a:r>
          </a:p>
          <a:p>
            <a:r>
              <a:rPr lang="en-US" dirty="0"/>
              <a:t>AI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stopklods</a:t>
            </a:r>
            <a:r>
              <a:rPr lang="en-US" dirty="0"/>
              <a:t> – men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ramme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029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Ikke kun udviklere – også brugere </a:t>
            </a:r>
          </a:p>
          <a:p>
            <a:r>
              <a:rPr lang="da-DK" dirty="0"/>
              <a:t>Dækker hele livscyklussen </a:t>
            </a:r>
          </a:p>
          <a:p>
            <a:r>
              <a:rPr lang="da-DK" dirty="0"/>
              <a:t>Krav til hvordan AI anvendes </a:t>
            </a:r>
          </a:p>
          <a:p>
            <a:r>
              <a:rPr lang="da-DK" dirty="0"/>
              <a:t>Ansvar bliver tydeliggjort</a:t>
            </a:r>
          </a:p>
          <a:p>
            <a:r>
              <a:rPr lang="da-DK" dirty="0"/>
              <a:t>AI Act handler ikke kun om brug </a:t>
            </a:r>
          </a:p>
          <a:p>
            <a:r>
              <a:rPr lang="da-DK" dirty="0"/>
              <a:t>Men også udvikling, </a:t>
            </a:r>
            <a:r>
              <a:rPr lang="da-DK" dirty="0" err="1"/>
              <a:t>deployment</a:t>
            </a:r>
            <a:r>
              <a:rPr lang="da-DK" dirty="0"/>
              <a:t> og drift </a:t>
            </a:r>
          </a:p>
          <a:p>
            <a:r>
              <a:rPr lang="da-DK" dirty="0"/>
              <a:t>Hele værdikæden er reguleret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260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Alle led i værdikæden er omfattet </a:t>
            </a:r>
          </a:p>
          <a:p>
            <a:r>
              <a:rPr lang="da-DK" dirty="0"/>
              <a:t>Også dem der “bare bruger AI” </a:t>
            </a:r>
          </a:p>
          <a:p>
            <a:r>
              <a:rPr lang="da-DK" dirty="0"/>
              <a:t>Ansvar er delt mellem aktører </a:t>
            </a:r>
          </a:p>
          <a:p>
            <a:r>
              <a:rPr lang="da-DK" dirty="0"/>
              <a:t>Ingen kan undgå at blive påvirket</a:t>
            </a:r>
          </a:p>
          <a:p>
            <a:pPr marL="158750" indent="0">
              <a:buNone/>
            </a:pPr>
            <a:endParaRPr lang="da-DK" dirty="0"/>
          </a:p>
          <a:p>
            <a:r>
              <a:rPr lang="en-US" dirty="0" err="1"/>
              <a:t>Udbydere</a:t>
            </a:r>
            <a:r>
              <a:rPr lang="en-US" dirty="0"/>
              <a:t>, </a:t>
            </a:r>
            <a:r>
              <a:rPr lang="en-US" dirty="0" err="1"/>
              <a:t>brugere</a:t>
            </a:r>
            <a:r>
              <a:rPr lang="en-US" dirty="0"/>
              <a:t>, </a:t>
            </a:r>
            <a:r>
              <a:rPr lang="en-US" dirty="0" err="1"/>
              <a:t>importører</a:t>
            </a:r>
            <a:r>
              <a:rPr lang="en-US" dirty="0"/>
              <a:t> </a:t>
            </a:r>
            <a:r>
              <a:rPr lang="en-US" dirty="0" err="1"/>
              <a:t>osv</a:t>
            </a:r>
            <a:r>
              <a:rPr lang="en-US" dirty="0"/>
              <a:t>. </a:t>
            </a:r>
          </a:p>
          <a:p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bare “tech-folk” </a:t>
            </a:r>
          </a:p>
          <a:p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forretning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ledelse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890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Kaldes ekstraterritorial effekt </a:t>
            </a:r>
          </a:p>
          <a:p>
            <a:r>
              <a:rPr lang="da-DK" dirty="0"/>
              <a:t>Påvirker globale virksomheder </a:t>
            </a:r>
          </a:p>
          <a:p>
            <a:r>
              <a:rPr lang="da-DK" dirty="0"/>
              <a:t>EU sætter standarden</a:t>
            </a:r>
          </a:p>
          <a:p>
            <a:r>
              <a:rPr lang="da-DK" dirty="0"/>
              <a:t>Kan inspirere andre lande</a:t>
            </a:r>
          </a:p>
          <a:p>
            <a:endParaRPr lang="da-DK" dirty="0"/>
          </a:p>
          <a:p>
            <a:r>
              <a:rPr lang="en-US" dirty="0" err="1"/>
              <a:t>Ikke</a:t>
            </a:r>
            <a:r>
              <a:rPr lang="en-US" dirty="0"/>
              <a:t> kun </a:t>
            </a:r>
            <a:r>
              <a:rPr lang="en-US" dirty="0" err="1"/>
              <a:t>hvor</a:t>
            </a:r>
            <a:r>
              <a:rPr lang="en-US" dirty="0"/>
              <a:t> </a:t>
            </a:r>
            <a:r>
              <a:rPr lang="en-US" dirty="0" err="1"/>
              <a:t>AI’en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bygget</a:t>
            </a:r>
            <a:r>
              <a:rPr lang="en-US" dirty="0"/>
              <a:t> </a:t>
            </a:r>
          </a:p>
          <a:p>
            <a:r>
              <a:rPr lang="en-US" dirty="0"/>
              <a:t>Men </a:t>
            </a:r>
            <a:r>
              <a:rPr lang="en-US" dirty="0" err="1"/>
              <a:t>hvor</a:t>
            </a:r>
            <a:r>
              <a:rPr lang="en-US" dirty="0"/>
              <a:t> den </a:t>
            </a:r>
            <a:r>
              <a:rPr lang="en-US" dirty="0" err="1"/>
              <a:t>bruges</a:t>
            </a:r>
            <a:r>
              <a:rPr lang="en-US" dirty="0"/>
              <a:t> / </a:t>
            </a:r>
            <a:r>
              <a:rPr lang="en-US" dirty="0" err="1"/>
              <a:t>påvirker</a:t>
            </a:r>
            <a:r>
              <a:rPr lang="en-US" dirty="0"/>
              <a:t> </a:t>
            </a:r>
          </a:p>
          <a:p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ret </a:t>
            </a:r>
            <a:r>
              <a:rPr lang="en-US" dirty="0" err="1"/>
              <a:t>unikt</a:t>
            </a:r>
            <a:r>
              <a:rPr lang="en-US" dirty="0"/>
              <a:t> for EU-</a:t>
            </a:r>
            <a:r>
              <a:rPr lang="en-US" dirty="0" err="1"/>
              <a:t>lovgivning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755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Områder</a:t>
            </a:r>
            <a:r>
              <a:rPr lang="en-US" dirty="0"/>
              <a:t> med </a:t>
            </a:r>
            <a:r>
              <a:rPr lang="en-US" dirty="0" err="1"/>
              <a:t>stor</a:t>
            </a:r>
            <a:r>
              <a:rPr lang="en-US" dirty="0"/>
              <a:t> </a:t>
            </a:r>
            <a:r>
              <a:rPr lang="en-US" dirty="0" err="1"/>
              <a:t>menneskelig</a:t>
            </a:r>
            <a:r>
              <a:rPr lang="en-US" dirty="0"/>
              <a:t> </a:t>
            </a:r>
            <a:r>
              <a:rPr lang="en-US" dirty="0" err="1"/>
              <a:t>påvirkning</a:t>
            </a:r>
            <a:r>
              <a:rPr lang="en-US" dirty="0"/>
              <a:t> </a:t>
            </a:r>
          </a:p>
          <a:p>
            <a:r>
              <a:rPr lang="en-US" dirty="0" err="1"/>
              <a:t>Kreditvurdering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sundhed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centrale</a:t>
            </a:r>
            <a:r>
              <a:rPr lang="en-US" dirty="0"/>
              <a:t> </a:t>
            </a:r>
          </a:p>
          <a:p>
            <a:r>
              <a:rPr lang="en-US" dirty="0"/>
              <a:t>AI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kritiske</a:t>
            </a:r>
            <a:r>
              <a:rPr lang="en-US" dirty="0"/>
              <a:t> </a:t>
            </a:r>
            <a:r>
              <a:rPr lang="en-US" dirty="0" err="1"/>
              <a:t>beslutninger</a:t>
            </a:r>
            <a:r>
              <a:rPr lang="en-US" dirty="0"/>
              <a:t> </a:t>
            </a:r>
          </a:p>
          <a:p>
            <a:r>
              <a:rPr lang="en-US" dirty="0" err="1"/>
              <a:t>Særligt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sårbare</a:t>
            </a:r>
            <a:r>
              <a:rPr lang="en-US" dirty="0"/>
              <a:t> </a:t>
            </a:r>
            <a:r>
              <a:rPr lang="en-US" dirty="0" err="1"/>
              <a:t>grupper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0889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Kernen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hele AI Act </a:t>
            </a:r>
          </a:p>
          <a:p>
            <a:r>
              <a:rPr lang="en-US" dirty="0"/>
              <a:t>Handler om </a:t>
            </a:r>
            <a:r>
              <a:rPr lang="en-US" dirty="0" err="1"/>
              <a:t>konsekvenser</a:t>
            </a:r>
            <a:r>
              <a:rPr lang="en-US" dirty="0"/>
              <a:t> -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teknologien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sig </a:t>
            </a:r>
            <a:r>
              <a:rPr lang="en-US" dirty="0" err="1"/>
              <a:t>selv</a:t>
            </a:r>
            <a:r>
              <a:rPr lang="en-US" dirty="0"/>
              <a:t> </a:t>
            </a:r>
          </a:p>
          <a:p>
            <a:r>
              <a:rPr lang="en-US" dirty="0" err="1"/>
              <a:t>Gør</a:t>
            </a:r>
            <a:r>
              <a:rPr lang="en-US" dirty="0"/>
              <a:t> </a:t>
            </a:r>
            <a:r>
              <a:rPr lang="en-US" dirty="0" err="1"/>
              <a:t>loven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 – men </a:t>
            </a:r>
            <a:r>
              <a:rPr lang="en-US" dirty="0" err="1"/>
              <a:t>efterlader</a:t>
            </a:r>
            <a:r>
              <a:rPr lang="en-US" dirty="0"/>
              <a:t> 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potentielle</a:t>
            </a:r>
            <a:r>
              <a:rPr lang="en-US" dirty="0"/>
              <a:t> </a:t>
            </a:r>
            <a:r>
              <a:rPr lang="en-US" dirty="0" err="1"/>
              <a:t>risikoer</a:t>
            </a:r>
            <a:r>
              <a:rPr lang="en-US" dirty="0"/>
              <a:t> I sig </a:t>
            </a:r>
            <a:r>
              <a:rPr lang="en-US" dirty="0" err="1"/>
              <a:t>selv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184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Hele AI Act bygger på et simpelt princip: jo større potentiel skade, jo strengere krav. </a:t>
            </a:r>
          </a:p>
          <a:p>
            <a:r>
              <a:rPr lang="da-DK" dirty="0"/>
              <a:t>Det betyder, at EU ikke regulerer al AI ens. </a:t>
            </a:r>
          </a:p>
          <a:p>
            <a:r>
              <a:rPr lang="da-DK" dirty="0"/>
              <a:t>Det er derfor vigtigt at starte med at forstå, </a:t>
            </a:r>
            <a:r>
              <a:rPr lang="da-DK" b="1" dirty="0"/>
              <a:t>hvilken type system man har med at gøre</a:t>
            </a:r>
            <a:r>
              <a:rPr lang="da-DK" dirty="0"/>
              <a:t>.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942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fire </a:t>
            </a:r>
            <a:r>
              <a:rPr lang="en-US" dirty="0" err="1"/>
              <a:t>niveauer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selve</a:t>
            </a:r>
            <a:r>
              <a:rPr lang="en-US" dirty="0"/>
              <a:t> “</a:t>
            </a:r>
            <a:r>
              <a:rPr lang="en-US" dirty="0" err="1"/>
              <a:t>trappen</a:t>
            </a:r>
            <a:r>
              <a:rPr lang="en-US" dirty="0"/>
              <a:t>”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forordningen</a:t>
            </a:r>
            <a:r>
              <a:rPr lang="en-US" dirty="0"/>
              <a:t>. </a:t>
            </a:r>
          </a:p>
          <a:p>
            <a:r>
              <a:rPr lang="en-US" dirty="0" err="1"/>
              <a:t>Nederst</a:t>
            </a:r>
            <a:r>
              <a:rPr lang="en-US" dirty="0"/>
              <a:t> ligger AI med </a:t>
            </a:r>
            <a:r>
              <a:rPr lang="en-US" dirty="0" err="1"/>
              <a:t>få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ingen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krav</a:t>
            </a:r>
            <a:r>
              <a:rPr lang="en-US" dirty="0"/>
              <a:t>. </a:t>
            </a:r>
          </a:p>
          <a:p>
            <a:r>
              <a:rPr lang="en-US" dirty="0" err="1"/>
              <a:t>Øverst</a:t>
            </a:r>
            <a:r>
              <a:rPr lang="en-US" dirty="0"/>
              <a:t> ligger AI,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slet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må</a:t>
            </a:r>
            <a:r>
              <a:rPr lang="en-US" dirty="0"/>
              <a:t> </a:t>
            </a:r>
            <a:r>
              <a:rPr lang="en-US" dirty="0" err="1"/>
              <a:t>bruges</a:t>
            </a:r>
            <a:r>
              <a:rPr lang="en-US" dirty="0"/>
              <a:t>. </a:t>
            </a:r>
          </a:p>
          <a:p>
            <a:r>
              <a:rPr lang="en-US" dirty="0"/>
              <a:t>Alt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praktiske</a:t>
            </a:r>
            <a:r>
              <a:rPr lang="en-US" dirty="0"/>
              <a:t> </a:t>
            </a:r>
            <a:r>
              <a:rPr lang="en-US" dirty="0" err="1"/>
              <a:t>arbejde</a:t>
            </a:r>
            <a:r>
              <a:rPr lang="en-US" dirty="0"/>
              <a:t> starter med </a:t>
            </a:r>
            <a:r>
              <a:rPr lang="en-US" dirty="0" err="1"/>
              <a:t>klassificering</a:t>
            </a:r>
            <a:r>
              <a:rPr lang="en-US" dirty="0"/>
              <a:t>: </a:t>
            </a:r>
            <a:r>
              <a:rPr lang="en-US" b="1" dirty="0" err="1"/>
              <a:t>Hvor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trappen</a:t>
            </a:r>
            <a:r>
              <a:rPr lang="en-US" b="1" dirty="0"/>
              <a:t> ligger </a:t>
            </a:r>
            <a:r>
              <a:rPr lang="en-US" b="1" dirty="0" err="1"/>
              <a:t>systemet</a:t>
            </a:r>
            <a:r>
              <a:rPr lang="en-US" b="1" dirty="0"/>
              <a:t>?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9909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Kender i et land hvor man godt må anvende Social Scoring</a:t>
            </a:r>
            <a:r>
              <a:rPr lang="da-DK" baseline="0" dirty="0"/>
              <a:t> og biometrisk overvågning?</a:t>
            </a:r>
          </a:p>
          <a:p>
            <a:r>
              <a:rPr lang="da-DK" dirty="0"/>
              <a:t>Uacceptabel risiko betyder i praksis: </a:t>
            </a:r>
            <a:r>
              <a:rPr lang="da-DK" b="1" dirty="0"/>
              <a:t>det her må ikke bruges</a:t>
            </a:r>
            <a:r>
              <a:rPr lang="da-DK" dirty="0"/>
              <a:t>. </a:t>
            </a:r>
          </a:p>
          <a:p>
            <a:r>
              <a:rPr lang="da-DK" dirty="0"/>
              <a:t>Det gælder blandt andet AI, der manipulerer mennesker eller udnytter sårbarhed hos børn, ældre eller personer med handicap. </a:t>
            </a:r>
          </a:p>
          <a:p>
            <a:r>
              <a:rPr lang="da-DK" dirty="0"/>
              <a:t>Social scoring er også forbudt, hvis mennesker vurderes og behandles ugunstigt ud fra social adfærd eller forudsagte egenskaber. </a:t>
            </a:r>
          </a:p>
          <a:p>
            <a:r>
              <a:rPr lang="da-DK" dirty="0"/>
              <a:t>Der er også skrappe regler om biometrisk fjernidentifikation, vilkårlig indsamling af biometriske data og følelsesgenkendelse på arbejdspladser, i uddannelse, ved grænsekontrol og retshåndhævelse.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492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Høj risiko er ikke det samme som forbudt. </a:t>
            </a:r>
          </a:p>
          <a:p>
            <a:r>
              <a:rPr lang="da-DK" dirty="0"/>
              <a:t>Det betyder, at systemet må bruges, men kun hvis en lang række krav er opfyldt. </a:t>
            </a:r>
          </a:p>
          <a:p>
            <a:r>
              <a:rPr lang="da-DK" dirty="0"/>
              <a:t>Det er især her, AI Act bliver til et konkret </a:t>
            </a:r>
            <a:r>
              <a:rPr lang="da-DK" dirty="0" err="1"/>
              <a:t>compliance</a:t>
            </a:r>
            <a:r>
              <a:rPr lang="da-DK" dirty="0"/>
              <a:t>-arbejde. </a:t>
            </a:r>
          </a:p>
          <a:p>
            <a:r>
              <a:rPr lang="da-DK" dirty="0"/>
              <a:t>Det er også her, risikovurdering i praksis bliver virkelig vigtig.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369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Højrisiko-systemer er typisk dem, der kan påvirke menneskers muligheder i livet. </a:t>
            </a:r>
          </a:p>
          <a:p>
            <a:r>
              <a:rPr lang="da-DK" dirty="0"/>
              <a:t>Det gælder fx AI i energi, transport og anden kritisk infrastruktur. </a:t>
            </a:r>
          </a:p>
          <a:p>
            <a:r>
              <a:rPr lang="da-DK" dirty="0"/>
              <a:t>Det gælder også AI i ansættelse, kreditvurdering, livsforsikring og offentlige ydelser. </a:t>
            </a:r>
          </a:p>
          <a:p>
            <a:r>
              <a:rPr lang="da-DK" dirty="0"/>
              <a:t>Uddannelse er vigtig: hvis AI bruges til optagelse, fordeling eller evaluering i prøver, kan det påvirke uddannelses- og arbejdsliv direkte.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2462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uddannelse</a:t>
            </a:r>
            <a:r>
              <a:rPr lang="en-US" dirty="0"/>
              <a:t> </a:t>
            </a:r>
            <a:r>
              <a:rPr lang="en-US" dirty="0" err="1"/>
              <a:t>fremhæves</a:t>
            </a:r>
            <a:r>
              <a:rPr lang="en-US" dirty="0"/>
              <a:t> </a:t>
            </a:r>
            <a:r>
              <a:rPr lang="en-US" dirty="0" err="1"/>
              <a:t>specifikt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materialet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højrisiko</a:t>
            </a:r>
            <a:r>
              <a:rPr lang="en-US" dirty="0"/>
              <a:t>. </a:t>
            </a:r>
          </a:p>
          <a:p>
            <a:r>
              <a:rPr lang="en-US" dirty="0" err="1"/>
              <a:t>Grunden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, at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systemer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få</a:t>
            </a:r>
            <a:r>
              <a:rPr lang="en-US" dirty="0"/>
              <a:t> </a:t>
            </a:r>
            <a:r>
              <a:rPr lang="en-US" dirty="0" err="1"/>
              <a:t>direkte</a:t>
            </a:r>
            <a:r>
              <a:rPr lang="en-US" dirty="0"/>
              <a:t> </a:t>
            </a:r>
            <a:r>
              <a:rPr lang="en-US" dirty="0" err="1"/>
              <a:t>betydning</a:t>
            </a:r>
            <a:r>
              <a:rPr lang="en-US" dirty="0"/>
              <a:t> for, </a:t>
            </a:r>
            <a:r>
              <a:rPr lang="en-US" dirty="0" err="1"/>
              <a:t>hvem</a:t>
            </a:r>
            <a:r>
              <a:rPr lang="en-US" dirty="0"/>
              <a:t> der </a:t>
            </a:r>
            <a:r>
              <a:rPr lang="en-US" dirty="0" err="1"/>
              <a:t>får</a:t>
            </a:r>
            <a:r>
              <a:rPr lang="en-US" dirty="0"/>
              <a:t> </a:t>
            </a:r>
            <a:r>
              <a:rPr lang="en-US" dirty="0" err="1"/>
              <a:t>adgang</a:t>
            </a:r>
            <a:r>
              <a:rPr lang="en-US" dirty="0"/>
              <a:t>, </a:t>
            </a:r>
            <a:r>
              <a:rPr lang="en-US" dirty="0" err="1"/>
              <a:t>hvilke</a:t>
            </a:r>
            <a:r>
              <a:rPr lang="en-US" dirty="0"/>
              <a:t> </a:t>
            </a:r>
            <a:r>
              <a:rPr lang="en-US" dirty="0" err="1"/>
              <a:t>muligheder</a:t>
            </a:r>
            <a:r>
              <a:rPr lang="en-US" dirty="0"/>
              <a:t> man </a:t>
            </a:r>
            <a:r>
              <a:rPr lang="en-US" dirty="0" err="1"/>
              <a:t>får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hvordan</a:t>
            </a:r>
            <a:r>
              <a:rPr lang="en-US" dirty="0"/>
              <a:t> man </a:t>
            </a:r>
            <a:r>
              <a:rPr lang="en-US" dirty="0" err="1"/>
              <a:t>vurderes</a:t>
            </a:r>
            <a:r>
              <a:rPr lang="en-US" dirty="0"/>
              <a:t>. </a:t>
            </a:r>
          </a:p>
          <a:p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sådanne</a:t>
            </a:r>
            <a:r>
              <a:rPr lang="en-US" dirty="0"/>
              <a:t> </a:t>
            </a:r>
            <a:r>
              <a:rPr lang="en-US" dirty="0" err="1"/>
              <a:t>systemer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dårligt</a:t>
            </a:r>
            <a:r>
              <a:rPr lang="en-US" dirty="0"/>
              <a:t> </a:t>
            </a:r>
            <a:r>
              <a:rPr lang="en-US" dirty="0" err="1"/>
              <a:t>designet</a:t>
            </a:r>
            <a:r>
              <a:rPr lang="en-US" dirty="0"/>
              <a:t>, </a:t>
            </a:r>
            <a:r>
              <a:rPr lang="en-US" dirty="0" err="1"/>
              <a:t>kan</a:t>
            </a:r>
            <a:r>
              <a:rPr lang="en-US" dirty="0"/>
              <a:t> de </a:t>
            </a:r>
            <a:r>
              <a:rPr lang="en-US" dirty="0" err="1"/>
              <a:t>både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diskriminerende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forstærke</a:t>
            </a:r>
            <a:r>
              <a:rPr lang="en-US" dirty="0"/>
              <a:t> </a:t>
            </a:r>
            <a:r>
              <a:rPr lang="en-US" dirty="0" err="1"/>
              <a:t>gamle</a:t>
            </a:r>
            <a:r>
              <a:rPr lang="en-US" dirty="0"/>
              <a:t> </a:t>
            </a:r>
            <a:r>
              <a:rPr lang="en-US" dirty="0" err="1"/>
              <a:t>skævheder</a:t>
            </a:r>
            <a:r>
              <a:rPr lang="en-US" dirty="0"/>
              <a:t>.</a:t>
            </a:r>
          </a:p>
          <a:p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et </a:t>
            </a:r>
            <a:r>
              <a:rPr lang="en-US" dirty="0" err="1"/>
              <a:t>godt</a:t>
            </a:r>
            <a:r>
              <a:rPr lang="en-US" dirty="0"/>
              <a:t> </a:t>
            </a:r>
            <a:r>
              <a:rPr lang="en-US" dirty="0" err="1"/>
              <a:t>eksempel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, at </a:t>
            </a:r>
            <a:r>
              <a:rPr lang="en-US" dirty="0" err="1"/>
              <a:t>risiko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AI Act handler om </a:t>
            </a:r>
            <a:r>
              <a:rPr lang="en-US" b="1" dirty="0" err="1"/>
              <a:t>konsekvenser</a:t>
            </a:r>
            <a:r>
              <a:rPr lang="en-US" b="1" dirty="0"/>
              <a:t> for </a:t>
            </a:r>
            <a:r>
              <a:rPr lang="en-US" b="1" dirty="0" err="1"/>
              <a:t>mennesker</a:t>
            </a:r>
            <a:r>
              <a:rPr lang="en-US" dirty="0"/>
              <a:t>.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4199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Begrænset risiko betyder færre krav end højrisiko. </a:t>
            </a:r>
          </a:p>
          <a:p>
            <a:r>
              <a:rPr lang="da-DK" dirty="0"/>
              <a:t>Her er hovedpointen transparens. </a:t>
            </a:r>
          </a:p>
          <a:p>
            <a:r>
              <a:rPr lang="da-DK" dirty="0"/>
              <a:t>Brugeren skal vide, at de taler med en maskine. </a:t>
            </a:r>
          </a:p>
          <a:p>
            <a:r>
              <a:rPr lang="da-DK" dirty="0"/>
              <a:t>Og hvis lyd, video eller billeder er kunstigt genereret eller manipuleret, skal det oplyses tydeligt. 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6591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Minimal </a:t>
            </a:r>
            <a:r>
              <a:rPr lang="en-US" dirty="0" err="1"/>
              <a:t>risiko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den </a:t>
            </a:r>
            <a:r>
              <a:rPr lang="en-US" dirty="0" err="1"/>
              <a:t>kategori</a:t>
            </a:r>
            <a:r>
              <a:rPr lang="en-US" dirty="0"/>
              <a:t>, de </a:t>
            </a:r>
            <a:r>
              <a:rPr lang="en-US" dirty="0" err="1"/>
              <a:t>fleste</a:t>
            </a:r>
            <a:r>
              <a:rPr lang="en-US" dirty="0"/>
              <a:t> simple AI-</a:t>
            </a:r>
            <a:r>
              <a:rPr lang="en-US" dirty="0" err="1"/>
              <a:t>systemer</a:t>
            </a:r>
            <a:r>
              <a:rPr lang="en-US" dirty="0"/>
              <a:t> ligger </a:t>
            </a:r>
            <a:r>
              <a:rPr lang="en-US" dirty="0" err="1"/>
              <a:t>i</a:t>
            </a:r>
            <a:r>
              <a:rPr lang="en-US" dirty="0"/>
              <a:t>. </a:t>
            </a:r>
          </a:p>
          <a:p>
            <a:r>
              <a:rPr lang="en-US" dirty="0"/>
              <a:t>Her </a:t>
            </a:r>
            <a:r>
              <a:rPr lang="en-US" dirty="0" err="1"/>
              <a:t>ønsker</a:t>
            </a:r>
            <a:r>
              <a:rPr lang="en-US" dirty="0"/>
              <a:t> EU </a:t>
            </a:r>
            <a:r>
              <a:rPr lang="en-US" dirty="0" err="1"/>
              <a:t>ikke</a:t>
            </a:r>
            <a:r>
              <a:rPr lang="en-US" dirty="0"/>
              <a:t> at </a:t>
            </a:r>
            <a:r>
              <a:rPr lang="en-US" dirty="0" err="1"/>
              <a:t>overregulere</a:t>
            </a:r>
            <a:r>
              <a:rPr lang="en-US" dirty="0"/>
              <a:t>. </a:t>
            </a:r>
          </a:p>
          <a:p>
            <a:r>
              <a:rPr lang="en-US" dirty="0" err="1"/>
              <a:t>Pointen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, at </a:t>
            </a:r>
            <a:r>
              <a:rPr lang="en-US" dirty="0" err="1"/>
              <a:t>ikke</a:t>
            </a:r>
            <a:r>
              <a:rPr lang="en-US" dirty="0"/>
              <a:t> al AI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farlig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samfundskritisk</a:t>
            </a:r>
            <a:r>
              <a:rPr lang="en-US" dirty="0"/>
              <a:t>. </a:t>
            </a:r>
          </a:p>
          <a:p>
            <a:r>
              <a:rPr lang="en-US" dirty="0" err="1"/>
              <a:t>Derfor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der </a:t>
            </a:r>
            <a:r>
              <a:rPr lang="en-US" dirty="0" err="1"/>
              <a:t>næsten</a:t>
            </a:r>
            <a:r>
              <a:rPr lang="en-US" dirty="0"/>
              <a:t> </a:t>
            </a:r>
            <a:r>
              <a:rPr lang="en-US" dirty="0" err="1"/>
              <a:t>ingen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krav</a:t>
            </a:r>
            <a:r>
              <a:rPr lang="en-US" dirty="0"/>
              <a:t> her.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9989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I praksis betyder AI Act, at man ikke bare kan “tage AI i brug” uden overblik. </a:t>
            </a:r>
          </a:p>
          <a:p>
            <a:r>
              <a:rPr lang="da-DK" dirty="0"/>
              <a:t>Man skal vide: Er vi udvikler, importør, distributør eller bruger? </a:t>
            </a:r>
          </a:p>
          <a:p>
            <a:r>
              <a:rPr lang="da-DK" dirty="0"/>
              <a:t>Man skal også vide: Hvilket risikoniveau har systemet? </a:t>
            </a:r>
          </a:p>
          <a:p>
            <a:r>
              <a:rPr lang="da-DK" dirty="0"/>
              <a:t>Og hvis det er højrisiko, skal man kunne dokumentere, overvåge og styre det løbende. </a:t>
            </a:r>
          </a:p>
          <a:p>
            <a:r>
              <a:rPr lang="da-DK" dirty="0"/>
              <a:t>Det er her, lovgivning bliver til </a:t>
            </a:r>
            <a:r>
              <a:rPr lang="da-DK" dirty="0" err="1"/>
              <a:t>governance</a:t>
            </a:r>
            <a:r>
              <a:rPr lang="da-DK" dirty="0"/>
              <a:t> og daglig praksis. Dette er en sammenfatning på baggrund af de konkrete pligter beskrevet i materialet.</a:t>
            </a:r>
          </a:p>
          <a:p>
            <a:pPr marL="158750" indent="0">
              <a:buNone/>
            </a:pP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1579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Materialet giver ikke en fuld “metode-model” som separat </a:t>
            </a:r>
            <a:r>
              <a:rPr lang="da-DK" dirty="0" err="1"/>
              <a:t>framework</a:t>
            </a:r>
            <a:r>
              <a:rPr lang="da-DK" dirty="0"/>
              <a:t>, men de praktiske krav peger tydeligt på en arbejdsgang. </a:t>
            </a:r>
          </a:p>
          <a:p>
            <a:r>
              <a:rPr lang="da-DK" dirty="0"/>
              <a:t>Først skal man afgrænse, hvad systemet faktisk gør. </a:t>
            </a:r>
          </a:p>
          <a:p>
            <a:r>
              <a:rPr lang="da-DK" dirty="0"/>
              <a:t>Derefter skal man placere det i en risikokategori. </a:t>
            </a:r>
          </a:p>
          <a:p>
            <a:r>
              <a:rPr lang="da-DK" dirty="0"/>
              <a:t>Så skal man se på, hvordan det bruges, af hvem, og med hvilken påvirkning. </a:t>
            </a:r>
          </a:p>
          <a:p>
            <a:r>
              <a:rPr lang="da-DK" dirty="0"/>
              <a:t>Til sidst skal man fastlægge ansvar, dokumentere og overvåge brugen. </a:t>
            </a:r>
          </a:p>
          <a:p>
            <a:r>
              <a:rPr lang="da-DK" dirty="0"/>
              <a:t>Det her er altså en praktisk udledning af forordningens krav. 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9446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Man risikovurderer ikke AI i abstrakt form. </a:t>
            </a:r>
          </a:p>
          <a:p>
            <a:r>
              <a:rPr lang="da-DK" dirty="0"/>
              <a:t>Man risikovurderer et konkret system i en konkret anvendelse. </a:t>
            </a:r>
          </a:p>
          <a:p>
            <a:r>
              <a:rPr lang="da-DK" dirty="0"/>
              <a:t>Det samme værktøj kan have forskellig risiko alt efter kontekst. </a:t>
            </a:r>
          </a:p>
          <a:p>
            <a:r>
              <a:rPr lang="da-DK" dirty="0"/>
              <a:t>Derudover er det vigtigt at huske EU’s geografiske anvendelsesområde: også hvis systemet er uden for EU, men output bruges i EU.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8643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Det første spørgsmål er: er systemet direkte forbudt? </a:t>
            </a:r>
          </a:p>
          <a:p>
            <a:r>
              <a:rPr lang="da-DK" dirty="0"/>
              <a:t>Hvis ikke, ser man på, om det falder ind under højrisiko-kategorierne i artikel 6 og bilag 3. </a:t>
            </a:r>
          </a:p>
          <a:p>
            <a:r>
              <a:rPr lang="da-DK" dirty="0"/>
              <a:t>Hvis det fx er </a:t>
            </a:r>
            <a:r>
              <a:rPr lang="da-DK" dirty="0" err="1"/>
              <a:t>chatbot</a:t>
            </a:r>
            <a:r>
              <a:rPr lang="da-DK" dirty="0"/>
              <a:t> eller </a:t>
            </a:r>
            <a:r>
              <a:rPr lang="da-DK" dirty="0" err="1"/>
              <a:t>deepfake</a:t>
            </a:r>
            <a:r>
              <a:rPr lang="da-DK" dirty="0"/>
              <a:t>, er det typisk begrænset risiko. </a:t>
            </a:r>
          </a:p>
          <a:p>
            <a:r>
              <a:rPr lang="da-DK" dirty="0"/>
              <a:t>Hvis det bare er et simpelt spamfilter, er det minimal risiko. </a:t>
            </a:r>
          </a:p>
          <a:p>
            <a:r>
              <a:rPr lang="da-DK" dirty="0"/>
              <a:t>Det her klassifikationstrin er afgørende, fordi resten af kravene afhænger af det.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5664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Hvis systemet er højrisiko, starter det alvorlige arbejde. </a:t>
            </a:r>
          </a:p>
          <a:p>
            <a:r>
              <a:rPr lang="da-DK" dirty="0"/>
              <a:t>Der skal være risikostyring gennem hele livscyklussen. </a:t>
            </a:r>
          </a:p>
          <a:p>
            <a:r>
              <a:rPr lang="da-DK" dirty="0"/>
              <a:t>Data skal være relevante, repræsentative og håndteres forsvarligt. </a:t>
            </a:r>
          </a:p>
          <a:p>
            <a:r>
              <a:rPr lang="da-DK" dirty="0"/>
              <a:t>Der skal være teknisk dokumentation, logning, nøjagtighed, robusthed og </a:t>
            </a:r>
            <a:r>
              <a:rPr lang="da-DK" dirty="0" err="1"/>
              <a:t>cybersikkerhed</a:t>
            </a:r>
            <a:r>
              <a:rPr lang="da-DK" dirty="0"/>
              <a:t>. </a:t>
            </a:r>
          </a:p>
          <a:p>
            <a:r>
              <a:rPr lang="da-DK" dirty="0"/>
              <a:t>Systemet skal også designes, så mennesker kan overvåge og gribe ind.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4566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Udbyderen har det største ansvar i AI Act. </a:t>
            </a:r>
          </a:p>
          <a:p>
            <a:r>
              <a:rPr lang="da-DK" dirty="0"/>
              <a:t>Det gælder udviklere, men også importører og distributører i visse sammenhænge. </a:t>
            </a:r>
          </a:p>
          <a:p>
            <a:r>
              <a:rPr lang="da-DK" dirty="0"/>
              <a:t>De skal arbejde med risikostyring, data </a:t>
            </a:r>
            <a:r>
              <a:rPr lang="da-DK" dirty="0" err="1"/>
              <a:t>governance</a:t>
            </a:r>
            <a:r>
              <a:rPr lang="da-DK" dirty="0"/>
              <a:t> og gennemsigtighed. </a:t>
            </a:r>
          </a:p>
          <a:p>
            <a:r>
              <a:rPr lang="da-DK" dirty="0"/>
              <a:t>De skal udarbejde teknisk dokumentation og brugsanvisninger. </a:t>
            </a:r>
          </a:p>
          <a:p>
            <a:r>
              <a:rPr lang="da-DK" dirty="0"/>
              <a:t>For højrisiko-AI kræves også overensstemmelsesvurdering, CE-mærkning og registrering i EU-database.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5063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Brugeren er ikke passiv. </a:t>
            </a:r>
          </a:p>
          <a:p>
            <a:r>
              <a:rPr lang="da-DK" dirty="0"/>
              <a:t>Hvis man bruger et højrisiko-system, skal man bruge det korrekt og i overensstemmelse med formålet. </a:t>
            </a:r>
          </a:p>
          <a:p>
            <a:r>
              <a:rPr lang="da-DK" dirty="0"/>
              <a:t>Man skal overvåge systemets ydeevne og reagere på fejl eller alvorlige hændelser. </a:t>
            </a:r>
          </a:p>
          <a:p>
            <a:r>
              <a:rPr lang="da-DK" dirty="0"/>
              <a:t>Hvor det er relevant, skal man opbevare logfiler og sikre sporbarhed. </a:t>
            </a:r>
          </a:p>
          <a:p>
            <a:r>
              <a:rPr lang="da-DK" dirty="0"/>
              <a:t>Materialet nævner også konsekvensanalyse vedrørende databeskyttelse og mulighed for, at mennesker kan anfægte AI-beslutninger. 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8781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Materialet fremhæver, at højrisiko-systemer kræver særlige hensyn, hvis de påvirker børn og unge under 18 år. </a:t>
            </a:r>
          </a:p>
          <a:p>
            <a:r>
              <a:rPr lang="da-DK" dirty="0"/>
              <a:t>Det gør uddannelsesområdet ekstra vigtigt. </a:t>
            </a:r>
          </a:p>
          <a:p>
            <a:r>
              <a:rPr lang="da-DK" dirty="0"/>
              <a:t>Derudover kommer GDPR oveni: databehandleraftaler, ingen unødige personoplysninger, og stor forsigtighed med billeder og anden personhenførbar information. </a:t>
            </a:r>
          </a:p>
          <a:p>
            <a:r>
              <a:rPr lang="da-DK" dirty="0"/>
              <a:t>Her er pointen, at AI Act og GDPR ofte skal tænkes sammen i praksis.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482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Materialet fremhæver også foundation-modeller og general purpose AI. </a:t>
            </a:r>
          </a:p>
          <a:p>
            <a:r>
              <a:rPr lang="da-DK" dirty="0"/>
              <a:t>Det er modeller, der er trænet bredt og kan tilpasses mange forskellige opgaver. </a:t>
            </a:r>
          </a:p>
          <a:p>
            <a:r>
              <a:rPr lang="da-DK" dirty="0"/>
              <a:t>Her kommer der særlige krav om transparens, kontrol med bias og opsummering af ophavsretligt beskyttede træningsdata. </a:t>
            </a:r>
          </a:p>
          <a:p>
            <a:r>
              <a:rPr lang="da-DK" dirty="0"/>
              <a:t>Det er derfor generativ AI også er en del af AI Act-billedet – ikke kun klassiske beslutningssystemer. 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0768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AI Act er ikke bare vejledning; den håndhæves. </a:t>
            </a:r>
          </a:p>
          <a:p>
            <a:r>
              <a:rPr lang="da-DK" dirty="0"/>
              <a:t>Hver medlemsstat får kompetente myndigheder, og på EU-niveau koordinerer European AI Office. </a:t>
            </a:r>
          </a:p>
          <a:p>
            <a:r>
              <a:rPr lang="da-DK" dirty="0"/>
              <a:t>Der kan ske markedsovervågning, revisioner og krav om rapportering af alvorlige hændelser. </a:t>
            </a:r>
          </a:p>
          <a:p>
            <a:r>
              <a:rPr lang="da-DK" dirty="0"/>
              <a:t>Sanktionerne er markante: op til 35 millioner euro eller 7 % af global omsætning ved alvorlige overtrædelser.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1179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Materialet viser, at AI Act træder i kraft trinvist. </a:t>
            </a:r>
          </a:p>
          <a:p>
            <a:r>
              <a:rPr lang="da-DK" dirty="0"/>
              <a:t>Først kommer forbud mod uacceptabel risiko. </a:t>
            </a:r>
          </a:p>
          <a:p>
            <a:r>
              <a:rPr lang="da-DK" dirty="0"/>
              <a:t>Derefter kommer </a:t>
            </a:r>
            <a:r>
              <a:rPr lang="da-DK" dirty="0" err="1"/>
              <a:t>codes</a:t>
            </a:r>
            <a:r>
              <a:rPr lang="da-DK" dirty="0"/>
              <a:t> of </a:t>
            </a:r>
            <a:r>
              <a:rPr lang="da-DK" dirty="0" err="1"/>
              <a:t>practice</a:t>
            </a:r>
            <a:r>
              <a:rPr lang="da-DK" dirty="0"/>
              <a:t> og krav til general purpose AI. </a:t>
            </a:r>
          </a:p>
          <a:p>
            <a:r>
              <a:rPr lang="da-DK" dirty="0"/>
              <a:t>Senere følger vejledning, sandkasser og de fulde forpligtelser for højrisiko-systemer. </a:t>
            </a:r>
          </a:p>
          <a:p>
            <a:r>
              <a:rPr lang="da-DK" dirty="0"/>
              <a:t>Konklusionen er klar: virksomheder bør ikke vente på sidste frist, men begynde arbejdet nu. 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6262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Hvis du skal huske én ting, så er det: AI Act handler ikke kun om teknologi, men om ansvar. </a:t>
            </a:r>
          </a:p>
          <a:p>
            <a:r>
              <a:rPr lang="da-DK" dirty="0"/>
              <a:t>I praksis betyder det, at man skal kende sit system, forstå sin anvendelse og placere det korrekt i risikomodellen. </a:t>
            </a:r>
          </a:p>
          <a:p>
            <a:r>
              <a:rPr lang="da-DK" dirty="0"/>
              <a:t>Derefter kommer krav til dokumentation, transparens, tilsyn og rettigheder. </a:t>
            </a:r>
          </a:p>
          <a:p>
            <a:r>
              <a:rPr lang="da-DK" dirty="0"/>
              <a:t>Og i mange sammenhænge – især i uddannelse og ved børn og unge – skal GDPR tænkes ind samtidig.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5646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8364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5021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Personlige formål: leg med chat GPT, </a:t>
            </a:r>
            <a:r>
              <a:rPr lang="da-DK" dirty="0" err="1"/>
              <a:t>copilot</a:t>
            </a:r>
            <a:r>
              <a:rPr lang="da-DK" dirty="0"/>
              <a:t>, billedgenerering (inden for lov og rammer)</a:t>
            </a:r>
          </a:p>
          <a:p>
            <a:r>
              <a:rPr lang="da-DK" dirty="0"/>
              <a:t>Klassisk software: fx simple regelbaserede</a:t>
            </a:r>
            <a:r>
              <a:rPr lang="da-DK" baseline="0" dirty="0"/>
              <a:t> systemer</a:t>
            </a:r>
            <a:endParaRPr lang="da-DK" dirty="0"/>
          </a:p>
          <a:p>
            <a:r>
              <a:rPr lang="da-DK" dirty="0"/>
              <a:t>Open source-modeller:</a:t>
            </a:r>
            <a:r>
              <a:rPr lang="da-DK" baseline="0" dirty="0"/>
              <a:t> delvist undtaget, medmindre de bruges i systemer fra højrisiko og op.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9980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Systemer brugt til forsvar og I forsvaret er ikke omfattet af civil regulering og falder derfor uden for EU’s civil</a:t>
            </a:r>
            <a:r>
              <a:rPr lang="da-DK" baseline="0" dirty="0"/>
              <a:t> regulering</a:t>
            </a:r>
          </a:p>
          <a:p>
            <a:r>
              <a:rPr lang="da-DK" baseline="0" dirty="0"/>
              <a:t>Forskning: AI i tidlige eksperimenter og tests</a:t>
            </a:r>
          </a:p>
          <a:p>
            <a:pPr lvl="1"/>
            <a:r>
              <a:rPr lang="da-DK" baseline="0" dirty="0"/>
              <a:t>Så længe det ikke er taget i brug i praksis</a:t>
            </a:r>
          </a:p>
          <a:p>
            <a:pPr lvl="1"/>
            <a:endParaRPr lang="da-DK" baseline="0" dirty="0"/>
          </a:p>
          <a:p>
            <a:pPr lvl="1"/>
            <a:endParaRPr lang="da-DK" baseline="0" dirty="0"/>
          </a:p>
          <a:p>
            <a:pPr lvl="0"/>
            <a:r>
              <a:rPr lang="en-US" dirty="0"/>
              <a:t>“AI Act handler </a:t>
            </a:r>
            <a:r>
              <a:rPr lang="en-US" dirty="0" err="1"/>
              <a:t>ikke</a:t>
            </a:r>
            <a:r>
              <a:rPr lang="en-US" dirty="0"/>
              <a:t> om alt AI – men om AI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brug</a:t>
            </a:r>
            <a:r>
              <a:rPr lang="en-US" dirty="0"/>
              <a:t>, der </a:t>
            </a:r>
            <a:r>
              <a:rPr lang="en-US" dirty="0" err="1"/>
              <a:t>påvirker</a:t>
            </a:r>
            <a:r>
              <a:rPr lang="en-US" dirty="0"/>
              <a:t> </a:t>
            </a:r>
            <a:r>
              <a:rPr lang="en-US" dirty="0" err="1"/>
              <a:t>mennesker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samfund</a:t>
            </a:r>
            <a:r>
              <a:rPr lang="en-US" dirty="0"/>
              <a:t>.” </a:t>
            </a:r>
          </a:p>
          <a:p>
            <a:pPr lvl="0"/>
            <a:r>
              <a:rPr lang="en-US" dirty="0"/>
              <a:t>“</a:t>
            </a: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privat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stadig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laboratoriet</a:t>
            </a:r>
            <a:r>
              <a:rPr lang="en-US" dirty="0"/>
              <a:t>, </a:t>
            </a:r>
            <a:r>
              <a:rPr lang="en-US" dirty="0" err="1"/>
              <a:t>er</a:t>
            </a:r>
            <a:r>
              <a:rPr lang="en-US" dirty="0"/>
              <a:t> du </a:t>
            </a:r>
            <a:r>
              <a:rPr lang="en-US" dirty="0" err="1"/>
              <a:t>typisk</a:t>
            </a:r>
            <a:r>
              <a:rPr lang="en-US" dirty="0"/>
              <a:t> </a:t>
            </a:r>
            <a:r>
              <a:rPr lang="en-US" dirty="0" err="1"/>
              <a:t>udenfor</a:t>
            </a:r>
            <a:r>
              <a:rPr lang="en-US" dirty="0"/>
              <a:t>.” </a:t>
            </a:r>
          </a:p>
          <a:p>
            <a:pPr lvl="0"/>
            <a:r>
              <a:rPr lang="en-US" dirty="0"/>
              <a:t>“Men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snart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brugt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organisation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påvirker</a:t>
            </a:r>
            <a:r>
              <a:rPr lang="en-US" dirty="0"/>
              <a:t> </a:t>
            </a:r>
            <a:r>
              <a:rPr lang="en-US" dirty="0" err="1"/>
              <a:t>andre</a:t>
            </a:r>
            <a:r>
              <a:rPr lang="en-US" dirty="0"/>
              <a:t> –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gælder</a:t>
            </a:r>
            <a:r>
              <a:rPr lang="en-US" dirty="0"/>
              <a:t> </a:t>
            </a:r>
            <a:r>
              <a:rPr lang="en-US" dirty="0" err="1"/>
              <a:t>reglerne</a:t>
            </a:r>
            <a:r>
              <a:rPr lang="en-US" dirty="0"/>
              <a:t>.” </a:t>
            </a:r>
          </a:p>
          <a:p>
            <a:pPr lvl="0"/>
            <a:r>
              <a:rPr lang="en-US" dirty="0"/>
              <a:t>“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vigtigst</a:t>
            </a:r>
            <a:r>
              <a:rPr lang="en-US" dirty="0"/>
              <a:t>: </a:t>
            </a:r>
            <a:r>
              <a:rPr lang="en-US" dirty="0" err="1"/>
              <a:t>kontekst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alt –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samme</a:t>
            </a:r>
            <a:r>
              <a:rPr lang="en-US" dirty="0"/>
              <a:t> system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reguleret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én</a:t>
            </a:r>
            <a:r>
              <a:rPr lang="en-US" dirty="0"/>
              <a:t> situation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anden</a:t>
            </a:r>
            <a:r>
              <a:rPr lang="en-US" dirty="0"/>
              <a:t>.</a:t>
            </a:r>
            <a:endParaRPr lang="da-DK" baseline="0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981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7836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Prompt:</a:t>
            </a:r>
          </a:p>
          <a:p>
            <a:pPr marL="158750" indent="0">
              <a:buNone/>
            </a:pPr>
            <a:r>
              <a:rPr lang="da-DK" dirty="0"/>
              <a:t>Giv mig en liste over hvad AI ikke må vise og en liste over hvilken type AI der vurderes at være "forbudt”</a:t>
            </a:r>
          </a:p>
          <a:p>
            <a:pPr marL="158750" indent="0">
              <a:buNone/>
            </a:pPr>
            <a:endParaRPr lang="da-DK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a-DK" sz="1100" b="1" dirty="0"/>
              <a:t>Aflæse følelser på arbejdspladser eller i uddannelser - (med snævre undtagelser)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a-DK" sz="1100" dirty="0"/>
              <a:t>Bruge realtids ansigtsgenkendelse i offentlige rum </a:t>
            </a:r>
            <a:r>
              <a:rPr lang="da-DK" sz="1100" baseline="0" dirty="0"/>
              <a:t>fx - </a:t>
            </a:r>
            <a:r>
              <a:rPr lang="da-DK" sz="1100" dirty="0"/>
              <a:t>få undtagelser for politi</a:t>
            </a:r>
          </a:p>
          <a:p>
            <a:pPr marL="158750" indent="0">
              <a:buNone/>
            </a:pPr>
            <a:endParaRPr lang="da-DK" dirty="0"/>
          </a:p>
          <a:p>
            <a:pPr marL="158750" indent="0">
              <a:buNone/>
            </a:pPr>
            <a:endParaRPr lang="da-DK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a-DK" sz="1100" dirty="0"/>
              <a:t>Bevidst vildledning eksempler: (</a:t>
            </a:r>
            <a:r>
              <a:rPr lang="da-DK" sz="1100" dirty="0" err="1"/>
              <a:t>deepfakes</a:t>
            </a:r>
            <a:r>
              <a:rPr lang="da-DK" sz="1100" dirty="0"/>
              <a:t> uden tydelig mærkning) </a:t>
            </a:r>
          </a:p>
          <a:p>
            <a:pPr marL="158750" indent="0">
              <a:buNone/>
            </a:pP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010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Prompt:</a:t>
            </a:r>
          </a:p>
          <a:p>
            <a:pPr marL="158750" indent="0">
              <a:buNone/>
            </a:pPr>
            <a:r>
              <a:rPr lang="da-DK" dirty="0"/>
              <a:t>Giv mig en liste over hvad AI ikke må vise og en liste over hvilken type AI der vurderes at være "forbudt”</a:t>
            </a:r>
          </a:p>
          <a:p>
            <a:pPr marL="158750" indent="0">
              <a:buNone/>
            </a:pPr>
            <a:endParaRPr lang="da-DK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a-DK" sz="1100" b="1" dirty="0"/>
              <a:t>Aflæse følelser på arbejdspladser eller i uddannelser - (med snævre undtagelser)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a-DK" sz="1100" dirty="0"/>
              <a:t>Bruge realtids ansigtsgenkendelse i offentlige rum </a:t>
            </a:r>
            <a:r>
              <a:rPr lang="da-DK" sz="1100" baseline="0" dirty="0"/>
              <a:t>fx - </a:t>
            </a:r>
            <a:r>
              <a:rPr lang="da-DK" sz="1100" dirty="0"/>
              <a:t>få undtagelser for politi</a:t>
            </a:r>
          </a:p>
          <a:p>
            <a:pPr marL="158750" indent="0">
              <a:buNone/>
            </a:pPr>
            <a:endParaRPr lang="da-DK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a-DK" sz="1100" dirty="0"/>
              <a:t>Bevidst vildledning eksempler: (</a:t>
            </a:r>
            <a:r>
              <a:rPr lang="da-DK" sz="1100" dirty="0" err="1"/>
              <a:t>deepfakes</a:t>
            </a:r>
            <a:r>
              <a:rPr lang="da-DK" sz="1100" dirty="0"/>
              <a:t> uden tydelig mærkning) </a:t>
            </a:r>
          </a:p>
          <a:p>
            <a:pPr marL="158750" indent="0">
              <a:buNone/>
            </a:pPr>
            <a:endParaRPr lang="da-DK" dirty="0"/>
          </a:p>
          <a:p>
            <a:pPr marL="158750" indent="0">
              <a:buNone/>
            </a:pPr>
            <a:r>
              <a:rPr lang="da-DK" dirty="0"/>
              <a:t>Noter:</a:t>
            </a:r>
            <a:br>
              <a:rPr lang="da-DK" dirty="0"/>
            </a:br>
            <a:r>
              <a:rPr lang="da-DK" dirty="0"/>
              <a:t>Det er tæt på at være det samme, men med enkelte forskelle.</a:t>
            </a:r>
          </a:p>
          <a:p>
            <a:pPr marL="158750" indent="0">
              <a:buNone/>
            </a:pPr>
            <a:r>
              <a:rPr lang="da-DK" dirty="0" err="1"/>
              <a:t>Copilot</a:t>
            </a:r>
            <a:r>
              <a:rPr lang="da-DK" baseline="0" dirty="0"/>
              <a:t> henter dens viden fra Digitaliseringsstyrelsen. </a:t>
            </a:r>
            <a:r>
              <a:rPr lang="da-DK" baseline="0" dirty="0" err="1"/>
              <a:t>ChatGPT</a:t>
            </a:r>
            <a:r>
              <a:rPr lang="da-DK" baseline="0" dirty="0"/>
              <a:t> fortæller ikke hvor den har sin viden fra</a:t>
            </a:r>
          </a:p>
          <a:p>
            <a:pPr marL="158750" indent="0">
              <a:buNone/>
            </a:pP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7717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2320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0910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033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305223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Vi taler meget om potentialet i AI – men vi er nødt til også at forstå bagsiden.</a:t>
            </a:r>
          </a:p>
          <a:p>
            <a:r>
              <a:rPr lang="da-DK" dirty="0"/>
              <a:t>Jo mere vi integrerer AI i vores arbejde, jo større bliver konsekvenserne, hvis noget fejler.</a:t>
            </a:r>
          </a:p>
          <a:p>
            <a:r>
              <a:rPr lang="da-DK" dirty="0"/>
              <a:t>Trusselsbilledet handler ikke om </a:t>
            </a:r>
            <a:r>
              <a:rPr lang="da-DK" dirty="0" err="1"/>
              <a:t>sci-fi</a:t>
            </a:r>
            <a:r>
              <a:rPr lang="da-DK" dirty="0"/>
              <a:t> – men om helt konkrete risici i hverdagen.</a:t>
            </a:r>
          </a:p>
          <a:p>
            <a:pPr marL="158750" indent="0" fontAlgn="t">
              <a:buNone/>
            </a:pPr>
            <a:endParaRPr lang="da-DK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påvirke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menneskers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beslutninger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automatisere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vurderinger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mennesker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skalere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overvågning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kontrol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hurtigt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7038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AI gør det nemmere og billigere at lave overbevisende manipulation.</a:t>
            </a:r>
          </a:p>
          <a:p>
            <a:r>
              <a:rPr lang="da-DK" dirty="0"/>
              <a:t>Svindel bliver mere målrettet og sværere at opdage.</a:t>
            </a:r>
          </a:p>
          <a:p>
            <a:r>
              <a:rPr lang="da-DK" dirty="0"/>
              <a:t>Vi ser allerede eksempler i politik, virksomheder og </a:t>
            </a:r>
            <a:r>
              <a:rPr lang="da-DK" dirty="0" err="1"/>
              <a:t>cybersikkerhed</a:t>
            </a:r>
            <a:r>
              <a:rPr lang="da-DK" dirty="0"/>
              <a:t>.</a:t>
            </a:r>
          </a:p>
          <a:p>
            <a:r>
              <a:rPr lang="da-DK" dirty="0"/>
              <a:t>Det nye er ikke truslen – men hastigheden og skalaen.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1271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Det kræver ikke længere samme ekspertise at lave avancerede angreb.</a:t>
            </a:r>
          </a:p>
          <a:p>
            <a:r>
              <a:rPr lang="da-DK" dirty="0"/>
              <a:t>AI fungerer som en ‘force </a:t>
            </a:r>
            <a:r>
              <a:rPr lang="da-DK" dirty="0" err="1"/>
              <a:t>multiplier</a:t>
            </a:r>
            <a:r>
              <a:rPr lang="da-DK" dirty="0"/>
              <a:t>’.</a:t>
            </a:r>
          </a:p>
          <a:p>
            <a:r>
              <a:rPr lang="da-DK" dirty="0"/>
              <a:t>Det betyder, at flere aktører kan gøre mere skade hurtigere.</a:t>
            </a:r>
          </a:p>
          <a:p>
            <a:r>
              <a:rPr lang="da-DK" dirty="0"/>
              <a:t>Derfor er det her et ledelses- og samfundsproblem – ikke kun et teknisk problem.</a:t>
            </a:r>
          </a:p>
        </p:txBody>
      </p:sp>
    </p:spTree>
    <p:extLst>
      <p:ext uri="{BB962C8B-B14F-4D97-AF65-F5344CB8AC3E}">
        <p14:creationId xmlns:p14="http://schemas.microsoft.com/office/powerpoint/2010/main" val="30685448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 err="1"/>
              <a:t>Deepfakes</a:t>
            </a:r>
            <a:r>
              <a:rPr lang="da-DK" dirty="0"/>
              <a:t> er i bund og grund digital manipulation – men på steroider.</a:t>
            </a:r>
          </a:p>
          <a:p>
            <a:r>
              <a:rPr lang="da-DK" dirty="0"/>
              <a:t>Det, der gør dem farlige, er hvor overbevisende de er blevet.</a:t>
            </a:r>
          </a:p>
          <a:p>
            <a:r>
              <a:rPr lang="da-DK" dirty="0"/>
              <a:t>Vi går fra ‘se er at tro’ → til ‘se er ikke længere bevis’.</a:t>
            </a:r>
          </a:p>
          <a:p>
            <a:r>
              <a:rPr lang="da-DK" dirty="0"/>
              <a:t>De kan bruges både harmløst og meget skadeligt.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2964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Det er ikke én teknologi – det er flere, der arbejder sammen.</a:t>
            </a:r>
          </a:p>
          <a:p>
            <a:r>
              <a:rPr lang="da-DK" dirty="0"/>
              <a:t>Computer Vision analyserer ansigtet, generative modeller skaber det nye.</a:t>
            </a:r>
          </a:p>
          <a:p>
            <a:r>
              <a:rPr lang="da-DK" dirty="0"/>
              <a:t>Audio AI gør det muligt at klone stemmer ekstremt realistisk.</a:t>
            </a:r>
          </a:p>
          <a:p>
            <a:r>
              <a:rPr lang="da-DK" dirty="0"/>
              <a:t>Jo mere data – jo mere overbevisende bliver resultatet.</a:t>
            </a:r>
          </a:p>
          <a:p>
            <a:pPr marL="158750" indent="0">
              <a:buNone/>
            </a:pP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35578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27204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Tidligere kunne man ret nemt spotte </a:t>
            </a:r>
            <a:r>
              <a:rPr lang="da-DK" dirty="0" err="1"/>
              <a:t>deepfakes</a:t>
            </a:r>
            <a:r>
              <a:rPr lang="da-DK" dirty="0"/>
              <a:t> – det bliver sværere nu.</a:t>
            </a:r>
          </a:p>
          <a:p>
            <a:r>
              <a:rPr lang="da-DK" dirty="0"/>
              <a:t>Kig især på små detaljer: øjne, mund og timing.</a:t>
            </a:r>
          </a:p>
          <a:p>
            <a:r>
              <a:rPr lang="da-DK" dirty="0"/>
              <a:t>Lyd kan også afsløre – den kan lyde lidt ‘flad’ eller mekanisk.</a:t>
            </a:r>
          </a:p>
          <a:p>
            <a:r>
              <a:rPr lang="da-DK" dirty="0"/>
              <a:t>Den vigtigste pointe: stol ikke blindt på det, du 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936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Det her er ikke science fiction – det sker allerede i dag.</a:t>
            </a:r>
          </a:p>
          <a:p>
            <a:r>
              <a:rPr lang="da-DK" dirty="0"/>
              <a:t>AI gør angreb billigere, hurtigere og mere overbevisende.</a:t>
            </a:r>
          </a:p>
          <a:p>
            <a:r>
              <a:rPr lang="da-DK" dirty="0" err="1"/>
              <a:t>Phishing</a:t>
            </a:r>
            <a:r>
              <a:rPr lang="da-DK" dirty="0"/>
              <a:t>-mails bliver langt bedre, fordi de kan skræddersys til den enkelte.</a:t>
            </a:r>
          </a:p>
          <a:p>
            <a:r>
              <a:rPr lang="da-DK" dirty="0" err="1"/>
              <a:t>Deepfakes</a:t>
            </a:r>
            <a:r>
              <a:rPr lang="da-DK" dirty="0"/>
              <a:t> kan bruges til fx at efterligne en chef eller en kollega.</a:t>
            </a:r>
          </a:p>
          <a:p>
            <a:r>
              <a:rPr lang="da-DK" dirty="0"/>
              <a:t>Hackere kan bruge AI til at finde svagheder hurtigere end før.</a:t>
            </a:r>
          </a:p>
          <a:p>
            <a:r>
              <a:rPr lang="da-DK" dirty="0"/>
              <a:t>Den største risiko er ofte stadig mennesket – ikke teknologien.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02609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78772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4505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0598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AI er et værktøj – ikke en beslutningstager.</a:t>
            </a:r>
          </a:p>
          <a:p>
            <a:r>
              <a:rPr lang="da-DK" dirty="0"/>
              <a:t>Etik handler om </a:t>
            </a:r>
            <a:r>
              <a:rPr lang="da-DK" i="1" dirty="0"/>
              <a:t>hvordan</a:t>
            </a:r>
            <a:r>
              <a:rPr lang="da-DK" dirty="0"/>
              <a:t> vi vælger at bruge teknologien.</a:t>
            </a:r>
          </a:p>
          <a:p>
            <a:r>
              <a:rPr lang="da-DK" dirty="0"/>
              <a:t>Bare fordi vi </a:t>
            </a:r>
            <a:r>
              <a:rPr lang="da-DK" i="1" dirty="0"/>
              <a:t>kan</a:t>
            </a:r>
            <a:r>
              <a:rPr lang="da-DK" dirty="0"/>
              <a:t>, betyder det ikke, at vi </a:t>
            </a:r>
            <a:r>
              <a:rPr lang="da-DK" i="1" dirty="0"/>
              <a:t>bør</a:t>
            </a:r>
            <a:r>
              <a:rPr lang="da-DK" dirty="0"/>
              <a:t>.</a:t>
            </a:r>
          </a:p>
          <a:p>
            <a:r>
              <a:rPr lang="da-DK" dirty="0"/>
              <a:t>Risici opstår især, når vi bruger AI ukritisk eller uden forståelse.</a:t>
            </a:r>
          </a:p>
          <a:p>
            <a:r>
              <a:rPr lang="da-DK" dirty="0"/>
              <a:t>Det er vigtigt at have klare rammer, </a:t>
            </a:r>
            <a:r>
              <a:rPr lang="da-DK" dirty="0" err="1"/>
              <a:t>governance</a:t>
            </a:r>
            <a:r>
              <a:rPr lang="da-DK" dirty="0"/>
              <a:t> og ansvar.</a:t>
            </a:r>
          </a:p>
          <a:p>
            <a:r>
              <a:rPr lang="da-DK" dirty="0"/>
              <a:t>Tillid til AI kræver transparens og menneskelig kontrol.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6644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3254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4073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Ingen kan pt. Gøre krav på rettigheder til noget der er AI genereret.</a:t>
            </a:r>
          </a:p>
          <a:p>
            <a:endParaRPr lang="da-DK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 mennesker kan have ophavsret</a:t>
            </a:r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– rent AI‑genereret grafik har normalt ingen ophavsret.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Menneskelig kreativ indflydelse tæller</a:t>
            </a:r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– markant styring/redigering kan give ophavsret til brugeren.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da-DK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AI’en</a:t>
            </a: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eller udvikleren ejer ikke automatisk rettighederne</a:t>
            </a:r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– vilkår kan kun regulere brug, ikke skabe ophavsret.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 Danmark: særregler om </a:t>
            </a:r>
            <a:r>
              <a:rPr lang="da-DK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deepfakes</a:t>
            </a:r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– personer har rettigheder til deres ansigt, stemme og krop (men det er ikke klassisk ophavsret).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02245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da-DK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Brug AI‑materiale med </a:t>
            </a: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kritisk omtanke</a:t>
            </a:r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især kommercielt</a:t>
            </a:r>
          </a:p>
          <a:p>
            <a:pPr fontAlgn="t"/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Dokumentér din </a:t>
            </a: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egen kreative proces</a:t>
            </a:r>
            <a:endParaRPr lang="da-DK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Undgå at antage, at “jeg ejer det” automatisk</a:t>
            </a:r>
          </a:p>
          <a:p>
            <a:pPr fontAlgn="t"/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Tjek altid </a:t>
            </a:r>
            <a:r>
              <a:rPr lang="da-DK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vilkårene</a:t>
            </a:r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for det konkrete AI‑værktøj</a:t>
            </a:r>
          </a:p>
          <a:p>
            <a:pPr fontAlgn="t"/>
            <a:r>
              <a:rPr lang="da-DK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Overvej klar kontraktregulering ved professionel brug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96476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7623748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AI er ikke gratis – det kræver massiv regnekraft.</a:t>
            </a:r>
          </a:p>
          <a:p>
            <a:r>
              <a:rPr lang="da-DK" dirty="0"/>
              <a:t>Det er ikke kun når modellen trænes – hver gang vi bruger den, koster det også energi.</a:t>
            </a:r>
          </a:p>
          <a:p>
            <a:r>
              <a:rPr lang="da-DK" dirty="0"/>
              <a:t>Efterspørgslen stiger → forbruget stiger endnu hurtigere.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98426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Det er vigtigt at forstå hele livscyklussen – ikke kun strømmen.</a:t>
            </a:r>
          </a:p>
          <a:p>
            <a:r>
              <a:rPr lang="da-DK" dirty="0"/>
              <a:t>Produktionen af hardware er ofte overset, men meget belastende.</a:t>
            </a:r>
          </a:p>
          <a:p>
            <a:r>
              <a:rPr lang="da-DK" dirty="0"/>
              <a:t>Der mangler stadig transparens fra </a:t>
            </a:r>
            <a:r>
              <a:rPr lang="da-DK" dirty="0" err="1"/>
              <a:t>tech</a:t>
            </a:r>
            <a:r>
              <a:rPr lang="da-DK" dirty="0"/>
              <a:t>-virksomheder.</a:t>
            </a:r>
          </a:p>
          <a:p>
            <a:endParaRPr lang="da-DK" dirty="0"/>
          </a:p>
          <a:p>
            <a:pPr marL="114300" indent="0">
              <a:buNone/>
            </a:pPr>
            <a:r>
              <a:rPr lang="da-DK" sz="1100" dirty="0"/>
              <a:t>Vigtigt:</a:t>
            </a:r>
          </a:p>
          <a:p>
            <a:r>
              <a:rPr lang="da-DK" sz="1100" dirty="0"/>
              <a:t>Det er </a:t>
            </a:r>
            <a:r>
              <a:rPr lang="da-DK" sz="1100" b="1" dirty="0"/>
              <a:t>ikke dokumenteret som konkret case</a:t>
            </a:r>
            <a:r>
              <a:rPr lang="da-DK" sz="1100" dirty="0"/>
              <a:t>, men matematisk korrekt baseret på kendte energital </a:t>
            </a:r>
          </a:p>
          <a:p>
            <a:r>
              <a:rPr lang="da-DK" sz="1100" dirty="0"/>
              <a:t>Pointen er: </a:t>
            </a:r>
            <a:r>
              <a:rPr lang="da-DK" sz="1100" b="1" dirty="0"/>
              <a:t>små ting × massiv skala = stor effekt</a:t>
            </a:r>
            <a:endParaRPr lang="da-DK" sz="1100" dirty="0"/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93109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Vand bruges til at køle servere ned.</a:t>
            </a:r>
          </a:p>
          <a:p>
            <a:r>
              <a:rPr lang="da-DK" dirty="0"/>
              <a:t>Selv små AI-opgaver kan indirekte koste vand.</a:t>
            </a:r>
          </a:p>
          <a:p>
            <a:r>
              <a:rPr lang="da-DK" dirty="0"/>
              <a:t>I nogle områder konkurrerer datacentre med borgere om vand.</a:t>
            </a:r>
          </a:p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82394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  <a:p>
            <a:r>
              <a:rPr lang="da-DK" dirty="0"/>
              <a:t>Der findes ikke en ‘</a:t>
            </a:r>
            <a:r>
              <a:rPr lang="da-DK" dirty="0" err="1"/>
              <a:t>quick</a:t>
            </a:r>
            <a:r>
              <a:rPr lang="da-DK" dirty="0"/>
              <a:t> fix’ på problemet.</a:t>
            </a:r>
          </a:p>
          <a:p>
            <a:r>
              <a:rPr lang="da-DK" dirty="0"/>
              <a:t>Standarder (fx ISO) er på vej, men vi er ikke i mål.</a:t>
            </a:r>
          </a:p>
          <a:p>
            <a:r>
              <a:rPr lang="da-DK" dirty="0"/>
              <a:t>Det vigtigste: bruge AI med omtanke og forstå konsekvenserne.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07149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9222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4458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D94900-C3C1-4ECC-B79E-C7EBF3017051}" type="datetime2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7. september 2026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8E602-09AE-4EAE-BEF9-D5BF34221623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47376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4432F-7D72-0009-7D4D-ED5A0C6F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4A9C0D8-89FC-4A83-DE5E-21B062F1B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933814C6-7B00-4FE8-E22F-2B4779408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91D232-D1EE-68B1-C09D-E6B90EF2A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616B-2551-4F3B-9F98-37489227F742}" type="slidenum">
              <a:rPr lang="da-DK" smtClean="0"/>
              <a:t>90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534109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7841719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77E5-9747-A341-1958-BBD8D3F7D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3BE83F0-B1A3-11E4-056B-98959BEC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A23FEF5-7EDE-7633-F218-FC13C8ADB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54333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6F7FF-1813-9E5C-BFAD-75E0A8F5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7B19228-6321-0D5F-5B3D-EC2B34F34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717FBAA-2FEF-7CBF-4724-14B23BA0A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208856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07452-8EC6-679A-14D7-EA606BF9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1966BCC-A26F-CEFE-13F7-61901F2FA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09160C4-D64D-2827-331F-2ADB071A0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1620826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A9152-6B14-5691-120C-D902C249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7D4409A-5C8C-C6BA-E464-3083A4A58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8E2CE2B-2E1A-4F7E-EB63-3C7DB9D13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0583744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6588-FFDF-2E45-00E0-E1E883F1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AB2DBF2-C7E7-1886-0C57-77EA5A8E6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D9D826A-8237-BC3C-0446-9CC5A2A0F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8393736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8BAA-5FF9-BFA2-9958-D49BCE5F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E957C75-A325-70D3-34A0-089C51E2D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A1481B9-B3C7-0C5A-65C5-DF4087A73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6577923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896-5ABB-80FC-6E60-9452A177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F8755F9-E69B-689D-E3CC-4D1B89086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C8D3ABB-B7E9-A556-FDA6-8CC6029C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8500808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4C02-087C-8CD0-A753-957EEDE2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DE54B50-0D1F-B7B0-C260-011840B63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DB9DAE0-F24F-2D1D-7338-86C11E5DB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6288909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9D1C-69F8-7417-205B-E81814D5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5F20759-0632-FE98-16E6-AC6C0A3B9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9618A25D-1D46-085E-87F1-9B43B18D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9286441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CC6F3-E454-99C0-2BB7-62E04A7C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62BAB0C-B9E4-112C-2F3C-23B5C8006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1A99D80-022F-48E0-EC91-533304B0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5338543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9961-B43C-85E0-448D-7559EAB1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8F1220E-CCE3-3BBC-6398-141643434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E43F508-2CD7-32DD-B4A4-78AEBD0F9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3468243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4C95-DFBD-8C81-809D-672AE727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9729A90-75C8-DBFD-B125-956FD8A3D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E84603B-556A-F248-6310-A0EC6F153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7088507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8E9E-1557-51F1-8CB5-CF939172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3ECE57D-B9E7-05D1-68B9-9FA695C9C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5DEDC00-EE50-4911-6CC1-FC5636582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0771333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0187-0ED0-2C46-31AA-9EFD67A9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ED5A242-B941-5D6C-1573-9854CD896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501EB75-F9F3-5F84-AA89-AB5DF6656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5566381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B384-861E-EDEF-5452-63E4AE64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771991-C250-06F7-DE03-F064D605C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E2BD5F5-8087-0955-D50F-9ED097B98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077534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621F-0AED-6C46-3168-56BF4E6E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B0F2277-1725-3C18-9CD6-1B7608E45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E901496-0468-9296-7232-C369F1E49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3342753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0ECE4-C800-6F41-9BB0-981F5138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6237D46-243C-C684-FE1F-B06F4A7C1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D59CD1-B672-0130-26F9-74BF2CA38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7193749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9DB3-88F7-E992-2912-0E684807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3D26F50-7134-76B1-93A2-FEDFF1404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A749414-AC72-E00A-F5B6-4C264D342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607480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3176-7FE8-2F9A-6889-A54D8991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33621F7-29CC-865D-4043-7C3DABBFC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2519C59-EE2C-62E1-FF82-916E8E847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871308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616B-2551-4F3B-9F98-37489227F742}" type="slidenum">
              <a:rPr lang="da-DK" smtClean="0"/>
              <a:t>111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241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3" cy="5149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64957" y="1162600"/>
            <a:ext cx="6829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4000"/>
              <a:buNone/>
              <a:defRPr sz="4000" b="1" i="1">
                <a:solidFill>
                  <a:srgbClr val="00454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5200"/>
              <a:buNone/>
              <a:defRPr sz="5200">
                <a:solidFill>
                  <a:srgbClr val="00454E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64950" y="3252150"/>
            <a:ext cx="6829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0" y="4749900"/>
            <a:ext cx="800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>
                <a:solidFill>
                  <a:schemeClr val="dk2"/>
                </a:solidFill>
              </a:defRPr>
            </a:lvl1pPr>
            <a:lvl2pPr lvl="1" algn="l" rtl="0">
              <a:buNone/>
              <a:defRPr>
                <a:solidFill>
                  <a:schemeClr val="dk2"/>
                </a:solidFill>
              </a:defRPr>
            </a:lvl2pPr>
            <a:lvl3pPr lvl="2" algn="l" rtl="0">
              <a:buNone/>
              <a:defRPr>
                <a:solidFill>
                  <a:schemeClr val="dk2"/>
                </a:solidFill>
              </a:defRPr>
            </a:lvl3pPr>
            <a:lvl4pPr lvl="3" algn="l" rtl="0">
              <a:buNone/>
              <a:defRPr>
                <a:solidFill>
                  <a:schemeClr val="dk2"/>
                </a:solidFill>
              </a:defRPr>
            </a:lvl4pPr>
            <a:lvl5pPr lvl="4" algn="l" rtl="0">
              <a:buNone/>
              <a:defRPr>
                <a:solidFill>
                  <a:schemeClr val="dk2"/>
                </a:solidFill>
              </a:defRPr>
            </a:lvl5pPr>
            <a:lvl6pPr lvl="5" algn="l" rtl="0">
              <a:buNone/>
              <a:defRPr>
                <a:solidFill>
                  <a:schemeClr val="dk2"/>
                </a:solidFill>
              </a:defRPr>
            </a:lvl6pPr>
            <a:lvl7pPr lvl="6" algn="l" rtl="0">
              <a:buNone/>
              <a:defRPr>
                <a:solidFill>
                  <a:schemeClr val="dk2"/>
                </a:solidFill>
              </a:defRPr>
            </a:lvl7pPr>
            <a:lvl8pPr lvl="7" algn="l" rtl="0">
              <a:buNone/>
              <a:defRPr>
                <a:solidFill>
                  <a:schemeClr val="dk2"/>
                </a:solidFill>
              </a:defRPr>
            </a:lvl8pPr>
            <a:lvl9pPr lvl="8" algn="l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dd/mm/åå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400"/>
              <a:buNone/>
              <a:defRPr sz="2400">
                <a:solidFill>
                  <a:srgbClr val="0045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8;p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" y="4673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4800"/>
              <a:buNone/>
              <a:defRPr sz="4800">
                <a:solidFill>
                  <a:srgbClr val="0045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42" name="Google Shape;42;p8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" y="4673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4200"/>
              <a:buNone/>
              <a:defRPr sz="4200">
                <a:solidFill>
                  <a:srgbClr val="00454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49" name="Google Shape;49;p9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" y="4673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>
                <a:solidFill>
                  <a:srgbClr val="00454E"/>
                </a:solidFill>
              </a:defRPr>
            </a:lvl1pPr>
            <a:lvl2pPr lvl="1" algn="l" rtl="0">
              <a:buNone/>
              <a:defRPr>
                <a:solidFill>
                  <a:srgbClr val="00454E"/>
                </a:solidFill>
              </a:defRPr>
            </a:lvl2pPr>
            <a:lvl3pPr lvl="2" algn="l" rtl="0">
              <a:buNone/>
              <a:defRPr>
                <a:solidFill>
                  <a:srgbClr val="00454E"/>
                </a:solidFill>
              </a:defRPr>
            </a:lvl3pPr>
            <a:lvl4pPr lvl="3" algn="l" rtl="0">
              <a:buNone/>
              <a:defRPr>
                <a:solidFill>
                  <a:srgbClr val="00454E"/>
                </a:solidFill>
              </a:defRPr>
            </a:lvl4pPr>
            <a:lvl5pPr lvl="4" algn="l" rtl="0">
              <a:buNone/>
              <a:defRPr>
                <a:solidFill>
                  <a:srgbClr val="00454E"/>
                </a:solidFill>
              </a:defRPr>
            </a:lvl5pPr>
            <a:lvl6pPr lvl="5" algn="l" rtl="0">
              <a:buNone/>
              <a:defRPr>
                <a:solidFill>
                  <a:srgbClr val="00454E"/>
                </a:solidFill>
              </a:defRPr>
            </a:lvl6pPr>
            <a:lvl7pPr lvl="6" algn="l" rtl="0">
              <a:buNone/>
              <a:defRPr>
                <a:solidFill>
                  <a:srgbClr val="00454E"/>
                </a:solidFill>
              </a:defRPr>
            </a:lvl7pPr>
            <a:lvl8pPr lvl="7" algn="l" rtl="0">
              <a:buNone/>
              <a:defRPr>
                <a:solidFill>
                  <a:srgbClr val="00454E"/>
                </a:solidFill>
              </a:defRPr>
            </a:lvl8pPr>
            <a:lvl9pPr lvl="8" algn="l" rtl="0">
              <a:buNone/>
              <a:defRPr>
                <a:solidFill>
                  <a:srgbClr val="00454E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1800"/>
              <a:buNone/>
              <a:defRPr>
                <a:solidFill>
                  <a:srgbClr val="00454E"/>
                </a:solidFill>
              </a:defRPr>
            </a:lvl1pPr>
          </a:lstStyle>
          <a:p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" y="4673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>
                <a:solidFill>
                  <a:srgbClr val="00454E"/>
                </a:solidFill>
              </a:defRPr>
            </a:lvl1pPr>
            <a:lvl2pPr lvl="1" algn="l" rtl="0">
              <a:buNone/>
              <a:defRPr>
                <a:solidFill>
                  <a:srgbClr val="00454E"/>
                </a:solidFill>
              </a:defRPr>
            </a:lvl2pPr>
            <a:lvl3pPr lvl="2" algn="l" rtl="0">
              <a:buNone/>
              <a:defRPr>
                <a:solidFill>
                  <a:srgbClr val="00454E"/>
                </a:solidFill>
              </a:defRPr>
            </a:lvl3pPr>
            <a:lvl4pPr lvl="3" algn="l" rtl="0">
              <a:buNone/>
              <a:defRPr>
                <a:solidFill>
                  <a:srgbClr val="00454E"/>
                </a:solidFill>
              </a:defRPr>
            </a:lvl4pPr>
            <a:lvl5pPr lvl="4" algn="l" rtl="0">
              <a:buNone/>
              <a:defRPr>
                <a:solidFill>
                  <a:srgbClr val="00454E"/>
                </a:solidFill>
              </a:defRPr>
            </a:lvl5pPr>
            <a:lvl6pPr lvl="5" algn="l" rtl="0">
              <a:buNone/>
              <a:defRPr>
                <a:solidFill>
                  <a:srgbClr val="00454E"/>
                </a:solidFill>
              </a:defRPr>
            </a:lvl6pPr>
            <a:lvl7pPr lvl="6" algn="l" rtl="0">
              <a:buNone/>
              <a:defRPr>
                <a:solidFill>
                  <a:srgbClr val="00454E"/>
                </a:solidFill>
              </a:defRPr>
            </a:lvl7pPr>
            <a:lvl8pPr lvl="7" algn="l" rtl="0">
              <a:buNone/>
              <a:defRPr>
                <a:solidFill>
                  <a:srgbClr val="00454E"/>
                </a:solidFill>
              </a:defRPr>
            </a:lvl8pPr>
            <a:lvl9pPr lvl="8" algn="l" rtl="0">
              <a:buNone/>
              <a:defRPr>
                <a:solidFill>
                  <a:srgbClr val="00454E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12000"/>
              <a:buNone/>
              <a:defRPr sz="12000">
                <a:solidFill>
                  <a:srgbClr val="00454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2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" y="4673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6333A-CB4B-4A2A-850C-1800ED16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E84ED51-CBEF-4882-BC50-B496E1895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7886700" cy="2979896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4" name="Pladsholder til dato 13">
            <a:extLst>
              <a:ext uri="{FF2B5EF4-FFF2-40B4-BE49-F238E27FC236}">
                <a16:creationId xmlns:a16="http://schemas.microsoft.com/office/drawing/2014/main" id="{B6F0B235-A6CA-47A3-A778-B35B6EE5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7B522528-73E6-4365-A2E9-4C875FFFD5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137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el på lysbille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 på lysbillede</a:t>
            </a:r>
          </a:p>
        </p:txBody>
      </p:sp>
      <p:sp>
        <p:nvSpPr>
          <p:cNvPr id="43" name="Undertitel på lysbille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38" y="889861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Undertitel på lysbillede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Punktopstillet tekst på lysbillede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546767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None/>
              <a:defRPr sz="2800">
                <a:solidFill>
                  <a:srgbClr val="00454E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8125" y="4447825"/>
            <a:ext cx="1568675" cy="4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" y="46736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buNone/>
              <a:defRPr sz="1000">
                <a:solidFill>
                  <a:schemeClr val="dk2"/>
                </a:solidFill>
              </a:defRPr>
            </a:lvl1pPr>
            <a:lvl2pPr lvl="1" algn="l" rtl="0">
              <a:buNone/>
              <a:defRPr sz="1000">
                <a:solidFill>
                  <a:schemeClr val="dk2"/>
                </a:solidFill>
              </a:defRPr>
            </a:lvl2pPr>
            <a:lvl3pPr lvl="2" algn="l" rtl="0">
              <a:buNone/>
              <a:defRPr sz="1000">
                <a:solidFill>
                  <a:schemeClr val="dk2"/>
                </a:solidFill>
              </a:defRPr>
            </a:lvl3pPr>
            <a:lvl4pPr lvl="3" algn="l" rtl="0">
              <a:buNone/>
              <a:defRPr sz="1000">
                <a:solidFill>
                  <a:schemeClr val="dk2"/>
                </a:solidFill>
              </a:defRPr>
            </a:lvl4pPr>
            <a:lvl5pPr lvl="4" algn="l" rtl="0">
              <a:buNone/>
              <a:defRPr sz="1000">
                <a:solidFill>
                  <a:schemeClr val="dk2"/>
                </a:solidFill>
              </a:defRPr>
            </a:lvl5pPr>
            <a:lvl6pPr lvl="5" algn="l" rtl="0">
              <a:buNone/>
              <a:defRPr sz="1000">
                <a:solidFill>
                  <a:schemeClr val="dk2"/>
                </a:solidFill>
              </a:defRPr>
            </a:lvl6pPr>
            <a:lvl7pPr lvl="6" algn="l" rtl="0">
              <a:buNone/>
              <a:defRPr sz="1000">
                <a:solidFill>
                  <a:schemeClr val="dk2"/>
                </a:solidFill>
              </a:defRPr>
            </a:lvl7pPr>
            <a:lvl8pPr lvl="7" algn="l" rtl="0">
              <a:buNone/>
              <a:defRPr sz="1000">
                <a:solidFill>
                  <a:schemeClr val="dk2"/>
                </a:solidFill>
              </a:defRPr>
            </a:lvl8pPr>
            <a:lvl9pPr lvl="8" algn="l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1" r:id="rId7"/>
    <p:sldLayoutId id="2147483662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3qpkGQdi1g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33C29-E4B4-5A42-8899-30A7F2B5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187" y="2108233"/>
            <a:ext cx="7536270" cy="871854"/>
          </a:xfrm>
        </p:spPr>
        <p:txBody>
          <a:bodyPr/>
          <a:lstStyle/>
          <a:p>
            <a:r>
              <a:rPr lang="da-DK" sz="4400" dirty="0"/>
              <a:t>AI i praksis</a:t>
            </a:r>
            <a:br>
              <a:rPr lang="da-DK" dirty="0"/>
            </a:br>
            <a:r>
              <a:rPr lang="da-DK" dirty="0">
                <a:solidFill>
                  <a:srgbClr val="498E8C"/>
                </a:solidFill>
              </a:rPr>
              <a:t>- </a:t>
            </a:r>
            <a:r>
              <a:rPr lang="da-DK" sz="3600" dirty="0">
                <a:solidFill>
                  <a:srgbClr val="498E8C"/>
                </a:solidFill>
              </a:rPr>
              <a:t>Praktisk brug og sund skepsis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40D8856-6628-0645-B612-8F6706797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187" y="3580552"/>
            <a:ext cx="6829800" cy="792600"/>
          </a:xfrm>
        </p:spPr>
        <p:txBody>
          <a:bodyPr/>
          <a:lstStyle/>
          <a:p>
            <a:r>
              <a:rPr lang="da-DK" sz="1400" dirty="0">
                <a:solidFill>
                  <a:schemeClr val="bg2"/>
                </a:solidFill>
              </a:rPr>
              <a:t>Dato 26. Maj 2026</a:t>
            </a:r>
          </a:p>
        </p:txBody>
      </p:sp>
    </p:spTree>
    <p:extLst>
      <p:ext uri="{BB962C8B-B14F-4D97-AF65-F5344CB8AC3E}">
        <p14:creationId xmlns:p14="http://schemas.microsoft.com/office/powerpoint/2010/main" val="402088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56458-6BD4-DDAE-B76A-2EAB47CEDA3E}"/>
              </a:ext>
            </a:extLst>
          </p:cNvPr>
          <p:cNvSpPr txBox="1">
            <a:spLocks/>
          </p:cNvSpPr>
          <p:nvPr/>
        </p:nvSpPr>
        <p:spPr>
          <a:xfrm>
            <a:off x="4965900" y="-5138"/>
            <a:ext cx="4018612" cy="102054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a-DK" sz="1350" b="1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D837D38-7BB0-7BF6-B771-FA6372A7CD7A}"/>
              </a:ext>
            </a:extLst>
          </p:cNvPr>
          <p:cNvSpPr txBox="1">
            <a:spLocks/>
          </p:cNvSpPr>
          <p:nvPr/>
        </p:nvSpPr>
        <p:spPr>
          <a:xfrm>
            <a:off x="453553" y="368330"/>
            <a:ext cx="7886700" cy="82743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000" dirty="0">
                <a:solidFill>
                  <a:schemeClr val="bg2"/>
                </a:solidFill>
              </a:rPr>
              <a:t>Opsamling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7E94FFA-01CB-B5BE-F717-14EAB0C512B2}"/>
              </a:ext>
            </a:extLst>
          </p:cNvPr>
          <p:cNvSpPr txBox="1"/>
          <p:nvPr/>
        </p:nvSpPr>
        <p:spPr>
          <a:xfrm>
            <a:off x="453553" y="1443955"/>
            <a:ext cx="6815927" cy="1483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da-DK" sz="2400" b="1" dirty="0">
                <a:solidFill>
                  <a:schemeClr val="bg2"/>
                </a:solidFill>
                <a:latin typeface="Segoe UI" panose="020B0502040204020203" pitchFamily="34" charset="0"/>
              </a:rPr>
              <a:t>Refleksion fra sidst</a:t>
            </a:r>
          </a:p>
          <a:p>
            <a:pPr fontAlgn="t">
              <a:lnSpc>
                <a:spcPts val="1500"/>
              </a:lnSpc>
              <a:buNone/>
            </a:pPr>
            <a:endParaRPr lang="da-DK" sz="2400" b="1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marL="342900" indent="-3429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2"/>
                </a:solidFill>
                <a:latin typeface="Segoe UI" panose="020B0502040204020203" pitchFamily="34" charset="0"/>
              </a:rPr>
              <a:t>Hvad tog I med jer fra sidste gang?</a:t>
            </a:r>
          </a:p>
          <a:p>
            <a:pPr fontAlgn="t">
              <a:lnSpc>
                <a:spcPts val="1500"/>
              </a:lnSpc>
            </a:pPr>
            <a:endParaRPr lang="da-DK" sz="2400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marL="342900" indent="-3429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2"/>
                </a:solidFill>
                <a:latin typeface="Segoe UI" panose="020B0502040204020203" pitchFamily="34" charset="0"/>
              </a:rPr>
              <a:t>Hvad har I tænkt over siden da?</a:t>
            </a:r>
          </a:p>
          <a:p>
            <a:pPr fontAlgn="t">
              <a:lnSpc>
                <a:spcPts val="1500"/>
              </a:lnSpc>
            </a:pPr>
            <a:endParaRPr lang="da-DK" sz="2400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marL="342900" indent="-3429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2"/>
                </a:solidFill>
                <a:latin typeface="Segoe UI" panose="020B0502040204020203" pitchFamily="34" charset="0"/>
              </a:rPr>
              <a:t>Er der nogle spørgsmål, der er dukket op?</a:t>
            </a:r>
          </a:p>
        </p:txBody>
      </p:sp>
    </p:spTree>
    <p:extLst>
      <p:ext uri="{BB962C8B-B14F-4D97-AF65-F5344CB8AC3E}">
        <p14:creationId xmlns:p14="http://schemas.microsoft.com/office/powerpoint/2010/main" val="236503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33C29-E4B4-5A42-8899-30A7F2B5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957" y="540690"/>
            <a:ext cx="6829800" cy="792600"/>
          </a:xfrm>
        </p:spPr>
        <p:txBody>
          <a:bodyPr/>
          <a:lstStyle/>
          <a:p>
            <a:r>
              <a:rPr lang="da-DK" dirty="0"/>
              <a:t>Dagen i dag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4F7E25E1-D7A4-21B3-9B7A-B4336618C57D}"/>
              </a:ext>
            </a:extLst>
          </p:cNvPr>
          <p:cNvSpPr txBox="1">
            <a:spLocks/>
          </p:cNvSpPr>
          <p:nvPr/>
        </p:nvSpPr>
        <p:spPr>
          <a:xfrm>
            <a:off x="1299503" y="1478341"/>
            <a:ext cx="4222881" cy="204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a-DK" sz="1600" dirty="0"/>
              <a:t>Bias og Hallucinationer</a:t>
            </a:r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a-DK" sz="1600" dirty="0"/>
              <a:t>AI Act</a:t>
            </a:r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a-DK" sz="1600" dirty="0"/>
              <a:t>AI som trussel og forbudt AI</a:t>
            </a:r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a-DK" sz="1600" dirty="0" err="1"/>
              <a:t>Deepfakes</a:t>
            </a:r>
            <a:r>
              <a:rPr lang="da-DK" sz="1600" dirty="0"/>
              <a:t> og sikkerhed</a:t>
            </a:r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a-DK" sz="1600" dirty="0"/>
              <a:t>Etik, risici og moral</a:t>
            </a:r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a-DK" sz="1600" dirty="0"/>
              <a:t>Bæredygtighed</a:t>
            </a:r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a-DK" sz="1600" dirty="0"/>
          </a:p>
          <a:p>
            <a:pPr marL="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a-DK" sz="1600" dirty="0"/>
          </a:p>
          <a:p>
            <a:pPr marL="0" indent="0">
              <a:spcAft>
                <a:spcPts val="600"/>
              </a:spcAft>
            </a:pPr>
            <a:endParaRPr lang="da-DK" sz="1600" dirty="0"/>
          </a:p>
        </p:txBody>
      </p:sp>
      <p:sp>
        <p:nvSpPr>
          <p:cNvPr id="6" name="Undertitel 5">
            <a:extLst>
              <a:ext uri="{FF2B5EF4-FFF2-40B4-BE49-F238E27FC236}">
                <a16:creationId xmlns:a16="http://schemas.microsoft.com/office/drawing/2014/main" id="{A24F246F-140B-B612-4C80-0CFE7B16B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293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7306332" cy="3512102"/>
          </a:xfrm>
        </p:spPr>
        <p:txBody>
          <a:bodyPr>
            <a:normAutofit lnSpcReduction="10000"/>
          </a:bodyPr>
          <a:lstStyle/>
          <a:p>
            <a:pPr marL="342900">
              <a:spcAft>
                <a:spcPts val="600"/>
              </a:spcAft>
            </a:pPr>
            <a:r>
              <a:rPr lang="da-DK" dirty="0"/>
              <a:t>Hvad er bias?</a:t>
            </a:r>
          </a:p>
          <a:p>
            <a:pPr marL="800100" lvl="1">
              <a:spcBef>
                <a:spcPts val="600"/>
              </a:spcBef>
              <a:spcAft>
                <a:spcPts val="600"/>
              </a:spcAft>
            </a:pPr>
            <a:r>
              <a:rPr lang="da-DK" dirty="0" err="1"/>
              <a:t>ChatGPT</a:t>
            </a:r>
            <a:r>
              <a:rPr lang="da-DK" dirty="0"/>
              <a:t>: </a:t>
            </a:r>
            <a:r>
              <a:rPr lang="en-US" dirty="0" err="1"/>
              <a:t>Systematisk</a:t>
            </a:r>
            <a:r>
              <a:rPr lang="en-US" dirty="0"/>
              <a:t> </a:t>
            </a:r>
            <a:r>
              <a:rPr lang="en-US" dirty="0" err="1"/>
              <a:t>skævhed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data </a:t>
            </a:r>
            <a:r>
              <a:rPr lang="en-US" dirty="0" err="1"/>
              <a:t>eller</a:t>
            </a:r>
            <a:r>
              <a:rPr lang="en-US" dirty="0"/>
              <a:t> output</a:t>
            </a:r>
          </a:p>
          <a:p>
            <a:pPr marL="800100"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Copilot: Bias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systematisk</a:t>
            </a:r>
            <a:r>
              <a:rPr lang="en-US" dirty="0"/>
              <a:t> </a:t>
            </a:r>
            <a:r>
              <a:rPr lang="en-US" dirty="0" err="1"/>
              <a:t>skævhed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data, </a:t>
            </a:r>
            <a:r>
              <a:rPr lang="en-US" dirty="0" err="1"/>
              <a:t>vurderinger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beslutninger</a:t>
            </a:r>
            <a:r>
              <a:rPr lang="en-US" dirty="0"/>
              <a:t>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gør</a:t>
            </a:r>
            <a:r>
              <a:rPr lang="en-US" dirty="0"/>
              <a:t>, at et </a:t>
            </a:r>
            <a:r>
              <a:rPr lang="en-US" dirty="0" err="1"/>
              <a:t>resultat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neutralt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retvisende</a:t>
            </a:r>
            <a:r>
              <a:rPr lang="en-US" dirty="0"/>
              <a:t> (</a:t>
            </a:r>
            <a:r>
              <a:rPr lang="en-US" dirty="0" err="1"/>
              <a:t>fx</a:t>
            </a:r>
            <a:r>
              <a:rPr lang="en-US" dirty="0"/>
              <a:t> </a:t>
            </a:r>
            <a:r>
              <a:rPr lang="en-US" dirty="0" err="1"/>
              <a:t>fordi</a:t>
            </a:r>
            <a:r>
              <a:rPr lang="en-US" dirty="0"/>
              <a:t> </a:t>
            </a:r>
            <a:r>
              <a:rPr lang="en-US" dirty="0" err="1"/>
              <a:t>nogle</a:t>
            </a:r>
            <a:r>
              <a:rPr lang="en-US" dirty="0"/>
              <a:t> </a:t>
            </a:r>
            <a:r>
              <a:rPr lang="en-US" dirty="0" err="1"/>
              <a:t>perspektiver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overrepræsenterede</a:t>
            </a:r>
            <a:r>
              <a:rPr lang="en-US" dirty="0"/>
              <a:t>).</a:t>
            </a:r>
            <a:endParaRPr lang="da-DK" dirty="0"/>
          </a:p>
          <a:p>
            <a:pPr marL="342900">
              <a:spcBef>
                <a:spcPts val="600"/>
              </a:spcBef>
              <a:spcAft>
                <a:spcPts val="600"/>
              </a:spcAft>
            </a:pPr>
            <a:r>
              <a:rPr lang="da-DK" sz="1350" dirty="0"/>
              <a:t>Hvad er hallucinationer?</a:t>
            </a:r>
          </a:p>
          <a:p>
            <a:pPr marL="800100" lvl="1">
              <a:spcBef>
                <a:spcPts val="600"/>
              </a:spcBef>
              <a:spcAft>
                <a:spcPts val="600"/>
              </a:spcAft>
            </a:pPr>
            <a:r>
              <a:rPr lang="da-DK" dirty="0" err="1"/>
              <a:t>ChatGPT</a:t>
            </a:r>
            <a:r>
              <a:rPr lang="da-DK" dirty="0"/>
              <a:t>: AI opfinder information, der ikke er sand</a:t>
            </a:r>
          </a:p>
          <a:p>
            <a:pPr marL="800100" lvl="1">
              <a:spcBef>
                <a:spcPts val="600"/>
              </a:spcBef>
              <a:spcAft>
                <a:spcPts val="600"/>
              </a:spcAft>
            </a:pPr>
            <a:r>
              <a:rPr lang="da-DK" dirty="0" err="1"/>
              <a:t>Copilot</a:t>
            </a:r>
            <a:r>
              <a:rPr lang="da-DK" dirty="0"/>
              <a:t>: Hallucinationer er, når et AI‑system finder på ting, der lyder plausible, men ikke er korrekte eller dokumenterede (fx opdigtede fakta, kilder eller detaljer).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Bias og Hallucinationer</a:t>
            </a:r>
          </a:p>
        </p:txBody>
      </p:sp>
    </p:spTree>
    <p:extLst>
      <p:ext uri="{BB962C8B-B14F-4D97-AF65-F5344CB8AC3E}">
        <p14:creationId xmlns:p14="http://schemas.microsoft.com/office/powerpoint/2010/main" val="405432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" y="1344861"/>
            <a:ext cx="9312653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da-DK" sz="1600" dirty="0"/>
              <a:t>Hvem ejer de </a:t>
            </a:r>
            <a:r>
              <a:rPr lang="da-DK" sz="1600" dirty="0" err="1"/>
              <a:t>chatbots</a:t>
            </a:r>
            <a:r>
              <a:rPr lang="da-DK" sz="1600" dirty="0"/>
              <a:t> vi bruger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Og hvad er deres agenda?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Bias</a:t>
            </a: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6915" y="490870"/>
            <a:ext cx="5695485" cy="4558013"/>
          </a:xfrm>
          <a:prstGeom prst="rect">
            <a:avLst/>
          </a:prstGeom>
        </p:spPr>
      </p:pic>
      <p:pic>
        <p:nvPicPr>
          <p:cNvPr id="7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92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6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endParaRPr lang="da-DK" sz="1400" b="1" dirty="0"/>
          </a:p>
          <a:p>
            <a:r>
              <a:rPr lang="da-DK" sz="1400" dirty="0"/>
              <a:t>Det kan give skæve eller mangelfulde data </a:t>
            </a:r>
          </a:p>
          <a:p>
            <a:r>
              <a:rPr lang="da-DK" sz="1400" dirty="0"/>
              <a:t>Historiske mønstre (fx diskrimination) </a:t>
            </a:r>
          </a:p>
          <a:p>
            <a:r>
              <a:rPr lang="da-DK" sz="1400" dirty="0"/>
              <a:t>Valg i design og træning </a:t>
            </a:r>
          </a:p>
          <a:p>
            <a:r>
              <a:rPr lang="da-DK" sz="1400" dirty="0"/>
              <a:t>Manglende diversitet i udvikling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Bias</a:t>
            </a:r>
          </a:p>
        </p:txBody>
      </p:sp>
    </p:spTree>
    <p:extLst>
      <p:ext uri="{BB962C8B-B14F-4D97-AF65-F5344CB8AC3E}">
        <p14:creationId xmlns:p14="http://schemas.microsoft.com/office/powerpoint/2010/main" val="240893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5135587" cy="351210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sz="1600" dirty="0"/>
              <a:t>Eksempler: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Den Himmelske Freds Plads-protesterne i 1989</a:t>
            </a:r>
          </a:p>
          <a:p>
            <a:pPr marL="342900">
              <a:spcAft>
                <a:spcPts val="600"/>
              </a:spcAft>
            </a:pPr>
            <a:endParaRPr lang="da-DK" sz="1600" dirty="0"/>
          </a:p>
          <a:p>
            <a:pPr marL="342900">
              <a:spcAft>
                <a:spcPts val="600"/>
              </a:spcAft>
            </a:pPr>
            <a:r>
              <a:rPr lang="da-DK" sz="1600" dirty="0"/>
              <a:t>Tidlige </a:t>
            </a:r>
            <a:r>
              <a:rPr lang="da-DK" sz="1600" dirty="0" err="1"/>
              <a:t>chatbots</a:t>
            </a:r>
            <a:r>
              <a:rPr lang="da-DK" sz="1600" dirty="0"/>
              <a:t> og </a:t>
            </a:r>
            <a:r>
              <a:rPr lang="da-DK" sz="1600" dirty="0" err="1"/>
              <a:t>dataen</a:t>
            </a:r>
            <a:r>
              <a:rPr lang="da-DK" sz="1600" dirty="0"/>
              <a:t> de var trænet på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Bias</a:t>
            </a:r>
          </a:p>
        </p:txBody>
      </p:sp>
    </p:spTree>
    <p:extLst>
      <p:ext uri="{BB962C8B-B14F-4D97-AF65-F5344CB8AC3E}">
        <p14:creationId xmlns:p14="http://schemas.microsoft.com/office/powerpoint/2010/main" val="223202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74358" y="1938961"/>
            <a:ext cx="4222881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da-DK" sz="1600" dirty="0"/>
              <a:t>Enhedslisten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SF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Alternativet</a:t>
            </a:r>
          </a:p>
          <a:p>
            <a:pPr marL="342900">
              <a:spcAft>
                <a:spcPts val="600"/>
              </a:spcAft>
            </a:pPr>
            <a:endParaRPr lang="da-DK" sz="1600" dirty="0"/>
          </a:p>
          <a:p>
            <a:pPr marL="342900">
              <a:spcAft>
                <a:spcPts val="600"/>
              </a:spcAft>
            </a:pPr>
            <a:r>
              <a:rPr lang="da-DK" sz="1600" dirty="0"/>
              <a:t>Og Radikale venstre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Bias</a:t>
            </a: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8036" y="314701"/>
            <a:ext cx="4120031" cy="47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0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Hallucinationer</a:t>
            </a:r>
          </a:p>
        </p:txBody>
      </p:sp>
      <p:pic>
        <p:nvPicPr>
          <p:cNvPr id="7" name="IMG_1254.jpeg" descr="IMG_1254.jpe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4617" y="1156474"/>
            <a:ext cx="5291653" cy="371401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95327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10</a:t>
            </a:fld>
            <a:endParaRPr lang="da-DK" dirty="0"/>
          </a:p>
        </p:txBody>
      </p:sp>
      <p:pic>
        <p:nvPicPr>
          <p:cNvPr id="5" name="Skærmbillede 2023-10-30 kl. 08.37.21.png" descr="Skærmbillede 2023-10-30 kl. 08.37.2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58" y="-1600201"/>
            <a:ext cx="4826000" cy="674370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kstfelt 5"/>
          <p:cNvSpPr txBox="1"/>
          <p:nvPr/>
        </p:nvSpPr>
        <p:spPr>
          <a:xfrm>
            <a:off x="5675086" y="914400"/>
            <a:ext cx="3468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“</a:t>
            </a:r>
            <a:r>
              <a:rPr lang="en-US" sz="1600" i="1" dirty="0" err="1"/>
              <a:t>På</a:t>
            </a:r>
            <a:r>
              <a:rPr lang="en-US" sz="1600" i="1" dirty="0"/>
              <a:t> </a:t>
            </a:r>
            <a:r>
              <a:rPr lang="en-US" sz="1600" i="1" dirty="0" err="1"/>
              <a:t>billedet</a:t>
            </a:r>
            <a:r>
              <a:rPr lang="en-US" sz="1600" i="1" dirty="0"/>
              <a:t> </a:t>
            </a:r>
            <a:r>
              <a:rPr lang="en-US" sz="1600" i="1" dirty="0" err="1"/>
              <a:t>ser</a:t>
            </a:r>
            <a:r>
              <a:rPr lang="en-US" sz="1600" i="1" dirty="0"/>
              <a:t> du </a:t>
            </a:r>
            <a:r>
              <a:rPr lang="en-US" sz="1600" i="1" dirty="0" err="1"/>
              <a:t>en</a:t>
            </a:r>
            <a:r>
              <a:rPr lang="en-US" sz="1600" i="1" dirty="0"/>
              <a:t> </a:t>
            </a:r>
            <a:r>
              <a:rPr lang="en-US" sz="1600" i="1" dirty="0" err="1"/>
              <a:t>jernbane</a:t>
            </a:r>
            <a:r>
              <a:rPr lang="en-US" sz="1600" i="1" dirty="0"/>
              <a:t> </a:t>
            </a:r>
            <a:r>
              <a:rPr lang="en-US" sz="1600" i="1" dirty="0" err="1"/>
              <a:t>eller</a:t>
            </a:r>
            <a:r>
              <a:rPr lang="en-US" sz="1600" i="1" dirty="0"/>
              <a:t> et </a:t>
            </a:r>
            <a:r>
              <a:rPr lang="en-US" sz="1600" i="1" dirty="0" err="1"/>
              <a:t>togspor</a:t>
            </a:r>
            <a:r>
              <a:rPr lang="en-US" sz="1600" i="1" dirty="0"/>
              <a:t> set </a:t>
            </a:r>
            <a:r>
              <a:rPr lang="en-US" sz="1600" i="1" dirty="0" err="1"/>
              <a:t>ovenfra</a:t>
            </a:r>
            <a:r>
              <a:rPr lang="en-US" sz="1600" i="1" dirty="0"/>
              <a:t>. </a:t>
            </a:r>
            <a:r>
              <a:rPr lang="en-US" sz="1600" i="1" dirty="0" err="1"/>
              <a:t>Sporet</a:t>
            </a:r>
            <a:r>
              <a:rPr lang="en-US" sz="1600" i="1" dirty="0"/>
              <a:t> </a:t>
            </a:r>
            <a:r>
              <a:rPr lang="en-US" sz="1600" i="1" dirty="0" err="1"/>
              <a:t>ser</a:t>
            </a:r>
            <a:r>
              <a:rPr lang="en-US" sz="1600" i="1" dirty="0"/>
              <a:t> </a:t>
            </a:r>
            <a:r>
              <a:rPr lang="en-US" sz="1600" i="1" dirty="0" err="1"/>
              <a:t>ud</a:t>
            </a:r>
            <a:r>
              <a:rPr lang="en-US" sz="1600" i="1" dirty="0"/>
              <a:t> </a:t>
            </a:r>
            <a:r>
              <a:rPr lang="en-US" sz="1600" i="1" dirty="0" err="1"/>
              <a:t>til</a:t>
            </a:r>
            <a:r>
              <a:rPr lang="en-US" sz="1600" i="1" dirty="0"/>
              <a:t> at </a:t>
            </a:r>
            <a:r>
              <a:rPr lang="en-US" sz="1600" i="1" dirty="0" err="1"/>
              <a:t>være</a:t>
            </a:r>
            <a:r>
              <a:rPr lang="en-US" sz="1600" i="1" dirty="0"/>
              <a:t> </a:t>
            </a:r>
            <a:r>
              <a:rPr lang="en-US" sz="1600" i="1" dirty="0" err="1"/>
              <a:t>omgivet</a:t>
            </a:r>
            <a:r>
              <a:rPr lang="en-US" sz="1600" i="1" dirty="0"/>
              <a:t> </a:t>
            </a:r>
            <a:r>
              <a:rPr lang="en-US" sz="1600" i="1" dirty="0" err="1"/>
              <a:t>af</a:t>
            </a:r>
            <a:r>
              <a:rPr lang="en-US" sz="1600" i="1" dirty="0"/>
              <a:t> </a:t>
            </a:r>
            <a:r>
              <a:rPr lang="en-US" sz="1600" i="1" dirty="0" err="1"/>
              <a:t>hegn</a:t>
            </a:r>
            <a:r>
              <a:rPr lang="en-US" sz="1600" i="1" dirty="0"/>
              <a:t>. </a:t>
            </a:r>
            <a:r>
              <a:rPr lang="en-US" sz="1600" i="1" dirty="0" err="1"/>
              <a:t>Billedet</a:t>
            </a:r>
            <a:r>
              <a:rPr lang="en-US" sz="1600" i="1" dirty="0"/>
              <a:t> </a:t>
            </a:r>
            <a:r>
              <a:rPr lang="en-US" sz="1600" i="1" dirty="0" err="1"/>
              <a:t>har</a:t>
            </a:r>
            <a:r>
              <a:rPr lang="en-US" sz="1600" i="1" dirty="0"/>
              <a:t> </a:t>
            </a:r>
            <a:r>
              <a:rPr lang="en-US" sz="1600" i="1" dirty="0" err="1"/>
              <a:t>en</a:t>
            </a:r>
            <a:r>
              <a:rPr lang="en-US" sz="1600" i="1" dirty="0"/>
              <a:t> </a:t>
            </a:r>
            <a:r>
              <a:rPr lang="en-US" sz="1600" i="1" dirty="0" err="1"/>
              <a:t>m,ørk</a:t>
            </a:r>
            <a:r>
              <a:rPr lang="en-US" sz="1600" i="1" dirty="0"/>
              <a:t> </a:t>
            </a:r>
            <a:r>
              <a:rPr lang="en-US" sz="1600" i="1" dirty="0" err="1"/>
              <a:t>og</a:t>
            </a:r>
            <a:r>
              <a:rPr lang="en-US" sz="1600" i="1" dirty="0"/>
              <a:t> </a:t>
            </a:r>
            <a:r>
              <a:rPr lang="en-US" sz="1600" i="1" dirty="0" err="1"/>
              <a:t>dystopisk</a:t>
            </a:r>
            <a:r>
              <a:rPr lang="en-US" sz="1600" i="1" dirty="0"/>
              <a:t> stemming med </a:t>
            </a:r>
            <a:r>
              <a:rPr lang="en-US" sz="1600" i="1" dirty="0" err="1"/>
              <a:t>skyer</a:t>
            </a:r>
            <a:r>
              <a:rPr lang="en-US" sz="1600" i="1" dirty="0"/>
              <a:t> </a:t>
            </a:r>
            <a:r>
              <a:rPr lang="en-US" sz="1600" i="1" dirty="0" err="1"/>
              <a:t>eller</a:t>
            </a:r>
            <a:r>
              <a:rPr lang="en-US" sz="1600" i="1" dirty="0"/>
              <a:t> </a:t>
            </a:r>
            <a:r>
              <a:rPr lang="en-US" sz="1600" i="1" dirty="0" err="1"/>
              <a:t>tåget</a:t>
            </a:r>
            <a:r>
              <a:rPr lang="en-US" sz="1600" i="1" dirty="0"/>
              <a:t> I </a:t>
            </a:r>
            <a:r>
              <a:rPr lang="en-US" sz="1600" i="1" dirty="0" err="1"/>
              <a:t>baggrunden</a:t>
            </a:r>
            <a:r>
              <a:rPr lang="en-US" sz="1600" i="1" dirty="0"/>
              <a:t>. Der </a:t>
            </a:r>
            <a:r>
              <a:rPr lang="en-US" sz="1600" i="1" dirty="0" err="1"/>
              <a:t>er</a:t>
            </a:r>
            <a:r>
              <a:rPr lang="en-US" sz="1600" i="1" dirty="0"/>
              <a:t> </a:t>
            </a:r>
            <a:r>
              <a:rPr lang="en-US" sz="1600" i="1" dirty="0" err="1"/>
              <a:t>også</a:t>
            </a:r>
            <a:r>
              <a:rPr lang="en-US" sz="1600" i="1" dirty="0"/>
              <a:t> </a:t>
            </a:r>
            <a:r>
              <a:rPr lang="en-US" sz="1600" i="1" dirty="0" err="1"/>
              <a:t>tydelige</a:t>
            </a:r>
            <a:r>
              <a:rPr lang="en-US" sz="1600" i="1" dirty="0"/>
              <a:t> </a:t>
            </a:r>
            <a:r>
              <a:rPr lang="en-US" sz="1600" i="1" dirty="0" err="1"/>
              <a:t>markeringer</a:t>
            </a:r>
            <a:r>
              <a:rPr lang="en-US" sz="1600" i="1" dirty="0"/>
              <a:t> </a:t>
            </a:r>
            <a:r>
              <a:rPr lang="en-US" sz="1600" i="1" dirty="0" err="1"/>
              <a:t>og</a:t>
            </a:r>
            <a:r>
              <a:rPr lang="en-US" sz="1600" i="1" dirty="0"/>
              <a:t> </a:t>
            </a:r>
            <a:r>
              <a:rPr lang="en-US" sz="1600" i="1" dirty="0" err="1"/>
              <a:t>skilte</a:t>
            </a:r>
            <a:r>
              <a:rPr lang="en-US" sz="1600" i="1" dirty="0"/>
              <a:t> </a:t>
            </a:r>
            <a:r>
              <a:rPr lang="en-US" sz="1600" i="1" dirty="0" err="1"/>
              <a:t>langs</a:t>
            </a:r>
            <a:r>
              <a:rPr lang="en-US" sz="1600" i="1" dirty="0"/>
              <a:t> </a:t>
            </a:r>
            <a:r>
              <a:rPr lang="en-US" sz="1600" i="1" dirty="0" err="1"/>
              <a:t>sporet</a:t>
            </a:r>
            <a:r>
              <a:rPr lang="en-US" sz="1600" i="1" dirty="0"/>
              <a:t>. </a:t>
            </a:r>
            <a:r>
              <a:rPr lang="en-US" sz="1600" i="1" dirty="0" err="1"/>
              <a:t>Fotografiet</a:t>
            </a:r>
            <a:r>
              <a:rPr lang="en-US" sz="1600" i="1" dirty="0"/>
              <a:t> </a:t>
            </a:r>
            <a:r>
              <a:rPr lang="en-US" sz="1600" i="1" dirty="0" err="1"/>
              <a:t>er</a:t>
            </a:r>
            <a:r>
              <a:rPr lang="en-US" sz="1600" i="1" dirty="0"/>
              <a:t> </a:t>
            </a:r>
            <a:r>
              <a:rPr lang="en-US" sz="1600" i="1" dirty="0" err="1"/>
              <a:t>taget</a:t>
            </a:r>
            <a:r>
              <a:rPr lang="en-US" sz="1600" i="1" dirty="0"/>
              <a:t> med </a:t>
            </a:r>
            <a:r>
              <a:rPr lang="en-US" sz="1600" i="1" dirty="0" err="1"/>
              <a:t>en</a:t>
            </a:r>
            <a:r>
              <a:rPr lang="en-US" sz="1600" i="1" dirty="0"/>
              <a:t> </a:t>
            </a:r>
            <a:r>
              <a:rPr lang="en-US" sz="1600" i="1" dirty="0" err="1"/>
              <a:t>kunstnerisk</a:t>
            </a:r>
            <a:r>
              <a:rPr lang="en-US" sz="1600" i="1" dirty="0"/>
              <a:t> </a:t>
            </a:r>
            <a:r>
              <a:rPr lang="en-US" sz="1600" i="1" dirty="0" err="1"/>
              <a:t>vinkel</a:t>
            </a:r>
            <a:r>
              <a:rPr lang="en-US" sz="1600" i="1" dirty="0"/>
              <a:t>, </a:t>
            </a:r>
            <a:r>
              <a:rPr lang="en-US" sz="1600" i="1" dirty="0" err="1"/>
              <a:t>hvilket</a:t>
            </a:r>
            <a:r>
              <a:rPr lang="en-US" sz="1600" i="1" dirty="0"/>
              <a:t> </a:t>
            </a:r>
            <a:r>
              <a:rPr lang="en-US" sz="1600" i="1" dirty="0" err="1"/>
              <a:t>gør</a:t>
            </a:r>
            <a:r>
              <a:rPr lang="en-US" sz="1600" i="1" dirty="0"/>
              <a:t> </a:t>
            </a:r>
            <a:r>
              <a:rPr lang="en-US" sz="1600" i="1" dirty="0" err="1"/>
              <a:t>det</a:t>
            </a:r>
            <a:r>
              <a:rPr lang="en-US" sz="1600" i="1" dirty="0"/>
              <a:t> </a:t>
            </a:r>
            <a:r>
              <a:rPr lang="en-US" sz="1600" i="1" dirty="0" err="1"/>
              <a:t>meget</a:t>
            </a:r>
            <a:r>
              <a:rPr lang="en-US" sz="1600" i="1" dirty="0"/>
              <a:t> </a:t>
            </a:r>
            <a:r>
              <a:rPr lang="en-US" sz="1600" i="1" dirty="0" err="1"/>
              <a:t>dramatisk</a:t>
            </a:r>
            <a:r>
              <a:rPr lang="en-US" sz="1600" i="1" dirty="0"/>
              <a:t>. </a:t>
            </a:r>
            <a:r>
              <a:rPr lang="en-US" sz="1600" i="1" dirty="0" err="1"/>
              <a:t>Fotografens</a:t>
            </a:r>
            <a:r>
              <a:rPr lang="en-US" sz="1600" i="1" dirty="0"/>
              <a:t> </a:t>
            </a:r>
            <a:r>
              <a:rPr lang="en-US" sz="1600" i="1" dirty="0" err="1"/>
              <a:t>navn</a:t>
            </a:r>
            <a:r>
              <a:rPr lang="en-US" sz="1600" i="1" dirty="0"/>
              <a:t>, “Mad Claus Rasmussen </a:t>
            </a:r>
            <a:r>
              <a:rPr lang="en-US" sz="1600" i="1" dirty="0" err="1"/>
              <a:t>er</a:t>
            </a:r>
            <a:r>
              <a:rPr lang="en-US" sz="1600" i="1" dirty="0"/>
              <a:t> </a:t>
            </a:r>
            <a:r>
              <a:rPr lang="en-US" sz="1600" i="1" dirty="0" err="1"/>
              <a:t>også</a:t>
            </a:r>
            <a:r>
              <a:rPr lang="en-US" sz="1600" i="1" dirty="0"/>
              <a:t> </a:t>
            </a:r>
            <a:r>
              <a:rPr lang="en-US" sz="1600" i="1" dirty="0" err="1"/>
              <a:t>nævnt</a:t>
            </a:r>
            <a:r>
              <a:rPr lang="en-US" sz="1600" i="1" dirty="0"/>
              <a:t> </a:t>
            </a:r>
            <a:r>
              <a:rPr lang="en-US" sz="1600" i="1" dirty="0" err="1"/>
              <a:t>på</a:t>
            </a:r>
            <a:r>
              <a:rPr lang="en-US" sz="1600" i="1" dirty="0"/>
              <a:t> </a:t>
            </a:r>
            <a:r>
              <a:rPr lang="en-US" sz="1600" i="1" dirty="0" err="1"/>
              <a:t>billedet</a:t>
            </a:r>
            <a:r>
              <a:rPr lang="en-US" sz="1600" i="1" dirty="0"/>
              <a:t>.” – GPT-4</a:t>
            </a:r>
          </a:p>
        </p:txBody>
      </p:sp>
    </p:spTree>
    <p:extLst>
      <p:ext uri="{BB962C8B-B14F-4D97-AF65-F5344CB8AC3E}">
        <p14:creationId xmlns:p14="http://schemas.microsoft.com/office/powerpoint/2010/main" val="411672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11</a:t>
            </a:fld>
            <a:endParaRPr lang="da-DK" dirty="0"/>
          </a:p>
        </p:txBody>
      </p:sp>
      <p:pic>
        <p:nvPicPr>
          <p:cNvPr id="5" name="indsat-billede.tiff" descr="indsat-billede.tiff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591" y="445025"/>
            <a:ext cx="4535492" cy="4380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ndsat-billede.tiff" descr="indsat-billede.tif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434" y="445025"/>
            <a:ext cx="4380975" cy="4380975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felt 6"/>
          <p:cNvSpPr txBox="1"/>
          <p:nvPr/>
        </p:nvSpPr>
        <p:spPr>
          <a:xfrm>
            <a:off x="8" y="75693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498E8C"/>
                </a:solidFill>
              </a:rPr>
              <a:t>Image: A doctor</a:t>
            </a:r>
          </a:p>
        </p:txBody>
      </p:sp>
      <p:pic>
        <p:nvPicPr>
          <p:cNvPr id="8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23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12</a:t>
            </a:fld>
            <a:endParaRPr lang="da-DK" dirty="0"/>
          </a:p>
        </p:txBody>
      </p:sp>
      <p:pic>
        <p:nvPicPr>
          <p:cNvPr id="5" name="indsat-billede.tiff" descr="indsat-billede.tiff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22" y="445024"/>
            <a:ext cx="4393676" cy="4393676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ndsat-billede.tiff" descr="indsat-billede.tif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903" y="445025"/>
            <a:ext cx="4393675" cy="439367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kstfelt 8"/>
          <p:cNvSpPr txBox="1"/>
          <p:nvPr/>
        </p:nvSpPr>
        <p:spPr>
          <a:xfrm>
            <a:off x="8" y="69231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498E8C"/>
                </a:solidFill>
              </a:rPr>
              <a:t>Image: A nurse</a:t>
            </a:r>
          </a:p>
        </p:txBody>
      </p:sp>
      <p:pic>
        <p:nvPicPr>
          <p:cNvPr id="10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146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13</a:t>
            </a:fld>
            <a:endParaRPr lang="da-DK" dirty="0"/>
          </a:p>
        </p:txBody>
      </p:sp>
      <p:pic>
        <p:nvPicPr>
          <p:cNvPr id="5" name="indsat-billede.tiff" descr="indsat-billede.tiff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94" y="641823"/>
            <a:ext cx="4228669" cy="4228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ndsat-billede.tiff" descr="indsat-billede.tif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537" y="641822"/>
            <a:ext cx="4228669" cy="422866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felt 6"/>
          <p:cNvSpPr txBox="1"/>
          <p:nvPr/>
        </p:nvSpPr>
        <p:spPr>
          <a:xfrm>
            <a:off x="8" y="69231"/>
            <a:ext cx="4648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498E8C"/>
                </a:solidFill>
              </a:rPr>
              <a:t>Image: A president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4572000" y="60313"/>
            <a:ext cx="4648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498E8C"/>
                </a:solidFill>
              </a:rPr>
              <a:t>Image: A CEO</a:t>
            </a:r>
          </a:p>
        </p:txBody>
      </p:sp>
      <p:pic>
        <p:nvPicPr>
          <p:cNvPr id="9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57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92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3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16</a:t>
            </a:fld>
            <a:endParaRPr lang="da-DK" dirty="0"/>
          </a:p>
        </p:txBody>
      </p:sp>
      <p:pic>
        <p:nvPicPr>
          <p:cNvPr id="5" name="indsat-billede.tiff" descr="indsat-billede.tiff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2180" y="190500"/>
            <a:ext cx="4141260" cy="48767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17843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indsat-film.png" descr="indsat-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23" y="1470741"/>
            <a:ext cx="7967754" cy="292591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Forståelsesproblemer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21230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  <p:pic>
        <p:nvPicPr>
          <p:cNvPr id="6" name="Skærmbillede 2023-09-06 kl. 20.56.24.png" descr="Skærmbillede 2023-09-06 kl. 20.56.24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" y="0"/>
            <a:ext cx="9097696" cy="5224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23574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teks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  <p:pic>
        <p:nvPicPr>
          <p:cNvPr id="6" name="indsat-billede.tiff" descr="indsat-billede.tif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735" y="1178"/>
            <a:ext cx="7939216" cy="514232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52023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5381-FB95-86A8-B2D2-4B7ED20D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D7083-114E-A517-089F-386E42DEC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671" y="1661591"/>
            <a:ext cx="6829800" cy="910159"/>
          </a:xfrm>
        </p:spPr>
        <p:txBody>
          <a:bodyPr/>
          <a:lstStyle/>
          <a:p>
            <a:r>
              <a:rPr lang="da-DK" dirty="0"/>
              <a:t>Øvelse</a:t>
            </a: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5C77DF68-776E-4953-51F8-ECBC038DBB44}"/>
              </a:ext>
            </a:extLst>
          </p:cNvPr>
          <p:cNvSpPr txBox="1">
            <a:spLocks/>
          </p:cNvSpPr>
          <p:nvPr/>
        </p:nvSpPr>
        <p:spPr>
          <a:xfrm>
            <a:off x="1164957" y="2341102"/>
            <a:ext cx="6814086" cy="187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a-DK" altLang="da-DK" dirty="0">
                <a:solidFill>
                  <a:srgbClr val="00454E"/>
                </a:solidFill>
                <a:latin typeface="Arial" panose="020B0604020202020204" pitchFamily="34" charset="0"/>
              </a:rPr>
              <a:t>-</a:t>
            </a:r>
            <a:endParaRPr lang="da-DK" dirty="0">
              <a:solidFill>
                <a:srgbClr val="00454E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DB62C62-8429-F82E-0A97-DF5DAAC5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30CACE3-50ED-B306-25EC-7D7D7FE624E7}"/>
              </a:ext>
            </a:extLst>
          </p:cNvPr>
          <p:cNvSpPr txBox="1"/>
          <p:nvPr/>
        </p:nvSpPr>
        <p:spPr>
          <a:xfrm>
            <a:off x="1164957" y="1678181"/>
            <a:ext cx="7283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i="1" dirty="0">
                <a:solidFill>
                  <a:srgbClr val="00454E"/>
                </a:solidFill>
              </a:rPr>
              <a:t>Spørg en </a:t>
            </a:r>
            <a:r>
              <a:rPr lang="da-DK" sz="3600" i="1" dirty="0" err="1">
                <a:solidFill>
                  <a:srgbClr val="00454E"/>
                </a:solidFill>
              </a:rPr>
              <a:t>chatbot</a:t>
            </a:r>
            <a:r>
              <a:rPr lang="da-DK" sz="3600" i="1" dirty="0">
                <a:solidFill>
                  <a:srgbClr val="00454E"/>
                </a:solidFill>
              </a:rPr>
              <a:t> om dens egen bias</a:t>
            </a:r>
          </a:p>
        </p:txBody>
      </p:sp>
    </p:spTree>
    <p:extLst>
      <p:ext uri="{BB962C8B-B14F-4D97-AF65-F5344CB8AC3E}">
        <p14:creationId xmlns:p14="http://schemas.microsoft.com/office/powerpoint/2010/main" val="66056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5381-FB95-86A8-B2D2-4B7ED20D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D7083-114E-A517-089F-386E42DEC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671" y="1661591"/>
            <a:ext cx="6829800" cy="910159"/>
          </a:xfrm>
        </p:spPr>
        <p:txBody>
          <a:bodyPr/>
          <a:lstStyle/>
          <a:p>
            <a:r>
              <a:rPr lang="da-DK" dirty="0"/>
              <a:t>Udgør AI en trussel?</a:t>
            </a: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5C77DF68-776E-4953-51F8-ECBC038DBB44}"/>
              </a:ext>
            </a:extLst>
          </p:cNvPr>
          <p:cNvSpPr txBox="1">
            <a:spLocks/>
          </p:cNvSpPr>
          <p:nvPr/>
        </p:nvSpPr>
        <p:spPr>
          <a:xfrm>
            <a:off x="1180671" y="1632147"/>
            <a:ext cx="6814086" cy="187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a-DK" dirty="0">
                <a:solidFill>
                  <a:srgbClr val="00454E"/>
                </a:solidFill>
              </a:rPr>
              <a:t>Drøft følgende med din sidemakker:</a:t>
            </a:r>
          </a:p>
          <a:p>
            <a:pPr marL="3111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454E"/>
                </a:solidFill>
              </a:rPr>
              <a:t>Udgør AI en trussel?</a:t>
            </a:r>
          </a:p>
          <a:p>
            <a:pPr marL="3111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454E"/>
                </a:solidFill>
              </a:rPr>
              <a:t>Hvordan kan AI potentielt set være farlig?</a:t>
            </a:r>
          </a:p>
          <a:p>
            <a:pPr marL="3111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454E"/>
                </a:solidFill>
              </a:rPr>
              <a:t>Hvordan mener du at kan AI misbruges?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DB62C62-8429-F82E-0A97-DF5DAAC5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561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22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da-DK" sz="1600" dirty="0"/>
              <a:t>Hvad er AI Act?</a:t>
            </a:r>
            <a:br>
              <a:rPr lang="da-DK" sz="1600" dirty="0"/>
            </a:br>
            <a:r>
              <a:rPr lang="da-DK" sz="1600" dirty="0"/>
              <a:t>→  Hvorfor findes den?</a:t>
            </a:r>
            <a:br>
              <a:rPr lang="da-DK" sz="1600" dirty="0"/>
            </a:br>
            <a:r>
              <a:rPr lang="da-DK" sz="1600" dirty="0"/>
              <a:t>→  Hvordan virker den?</a:t>
            </a:r>
            <a:br>
              <a:rPr lang="da-DK" sz="1600" dirty="0"/>
            </a:br>
            <a:r>
              <a:rPr lang="da-DK" sz="1600" dirty="0"/>
              <a:t>→  Hvad betyder den i praksis?</a:t>
            </a:r>
            <a:br>
              <a:rPr lang="da-DK" sz="1600" dirty="0"/>
            </a:br>
            <a:r>
              <a:rPr lang="da-DK" sz="1600" dirty="0"/>
              <a:t>→  Hvordan laver man risikovurdering?</a:t>
            </a:r>
            <a:endParaRPr lang="da-DK" sz="14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359251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23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da-DK" sz="2000" b="1" dirty="0"/>
              <a:t>Hvorfor findes den?</a:t>
            </a:r>
          </a:p>
          <a:p>
            <a:pPr marL="742950" lvl="1" indent="-285750">
              <a:spcAft>
                <a:spcPts val="600"/>
              </a:spcAft>
            </a:pPr>
            <a:r>
              <a:rPr lang="en-US" sz="1600" dirty="0"/>
              <a:t>AI </a:t>
            </a:r>
            <a:r>
              <a:rPr lang="en-US" sz="1600" dirty="0" err="1"/>
              <a:t>er</a:t>
            </a:r>
            <a:r>
              <a:rPr lang="en-US" sz="1600" dirty="0"/>
              <a:t> </a:t>
            </a:r>
            <a:r>
              <a:rPr lang="en-US" sz="1600" dirty="0" err="1"/>
              <a:t>overalt</a:t>
            </a:r>
            <a:endParaRPr lang="en-US" sz="1600" dirty="0"/>
          </a:p>
          <a:p>
            <a:pPr marL="742950" lvl="1" indent="-285750">
              <a:spcAft>
                <a:spcPts val="600"/>
              </a:spcAft>
            </a:pPr>
            <a:r>
              <a:rPr lang="en-US" sz="1600" dirty="0" err="1"/>
              <a:t>Potentiale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risiko</a:t>
            </a:r>
            <a:endParaRPr lang="en-US" sz="1600" dirty="0"/>
          </a:p>
          <a:p>
            <a:pPr marL="742950" lvl="1" indent="-285750">
              <a:spcAft>
                <a:spcPts val="600"/>
              </a:spcAft>
            </a:pPr>
            <a:r>
              <a:rPr lang="en-US" sz="1600" dirty="0" err="1"/>
              <a:t>Behov</a:t>
            </a:r>
            <a:r>
              <a:rPr lang="en-US" sz="1600" dirty="0"/>
              <a:t> for </a:t>
            </a:r>
            <a:r>
              <a:rPr lang="en-US" sz="1600" dirty="0" err="1"/>
              <a:t>fælles</a:t>
            </a:r>
            <a:r>
              <a:rPr lang="en-US" sz="1600" dirty="0"/>
              <a:t> </a:t>
            </a:r>
            <a:r>
              <a:rPr lang="en-US" sz="1600" dirty="0" err="1"/>
              <a:t>regler</a:t>
            </a:r>
            <a:br>
              <a:rPr lang="da-DK" sz="1600" dirty="0"/>
            </a:br>
            <a:endParaRPr lang="da-DK" sz="11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142246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en-US" b="1" dirty="0"/>
              <a:t>EU’s </a:t>
            </a:r>
            <a:r>
              <a:rPr lang="en-US" b="1" dirty="0" err="1"/>
              <a:t>regulering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AI</a:t>
            </a:r>
          </a:p>
          <a:p>
            <a:pPr marL="628650" lvl="1" indent="-171450">
              <a:spcAft>
                <a:spcPts val="600"/>
              </a:spcAft>
            </a:pPr>
            <a:r>
              <a:rPr lang="da-DK" sz="1600" dirty="0"/>
              <a:t>Verdens første AI-lovgivning</a:t>
            </a:r>
          </a:p>
          <a:p>
            <a:pPr marL="628650" lvl="1" indent="-171450">
              <a:spcAft>
                <a:spcPts val="600"/>
              </a:spcAft>
            </a:pPr>
            <a:r>
              <a:rPr lang="da-DK" sz="1600" dirty="0"/>
              <a:t>Vedtaget i 2024</a:t>
            </a:r>
          </a:p>
          <a:p>
            <a:pPr marL="628650" lvl="1" indent="-171450">
              <a:spcAft>
                <a:spcPts val="600"/>
              </a:spcAft>
            </a:pPr>
            <a:r>
              <a:rPr lang="da-DK" sz="1600" dirty="0"/>
              <a:t>Træder gradvist i kraft</a:t>
            </a:r>
            <a:br>
              <a:rPr lang="da-DK" sz="1600" dirty="0"/>
            </a:br>
            <a:endParaRPr lang="da-DK" sz="12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390991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25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84295" y="1259025"/>
            <a:ext cx="4222881" cy="3512102"/>
          </a:xfrm>
        </p:spPr>
        <p:txBody>
          <a:bodyPr>
            <a:normAutofit/>
          </a:bodyPr>
          <a:lstStyle/>
          <a:p>
            <a:r>
              <a:rPr lang="en-US" b="1" dirty="0" err="1"/>
              <a:t>Formål</a:t>
            </a:r>
            <a:endParaRPr lang="en-US" b="1" dirty="0"/>
          </a:p>
          <a:p>
            <a:pPr lvl="1"/>
            <a:r>
              <a:rPr lang="en-US" sz="1600" dirty="0" err="1"/>
              <a:t>Sikre</a:t>
            </a:r>
            <a:r>
              <a:rPr lang="en-US" sz="1600" dirty="0"/>
              <a:t> </a:t>
            </a:r>
            <a:r>
              <a:rPr lang="en-US" sz="1600" dirty="0" err="1"/>
              <a:t>sikker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pålidelig</a:t>
            </a:r>
            <a:r>
              <a:rPr lang="en-US" sz="1600" dirty="0"/>
              <a:t> AI</a:t>
            </a:r>
          </a:p>
          <a:p>
            <a:pPr lvl="1"/>
            <a:r>
              <a:rPr lang="en-US" sz="1600" dirty="0" err="1"/>
              <a:t>Beskytte</a:t>
            </a:r>
            <a:r>
              <a:rPr lang="en-US" sz="1600" dirty="0"/>
              <a:t> </a:t>
            </a:r>
            <a:r>
              <a:rPr lang="en-US" sz="1600" dirty="0" err="1"/>
              <a:t>rettigheder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demokrati</a:t>
            </a:r>
            <a:endParaRPr lang="en-US" sz="1600" dirty="0"/>
          </a:p>
          <a:p>
            <a:pPr lvl="1"/>
            <a:r>
              <a:rPr lang="en-US" sz="1600" dirty="0" err="1"/>
              <a:t>Fremme</a:t>
            </a:r>
            <a:r>
              <a:rPr lang="en-US" sz="1600" dirty="0"/>
              <a:t> innovation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konkurrence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2490" y="749300"/>
            <a:ext cx="4427546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02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26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 lnSpcReduction="10000"/>
          </a:bodyPr>
          <a:lstStyle/>
          <a:p>
            <a:r>
              <a:rPr lang="da-DK" b="1" dirty="0"/>
              <a:t>Hvad er AI Act?</a:t>
            </a:r>
          </a:p>
          <a:p>
            <a:pPr lvl="1"/>
            <a:r>
              <a:rPr lang="da-DK" sz="1600" dirty="0"/>
              <a:t>Regulering af AI-systemer</a:t>
            </a:r>
          </a:p>
          <a:p>
            <a:pPr lvl="1"/>
            <a:r>
              <a:rPr lang="da-DK" sz="1600" dirty="0"/>
              <a:t>Indeholder krav og forbud</a:t>
            </a:r>
          </a:p>
          <a:p>
            <a:pPr lvl="1"/>
            <a:r>
              <a:rPr lang="da-DK" sz="1600" dirty="0"/>
              <a:t>Gælder hele værdikæden</a:t>
            </a:r>
          </a:p>
          <a:p>
            <a:pPr lvl="1"/>
            <a:r>
              <a:rPr lang="da-DK" sz="1600" dirty="0"/>
              <a:t>Omfatter både teknik og organisation</a:t>
            </a:r>
          </a:p>
          <a:p>
            <a:pPr lvl="1"/>
            <a:r>
              <a:rPr lang="en-US" sz="1600" dirty="0" err="1"/>
              <a:t>Krav</a:t>
            </a:r>
            <a:r>
              <a:rPr lang="en-US" sz="1600" dirty="0"/>
              <a:t> </a:t>
            </a:r>
            <a:r>
              <a:rPr lang="en-US" sz="1600" dirty="0" err="1"/>
              <a:t>til</a:t>
            </a:r>
            <a:r>
              <a:rPr lang="en-US" sz="1600" dirty="0"/>
              <a:t> hele AI-</a:t>
            </a:r>
            <a:r>
              <a:rPr lang="en-US" sz="1600" dirty="0" err="1"/>
              <a:t>livscyklussen</a:t>
            </a:r>
            <a:endParaRPr lang="da-DK" sz="1600" dirty="0"/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22286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Autofit/>
          </a:bodyPr>
          <a:lstStyle/>
          <a:p>
            <a:r>
              <a:rPr lang="da-DK" b="1" dirty="0"/>
              <a:t>Hvem gælder den for?</a:t>
            </a:r>
          </a:p>
          <a:p>
            <a:pPr lvl="1"/>
            <a:r>
              <a:rPr lang="da-DK" sz="1600" dirty="0"/>
              <a:t>Udviklere af AI</a:t>
            </a:r>
          </a:p>
          <a:p>
            <a:pPr lvl="1"/>
            <a:r>
              <a:rPr lang="da-DK" sz="1600" dirty="0"/>
              <a:t>Virksomheder der bruger AI</a:t>
            </a:r>
          </a:p>
          <a:p>
            <a:pPr lvl="1"/>
            <a:r>
              <a:rPr lang="da-DK" sz="1600" dirty="0"/>
              <a:t>Distributører og importører</a:t>
            </a:r>
          </a:p>
          <a:p>
            <a:pPr lvl="1"/>
            <a:r>
              <a:rPr lang="da-DK" sz="1600" dirty="0"/>
              <a:t>Offentlig og privat sektor</a:t>
            </a:r>
          </a:p>
          <a:p>
            <a:pPr lvl="1"/>
            <a:r>
              <a:rPr lang="en-US" sz="1600" dirty="0" err="1"/>
              <a:t>Alle</a:t>
            </a:r>
            <a:r>
              <a:rPr lang="en-US" sz="1600" dirty="0"/>
              <a:t> </a:t>
            </a:r>
            <a:r>
              <a:rPr lang="en-US" sz="1600" dirty="0" err="1"/>
              <a:t>aktører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værdikæden</a:t>
            </a:r>
            <a:br>
              <a:rPr lang="da-DK" sz="3200" dirty="0"/>
            </a:br>
            <a:endParaRPr lang="da-DK" sz="2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478436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Autofit/>
          </a:bodyPr>
          <a:lstStyle/>
          <a:p>
            <a:r>
              <a:rPr lang="da-DK" b="1" dirty="0"/>
              <a:t>Global rækkevidde</a:t>
            </a:r>
          </a:p>
          <a:p>
            <a:pPr lvl="1"/>
            <a:r>
              <a:rPr lang="da-DK" sz="1600" dirty="0"/>
              <a:t>Gælder også uden for EU</a:t>
            </a:r>
          </a:p>
          <a:p>
            <a:pPr lvl="1"/>
            <a:r>
              <a:rPr lang="da-DK" sz="1600" dirty="0"/>
              <a:t>Hvis EU-borgere påvirkes</a:t>
            </a:r>
          </a:p>
          <a:p>
            <a:pPr lvl="1"/>
            <a:r>
              <a:rPr lang="da-DK" sz="1600" dirty="0"/>
              <a:t>Gælder output – ikke kun systemet</a:t>
            </a:r>
          </a:p>
          <a:p>
            <a:pPr lvl="1"/>
            <a:r>
              <a:rPr lang="da-DK" sz="1600" dirty="0"/>
              <a:t>Stor global betydning</a:t>
            </a:r>
          </a:p>
          <a:p>
            <a:pPr lvl="1"/>
            <a:r>
              <a:rPr lang="da-DK" sz="1600" dirty="0"/>
              <a:t>Gælder hvis output bruges i EU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4118539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29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Hvilke b</a:t>
            </a:r>
            <a:r>
              <a:rPr lang="en-US" b="1" dirty="0"/>
              <a:t>rancher </a:t>
            </a:r>
            <a:r>
              <a:rPr lang="en-US" b="1" dirty="0" err="1"/>
              <a:t>er</a:t>
            </a:r>
            <a:r>
              <a:rPr lang="en-US" b="1" dirty="0"/>
              <a:t> </a:t>
            </a:r>
            <a:r>
              <a:rPr lang="en-US" b="1" dirty="0" err="1"/>
              <a:t>påvirket</a:t>
            </a:r>
            <a:r>
              <a:rPr lang="en-US" b="1" dirty="0"/>
              <a:t>?</a:t>
            </a:r>
          </a:p>
          <a:p>
            <a:pPr lvl="1"/>
            <a:r>
              <a:rPr lang="en-US" sz="1600" dirty="0" err="1"/>
              <a:t>Finans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forsikring</a:t>
            </a:r>
            <a:endParaRPr lang="en-US" sz="1600" dirty="0"/>
          </a:p>
          <a:p>
            <a:pPr lvl="1"/>
            <a:r>
              <a:rPr lang="en-US" sz="1600" dirty="0" err="1"/>
              <a:t>Sundhed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behandling</a:t>
            </a:r>
            <a:endParaRPr lang="en-US" sz="1600" dirty="0"/>
          </a:p>
          <a:p>
            <a:pPr lvl="1"/>
            <a:r>
              <a:rPr lang="en-US" sz="1600" dirty="0"/>
              <a:t>Transport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infrastruktur</a:t>
            </a:r>
            <a:endParaRPr lang="en-US" sz="1600" dirty="0"/>
          </a:p>
          <a:p>
            <a:pPr lvl="1"/>
            <a:r>
              <a:rPr lang="en-US" sz="1600" dirty="0" err="1"/>
              <a:t>Offentlig</a:t>
            </a:r>
            <a:r>
              <a:rPr lang="en-US" sz="1600" dirty="0"/>
              <a:t> </a:t>
            </a:r>
            <a:r>
              <a:rPr lang="en-US" sz="1600" dirty="0" err="1"/>
              <a:t>sektor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823901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30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en-US" b="1" dirty="0" err="1"/>
              <a:t>En</a:t>
            </a:r>
            <a:r>
              <a:rPr lang="en-US" sz="2400" dirty="0"/>
              <a:t> </a:t>
            </a:r>
            <a:r>
              <a:rPr lang="en-US" b="1" dirty="0" err="1"/>
              <a:t>Risikobaseret</a:t>
            </a:r>
            <a:r>
              <a:rPr lang="en-US" b="1" dirty="0"/>
              <a:t> </a:t>
            </a:r>
            <a:r>
              <a:rPr lang="en-US" b="1" dirty="0" err="1"/>
              <a:t>tilgang</a:t>
            </a:r>
            <a:endParaRPr lang="en-US" b="1" dirty="0"/>
          </a:p>
          <a:p>
            <a:pPr lvl="1"/>
            <a:r>
              <a:rPr lang="en-US" sz="1600" dirty="0" err="1"/>
              <a:t>Fokus</a:t>
            </a:r>
            <a:r>
              <a:rPr lang="en-US" sz="1600" dirty="0"/>
              <a:t> </a:t>
            </a:r>
            <a:r>
              <a:rPr lang="en-US" sz="1600" dirty="0" err="1"/>
              <a:t>på</a:t>
            </a:r>
            <a:r>
              <a:rPr lang="en-US" sz="1600" dirty="0"/>
              <a:t> </a:t>
            </a:r>
            <a:r>
              <a:rPr lang="en-US" sz="1600" dirty="0" err="1"/>
              <a:t>risiko</a:t>
            </a:r>
            <a:endParaRPr lang="en-US" sz="1600" dirty="0"/>
          </a:p>
          <a:p>
            <a:pPr lvl="1"/>
            <a:r>
              <a:rPr lang="en-US" sz="1600" dirty="0" err="1"/>
              <a:t>Ikke</a:t>
            </a:r>
            <a:r>
              <a:rPr lang="en-US" sz="1600" dirty="0"/>
              <a:t> al AI </a:t>
            </a:r>
            <a:r>
              <a:rPr lang="en-US" sz="1600" dirty="0" err="1"/>
              <a:t>behandles</a:t>
            </a:r>
            <a:r>
              <a:rPr lang="en-US" sz="1600" dirty="0"/>
              <a:t> </a:t>
            </a:r>
            <a:r>
              <a:rPr lang="en-US" sz="1600" dirty="0" err="1"/>
              <a:t>ens</a:t>
            </a:r>
            <a:endParaRPr lang="en-US" sz="1600" dirty="0"/>
          </a:p>
          <a:p>
            <a:pPr lvl="1"/>
            <a:r>
              <a:rPr lang="en-US" sz="1600" dirty="0"/>
              <a:t>Mere </a:t>
            </a:r>
            <a:r>
              <a:rPr lang="en-US" sz="1600" dirty="0" err="1"/>
              <a:t>risiko</a:t>
            </a:r>
            <a:r>
              <a:rPr lang="en-US" sz="1600" dirty="0"/>
              <a:t> = </a:t>
            </a:r>
            <a:r>
              <a:rPr lang="en-US" sz="1600" dirty="0" err="1"/>
              <a:t>flere</a:t>
            </a:r>
            <a:r>
              <a:rPr lang="en-US" sz="1600" dirty="0"/>
              <a:t> </a:t>
            </a:r>
            <a:r>
              <a:rPr lang="en-US" sz="1600" dirty="0" err="1"/>
              <a:t>krav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226200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31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en-US" b="1" dirty="0" err="1"/>
              <a:t>En</a:t>
            </a:r>
            <a:r>
              <a:rPr lang="en-US" sz="2400" dirty="0"/>
              <a:t> </a:t>
            </a:r>
            <a:r>
              <a:rPr lang="en-US" b="1" dirty="0" err="1"/>
              <a:t>Risikobaseret</a:t>
            </a:r>
            <a:r>
              <a:rPr lang="en-US" b="1" dirty="0"/>
              <a:t> </a:t>
            </a:r>
            <a:r>
              <a:rPr lang="en-US" b="1" dirty="0" err="1"/>
              <a:t>tilgang</a:t>
            </a:r>
            <a:endParaRPr lang="en-US" b="1" dirty="0"/>
          </a:p>
          <a:p>
            <a:pPr marL="800100" lvl="1">
              <a:spcAft>
                <a:spcPts val="600"/>
              </a:spcAft>
            </a:pPr>
            <a:r>
              <a:rPr lang="da-DK" sz="1600" dirty="0"/>
              <a:t>Kerneprincip: krav afhænger af risiko</a:t>
            </a:r>
          </a:p>
          <a:p>
            <a:pPr marL="800100" lvl="1">
              <a:spcAft>
                <a:spcPts val="600"/>
              </a:spcAft>
            </a:pPr>
            <a:r>
              <a:rPr lang="da-DK" sz="1600" dirty="0"/>
              <a:t>Fire risikoniveauer</a:t>
            </a:r>
          </a:p>
          <a:p>
            <a:pPr marL="800100" lvl="1">
              <a:spcAft>
                <a:spcPts val="600"/>
              </a:spcAft>
            </a:pPr>
            <a:r>
              <a:rPr lang="da-DK" sz="1600" dirty="0"/>
              <a:t>Ikke al AI behandles ens</a:t>
            </a:r>
            <a:br>
              <a:rPr lang="da-DK" sz="1600" dirty="0"/>
            </a:br>
            <a:endParaRPr lang="da-DK" sz="12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837042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32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De 4 risikoniveauer</a:t>
            </a:r>
          </a:p>
          <a:p>
            <a:pPr lvl="1"/>
            <a:r>
              <a:rPr lang="da-DK" sz="1600" dirty="0"/>
              <a:t>Uacceptabel risiko</a:t>
            </a:r>
          </a:p>
          <a:p>
            <a:pPr lvl="1"/>
            <a:r>
              <a:rPr lang="da-DK" sz="1600" dirty="0"/>
              <a:t>Høj risiko</a:t>
            </a:r>
          </a:p>
          <a:p>
            <a:pPr lvl="1"/>
            <a:r>
              <a:rPr lang="da-DK" sz="1600" dirty="0"/>
              <a:t>Begrænset risiko</a:t>
            </a:r>
          </a:p>
          <a:p>
            <a:pPr lvl="1"/>
            <a:r>
              <a:rPr lang="da-DK" sz="1600" dirty="0"/>
              <a:t>Minimal risiko</a:t>
            </a:r>
            <a:br>
              <a:rPr lang="da-DK" sz="1600" dirty="0"/>
            </a:br>
            <a:endParaRPr lang="da-DK" sz="12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354356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33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 fontScale="92500" lnSpcReduction="20000"/>
          </a:bodyPr>
          <a:lstStyle/>
          <a:p>
            <a:r>
              <a:rPr lang="da-DK" b="1" dirty="0"/>
              <a:t>Uacceptabel risiko</a:t>
            </a:r>
          </a:p>
          <a:p>
            <a:pPr lvl="1"/>
            <a:r>
              <a:rPr lang="da-DK" sz="1700" dirty="0"/>
              <a:t>Forbudte anvendelser</a:t>
            </a:r>
          </a:p>
          <a:p>
            <a:pPr lvl="1"/>
            <a:r>
              <a:rPr lang="da-DK" sz="1700" dirty="0"/>
              <a:t>Manipulerende AI</a:t>
            </a:r>
          </a:p>
          <a:p>
            <a:pPr lvl="1"/>
            <a:r>
              <a:rPr lang="da-DK" sz="1700" dirty="0"/>
              <a:t>Social scoring</a:t>
            </a:r>
          </a:p>
          <a:p>
            <a:pPr lvl="1"/>
            <a:r>
              <a:rPr lang="da-DK" sz="1700" dirty="0"/>
              <a:t>Biometrisk overvågning i visse tilfælde</a:t>
            </a:r>
          </a:p>
          <a:p>
            <a:pPr lvl="1"/>
            <a:r>
              <a:rPr lang="da-DK" sz="1700" dirty="0"/>
              <a:t>Følelsesgenkendelse i særlige kontekster</a:t>
            </a:r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275156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Høj risiko</a:t>
            </a:r>
          </a:p>
          <a:p>
            <a:pPr lvl="1"/>
            <a:r>
              <a:rPr lang="da-DK" sz="1600" dirty="0"/>
              <a:t>Systemer med stor påvirkning</a:t>
            </a:r>
          </a:p>
          <a:p>
            <a:pPr lvl="1"/>
            <a:r>
              <a:rPr lang="da-DK" sz="1600" dirty="0"/>
              <a:t>Må gerne bruges</a:t>
            </a:r>
          </a:p>
          <a:p>
            <a:pPr lvl="1"/>
            <a:r>
              <a:rPr lang="da-DK" sz="1600" dirty="0"/>
              <a:t>Men kun under strenge krav</a:t>
            </a:r>
          </a:p>
          <a:p>
            <a:pPr lvl="1"/>
            <a:r>
              <a:rPr lang="da-DK" sz="1600" dirty="0"/>
              <a:t>Kræver dokumentation og kontrol</a:t>
            </a: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80805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35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Autofit/>
          </a:bodyPr>
          <a:lstStyle/>
          <a:p>
            <a:r>
              <a:rPr lang="en-US" b="1" dirty="0" err="1"/>
              <a:t>Eksempler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højrisiko</a:t>
            </a:r>
            <a:r>
              <a:rPr lang="en-US" b="1" dirty="0"/>
              <a:t>-AI</a:t>
            </a:r>
          </a:p>
          <a:p>
            <a:pPr lvl="1"/>
            <a:r>
              <a:rPr lang="en-US" sz="1600" dirty="0" err="1"/>
              <a:t>Kritisk</a:t>
            </a:r>
            <a:r>
              <a:rPr lang="en-US" sz="1600" dirty="0"/>
              <a:t> </a:t>
            </a:r>
            <a:r>
              <a:rPr lang="en-US" sz="1600" dirty="0" err="1"/>
              <a:t>infrastruktur</a:t>
            </a:r>
            <a:endParaRPr lang="en-US" sz="1600" dirty="0"/>
          </a:p>
          <a:p>
            <a:pPr lvl="1"/>
            <a:r>
              <a:rPr lang="en-US" sz="1600" dirty="0" err="1"/>
              <a:t>Uddannelse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eksamen</a:t>
            </a:r>
            <a:endParaRPr lang="en-US" sz="1600" dirty="0"/>
          </a:p>
          <a:p>
            <a:pPr lvl="1"/>
            <a:r>
              <a:rPr lang="en-US" sz="1600" dirty="0" err="1"/>
              <a:t>Ansættelse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forfremmelse</a:t>
            </a:r>
            <a:endParaRPr lang="en-US" sz="1600" dirty="0"/>
          </a:p>
          <a:p>
            <a:pPr lvl="1"/>
            <a:r>
              <a:rPr lang="en-US" sz="1600" dirty="0" err="1"/>
              <a:t>Kredit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forsikring</a:t>
            </a:r>
            <a:endParaRPr lang="en-US" sz="1600" dirty="0"/>
          </a:p>
          <a:p>
            <a:pPr lvl="1"/>
            <a:r>
              <a:rPr lang="en-US" sz="1600" dirty="0" err="1"/>
              <a:t>Offentlige</a:t>
            </a:r>
            <a:r>
              <a:rPr lang="en-US" sz="1600" dirty="0"/>
              <a:t> </a:t>
            </a:r>
            <a:r>
              <a:rPr lang="en-US" sz="1600" dirty="0" err="1"/>
              <a:t>ydelser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retshåndhævelse</a:t>
            </a:r>
            <a:br>
              <a:rPr lang="da-DK" sz="3200" dirty="0"/>
            </a:br>
            <a:endParaRPr lang="da-DK" sz="2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47132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36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en-US" b="1" dirty="0" err="1"/>
              <a:t>Hvorfor</a:t>
            </a:r>
            <a:r>
              <a:rPr lang="en-US" b="1" dirty="0"/>
              <a:t> </a:t>
            </a:r>
            <a:r>
              <a:rPr lang="en-US" b="1" dirty="0" err="1"/>
              <a:t>er</a:t>
            </a:r>
            <a:r>
              <a:rPr lang="en-US" b="1" dirty="0"/>
              <a:t> </a:t>
            </a:r>
            <a:r>
              <a:rPr lang="en-US" b="1" dirty="0" err="1"/>
              <a:t>uddannelse</a:t>
            </a:r>
            <a:r>
              <a:rPr lang="en-US" b="1" dirty="0"/>
              <a:t> </a:t>
            </a:r>
            <a:r>
              <a:rPr lang="en-US" b="1" dirty="0" err="1"/>
              <a:t>særlig</a:t>
            </a:r>
            <a:r>
              <a:rPr lang="en-US" b="1" dirty="0"/>
              <a:t> </a:t>
            </a:r>
            <a:r>
              <a:rPr lang="en-US" b="1" dirty="0" err="1"/>
              <a:t>følsom</a:t>
            </a:r>
            <a:r>
              <a:rPr lang="en-US" b="1" dirty="0"/>
              <a:t>?</a:t>
            </a:r>
          </a:p>
          <a:p>
            <a:pPr lvl="1"/>
            <a:r>
              <a:rPr lang="en-US" sz="1600" dirty="0" err="1"/>
              <a:t>Kan</a:t>
            </a:r>
            <a:r>
              <a:rPr lang="en-US" sz="1600" dirty="0"/>
              <a:t> </a:t>
            </a:r>
            <a:r>
              <a:rPr lang="en-US" sz="1600" dirty="0" err="1"/>
              <a:t>påvirke</a:t>
            </a:r>
            <a:r>
              <a:rPr lang="en-US" sz="1600" dirty="0"/>
              <a:t> </a:t>
            </a:r>
            <a:r>
              <a:rPr lang="en-US" sz="1600" dirty="0" err="1"/>
              <a:t>livsforløb</a:t>
            </a:r>
            <a:endParaRPr lang="en-US" sz="1600" dirty="0"/>
          </a:p>
          <a:p>
            <a:pPr lvl="1"/>
            <a:r>
              <a:rPr lang="en-US" sz="1600" dirty="0" err="1"/>
              <a:t>Kan</a:t>
            </a:r>
            <a:r>
              <a:rPr lang="en-US" sz="1600" dirty="0"/>
              <a:t> </a:t>
            </a:r>
            <a:r>
              <a:rPr lang="en-US" sz="1600" dirty="0" err="1"/>
              <a:t>krænke</a:t>
            </a:r>
            <a:r>
              <a:rPr lang="en-US" sz="1600" dirty="0"/>
              <a:t> </a:t>
            </a:r>
            <a:r>
              <a:rPr lang="en-US" sz="1600" dirty="0" err="1"/>
              <a:t>retten</a:t>
            </a:r>
            <a:r>
              <a:rPr lang="en-US" sz="1600" dirty="0"/>
              <a:t> </a:t>
            </a:r>
            <a:r>
              <a:rPr lang="en-US" sz="1600" dirty="0" err="1"/>
              <a:t>til</a:t>
            </a:r>
            <a:r>
              <a:rPr lang="en-US" sz="1600" dirty="0"/>
              <a:t> </a:t>
            </a:r>
            <a:r>
              <a:rPr lang="en-US" sz="1600" dirty="0" err="1"/>
              <a:t>uddannelse</a:t>
            </a:r>
            <a:endParaRPr lang="en-US" sz="1600" dirty="0"/>
          </a:p>
          <a:p>
            <a:pPr lvl="1"/>
            <a:r>
              <a:rPr lang="en-US" sz="1600" dirty="0" err="1"/>
              <a:t>Kan</a:t>
            </a:r>
            <a:r>
              <a:rPr lang="en-US" sz="1600" dirty="0"/>
              <a:t> </a:t>
            </a:r>
            <a:r>
              <a:rPr lang="en-US" sz="1600" dirty="0" err="1"/>
              <a:t>føre</a:t>
            </a:r>
            <a:r>
              <a:rPr lang="en-US" sz="1600" dirty="0"/>
              <a:t> </a:t>
            </a:r>
            <a:r>
              <a:rPr lang="en-US" sz="1600" dirty="0" err="1"/>
              <a:t>til</a:t>
            </a:r>
            <a:r>
              <a:rPr lang="en-US" sz="1600" dirty="0"/>
              <a:t> discrimination</a:t>
            </a:r>
          </a:p>
          <a:p>
            <a:pPr lvl="1"/>
            <a:r>
              <a:rPr lang="en-US" sz="1600" dirty="0" err="1"/>
              <a:t>Kan</a:t>
            </a:r>
            <a:r>
              <a:rPr lang="en-US" sz="1600" dirty="0"/>
              <a:t> </a:t>
            </a:r>
            <a:r>
              <a:rPr lang="en-US" sz="1600" dirty="0" err="1"/>
              <a:t>fastholde</a:t>
            </a:r>
            <a:r>
              <a:rPr lang="en-US" sz="1600" dirty="0"/>
              <a:t> </a:t>
            </a:r>
            <a:r>
              <a:rPr lang="en-US" sz="1600" dirty="0" err="1"/>
              <a:t>historiske</a:t>
            </a:r>
            <a:r>
              <a:rPr lang="en-US" sz="1600" dirty="0"/>
              <a:t> </a:t>
            </a:r>
            <a:r>
              <a:rPr lang="en-US" sz="1600" dirty="0" err="1"/>
              <a:t>mønstre</a:t>
            </a:r>
            <a:endParaRPr lang="en-US" sz="16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2218726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Begrænset risiko</a:t>
            </a:r>
          </a:p>
          <a:p>
            <a:pPr lvl="1"/>
            <a:r>
              <a:rPr lang="da-DK" sz="1600" dirty="0" err="1"/>
              <a:t>Chatbots</a:t>
            </a:r>
            <a:endParaRPr lang="da-DK" sz="1600" dirty="0"/>
          </a:p>
          <a:p>
            <a:pPr lvl="1"/>
            <a:r>
              <a:rPr lang="da-DK" sz="1600" dirty="0" err="1"/>
              <a:t>Deepfakes</a:t>
            </a:r>
            <a:endParaRPr lang="da-DK" sz="1600" dirty="0"/>
          </a:p>
          <a:p>
            <a:pPr lvl="1"/>
            <a:r>
              <a:rPr lang="da-DK" sz="1600" dirty="0"/>
              <a:t>Krav om gennemsigtighed</a:t>
            </a: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998801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Minimal risiko</a:t>
            </a:r>
          </a:p>
          <a:p>
            <a:pPr lvl="1"/>
            <a:r>
              <a:rPr lang="da-DK" sz="1600" dirty="0"/>
              <a:t>Spamfiltre</a:t>
            </a:r>
          </a:p>
          <a:p>
            <a:pPr lvl="1"/>
            <a:r>
              <a:rPr lang="da-DK" sz="1600" dirty="0"/>
              <a:t>AI i videospil</a:t>
            </a:r>
          </a:p>
          <a:p>
            <a:pPr lvl="1"/>
            <a:r>
              <a:rPr lang="da-DK" sz="1600" dirty="0"/>
              <a:t>Ingen væsentlige ekstra krav</a:t>
            </a: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597803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39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en-US" b="1" dirty="0" err="1"/>
              <a:t>Hvad</a:t>
            </a:r>
            <a:r>
              <a:rPr lang="en-US" b="1" dirty="0"/>
              <a:t> </a:t>
            </a:r>
            <a:r>
              <a:rPr lang="en-US" b="1" dirty="0" err="1"/>
              <a:t>betyder</a:t>
            </a:r>
            <a:r>
              <a:rPr lang="en-US" b="1" dirty="0"/>
              <a:t> AI Act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praksis</a:t>
            </a:r>
            <a:r>
              <a:rPr lang="en-US" b="1" dirty="0"/>
              <a:t>?</a:t>
            </a:r>
          </a:p>
          <a:p>
            <a:pPr lvl="1"/>
            <a:r>
              <a:rPr lang="en-US" sz="1600" dirty="0"/>
              <a:t>Du </a:t>
            </a:r>
            <a:r>
              <a:rPr lang="en-US" sz="1600" dirty="0" err="1"/>
              <a:t>skal</a:t>
            </a:r>
            <a:r>
              <a:rPr lang="en-US" sz="1600" dirty="0"/>
              <a:t> </a:t>
            </a:r>
            <a:r>
              <a:rPr lang="en-US" sz="1600" dirty="0" err="1"/>
              <a:t>kende</a:t>
            </a:r>
            <a:r>
              <a:rPr lang="en-US" sz="1600" dirty="0"/>
              <a:t> </a:t>
            </a:r>
            <a:r>
              <a:rPr lang="en-US" sz="1600" dirty="0" err="1"/>
              <a:t>dit</a:t>
            </a:r>
            <a:r>
              <a:rPr lang="en-US" sz="1600" dirty="0"/>
              <a:t> systems </a:t>
            </a:r>
            <a:r>
              <a:rPr lang="en-US" sz="1600" dirty="0" err="1"/>
              <a:t>risikoniveau</a:t>
            </a:r>
            <a:endParaRPr lang="en-US" sz="1600" dirty="0"/>
          </a:p>
          <a:p>
            <a:pPr lvl="1"/>
            <a:r>
              <a:rPr lang="en-US" sz="1600" dirty="0"/>
              <a:t>Du </a:t>
            </a:r>
            <a:r>
              <a:rPr lang="en-US" sz="1600" dirty="0" err="1"/>
              <a:t>skal</a:t>
            </a:r>
            <a:r>
              <a:rPr lang="en-US" sz="1600" dirty="0"/>
              <a:t> </a:t>
            </a:r>
            <a:r>
              <a:rPr lang="en-US" sz="1600" dirty="0" err="1"/>
              <a:t>kende</a:t>
            </a:r>
            <a:r>
              <a:rPr lang="en-US" sz="1600" dirty="0"/>
              <a:t> din </a:t>
            </a:r>
            <a:r>
              <a:rPr lang="en-US" sz="1600" dirty="0" err="1"/>
              <a:t>rolle</a:t>
            </a:r>
            <a:endParaRPr lang="en-US" sz="1600" dirty="0"/>
          </a:p>
          <a:p>
            <a:pPr lvl="1"/>
            <a:r>
              <a:rPr lang="en-US" sz="1600" dirty="0"/>
              <a:t>Du </a:t>
            </a:r>
            <a:r>
              <a:rPr lang="en-US" sz="1600" dirty="0" err="1"/>
              <a:t>skal</a:t>
            </a:r>
            <a:r>
              <a:rPr lang="en-US" sz="1600" dirty="0"/>
              <a:t> </a:t>
            </a:r>
            <a:r>
              <a:rPr lang="en-US" sz="1600" dirty="0" err="1"/>
              <a:t>kunne</a:t>
            </a:r>
            <a:r>
              <a:rPr lang="en-US" sz="1600" dirty="0"/>
              <a:t> </a:t>
            </a:r>
            <a:r>
              <a:rPr lang="en-US" sz="1600" dirty="0" err="1"/>
              <a:t>dokumentere</a:t>
            </a:r>
            <a:r>
              <a:rPr lang="en-US" sz="1600" dirty="0"/>
              <a:t> </a:t>
            </a:r>
            <a:r>
              <a:rPr lang="en-US" sz="1600" dirty="0" err="1"/>
              <a:t>brugen</a:t>
            </a:r>
            <a:endParaRPr lang="en-US" sz="1600" dirty="0"/>
          </a:p>
          <a:p>
            <a:pPr lvl="1"/>
            <a:r>
              <a:rPr lang="en-US" sz="1600" dirty="0"/>
              <a:t>Du </a:t>
            </a:r>
            <a:r>
              <a:rPr lang="en-US" sz="1600" dirty="0" err="1"/>
              <a:t>skal</a:t>
            </a:r>
            <a:r>
              <a:rPr lang="en-US" sz="1600" dirty="0"/>
              <a:t> </a:t>
            </a:r>
            <a:r>
              <a:rPr lang="en-US" sz="1600" dirty="0" err="1"/>
              <a:t>kunne</a:t>
            </a:r>
            <a:r>
              <a:rPr lang="en-US" sz="1600" dirty="0"/>
              <a:t> </a:t>
            </a:r>
            <a:r>
              <a:rPr lang="en-US" sz="1600" dirty="0" err="1"/>
              <a:t>forklare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overvåge</a:t>
            </a:r>
            <a:r>
              <a:rPr lang="en-US" sz="1600" dirty="0"/>
              <a:t> </a:t>
            </a:r>
            <a:r>
              <a:rPr lang="en-US" sz="1600" dirty="0" err="1"/>
              <a:t>systemet</a:t>
            </a:r>
            <a:endParaRPr lang="en-US" sz="16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414574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40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Hvordan laver man risikovurdering?</a:t>
            </a:r>
          </a:p>
          <a:p>
            <a:pPr marL="114300" indent="0">
              <a:buNone/>
            </a:pPr>
            <a:endParaRPr lang="da-DK" b="1" dirty="0"/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1600275" y="2104262"/>
            <a:ext cx="4222881" cy="35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228600">
              <a:buFont typeface="+mj-lt"/>
              <a:buAutoNum type="arabicPeriod"/>
            </a:pPr>
            <a:r>
              <a:rPr lang="da-DK" sz="1600" dirty="0"/>
              <a:t>Identificér AI-systemet </a:t>
            </a:r>
          </a:p>
          <a:p>
            <a:pPr marL="342900" indent="-228600">
              <a:buFont typeface="+mj-lt"/>
              <a:buAutoNum type="arabicPeriod"/>
            </a:pPr>
            <a:r>
              <a:rPr lang="da-DK" sz="1600" dirty="0"/>
              <a:t>Afgør risikoniveauet </a:t>
            </a:r>
          </a:p>
          <a:p>
            <a:pPr marL="342900" indent="-228600">
              <a:buFont typeface="+mj-lt"/>
              <a:buAutoNum type="arabicPeriod"/>
            </a:pPr>
            <a:r>
              <a:rPr lang="da-DK" sz="1600" dirty="0"/>
              <a:t>Vurder anvendelseskonteksten </a:t>
            </a:r>
          </a:p>
          <a:p>
            <a:pPr marL="342900" indent="-228600">
              <a:buFont typeface="+mj-lt"/>
              <a:buAutoNum type="arabicPeriod"/>
            </a:pPr>
            <a:r>
              <a:rPr lang="da-DK" sz="1600" dirty="0"/>
              <a:t>Fastlæg krav og ansvar </a:t>
            </a:r>
          </a:p>
          <a:p>
            <a:pPr marL="342900" indent="-228600">
              <a:buFont typeface="+mj-lt"/>
              <a:buAutoNum type="arabicPeriod"/>
            </a:pPr>
            <a:r>
              <a:rPr lang="da-DK" sz="1600" dirty="0"/>
              <a:t>Dokumentér og følg op</a:t>
            </a:r>
          </a:p>
          <a:p>
            <a:pPr marL="0" indent="0">
              <a:spcAft>
                <a:spcPts val="600"/>
              </a:spcAft>
              <a:buFont typeface="Arial"/>
              <a:buNone/>
            </a:pPr>
            <a:br>
              <a:rPr lang="da-DK" sz="1200" dirty="0"/>
            </a:br>
            <a:endParaRPr lang="da-DK" sz="1000" dirty="0"/>
          </a:p>
        </p:txBody>
      </p:sp>
    </p:spTree>
    <p:extLst>
      <p:ext uri="{BB962C8B-B14F-4D97-AF65-F5344CB8AC3E}">
        <p14:creationId xmlns:p14="http://schemas.microsoft.com/office/powerpoint/2010/main" val="2113459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41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Trin 1: Identificér system og anvendelse</a:t>
            </a:r>
          </a:p>
          <a:p>
            <a:pPr lvl="1"/>
            <a:r>
              <a:rPr lang="da-DK" sz="1600" dirty="0"/>
              <a:t>Hvad gør systemet?</a:t>
            </a:r>
          </a:p>
          <a:p>
            <a:pPr lvl="1"/>
            <a:r>
              <a:rPr lang="da-DK" sz="1600" dirty="0"/>
              <a:t>Hvem bruger det?</a:t>
            </a:r>
          </a:p>
          <a:p>
            <a:pPr lvl="1"/>
            <a:r>
              <a:rPr lang="da-DK" sz="1600" dirty="0"/>
              <a:t>Hvem påvirkes af det?</a:t>
            </a:r>
          </a:p>
          <a:p>
            <a:pPr lvl="1"/>
            <a:r>
              <a:rPr lang="da-DK" sz="1600" dirty="0"/>
              <a:t>Hvor bruges outputtet?</a:t>
            </a:r>
            <a:br>
              <a:rPr lang="da-DK" sz="800" dirty="0"/>
            </a:br>
            <a:endParaRPr lang="da-DK" sz="6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475045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42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Trin 2: Er systemet forbudt, højrisiko eller begrænset?</a:t>
            </a:r>
          </a:p>
          <a:p>
            <a:pPr lvl="1"/>
            <a:r>
              <a:rPr lang="da-DK" sz="1600" dirty="0"/>
              <a:t>Er anvendelsen forbudt?</a:t>
            </a:r>
          </a:p>
          <a:p>
            <a:pPr lvl="1"/>
            <a:r>
              <a:rPr lang="da-DK" sz="1600" dirty="0"/>
              <a:t>Er systemet omfattet af højrisiko?</a:t>
            </a:r>
          </a:p>
          <a:p>
            <a:pPr lvl="1"/>
            <a:r>
              <a:rPr lang="da-DK" sz="1600" dirty="0"/>
              <a:t>Er der kun transparenskrav?</a:t>
            </a:r>
          </a:p>
          <a:p>
            <a:pPr lvl="1"/>
            <a:r>
              <a:rPr lang="da-DK" sz="1600" dirty="0"/>
              <a:t>Eller er risikoen minimal?</a:t>
            </a: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528840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43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Trin 3: Hvad kræver højrisiko i praksis?</a:t>
            </a:r>
          </a:p>
          <a:p>
            <a:pPr lvl="1"/>
            <a:r>
              <a:rPr lang="da-DK" sz="1600" dirty="0"/>
              <a:t>Risikostyringssystem</a:t>
            </a:r>
          </a:p>
          <a:p>
            <a:pPr lvl="1"/>
            <a:r>
              <a:rPr lang="da-DK" sz="1600" dirty="0"/>
              <a:t>Test og datastyring</a:t>
            </a:r>
          </a:p>
          <a:p>
            <a:pPr lvl="1"/>
            <a:r>
              <a:rPr lang="da-DK" sz="1600" dirty="0"/>
              <a:t>Teknisk dokumentation</a:t>
            </a:r>
          </a:p>
          <a:p>
            <a:pPr lvl="1"/>
            <a:r>
              <a:rPr lang="da-DK" sz="1600" dirty="0"/>
              <a:t>Menneskeligt tilsyn</a:t>
            </a:r>
          </a:p>
          <a:p>
            <a:pPr lvl="1"/>
            <a:r>
              <a:rPr lang="da-DK" sz="1600" dirty="0"/>
              <a:t>Robusthed og </a:t>
            </a:r>
            <a:r>
              <a:rPr lang="da-DK" sz="1600" dirty="0" err="1"/>
              <a:t>cybersikkerhed</a:t>
            </a: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92677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 lnSpcReduction="10000"/>
          </a:bodyPr>
          <a:lstStyle/>
          <a:p>
            <a:r>
              <a:rPr lang="da-DK" b="1" dirty="0"/>
              <a:t>Trin 4: Hvad skal udbyderen gøre?</a:t>
            </a:r>
          </a:p>
          <a:p>
            <a:pPr lvl="1"/>
            <a:r>
              <a:rPr lang="da-DK" sz="1600" dirty="0"/>
              <a:t>Identificere og afbøde risici</a:t>
            </a:r>
          </a:p>
          <a:p>
            <a:pPr lvl="1"/>
            <a:r>
              <a:rPr lang="da-DK" sz="1600" dirty="0"/>
              <a:t>Brug højkvalitets data</a:t>
            </a:r>
          </a:p>
          <a:p>
            <a:pPr lvl="1"/>
            <a:r>
              <a:rPr lang="da-DK" sz="1600" dirty="0"/>
              <a:t>Dokumentere systemet</a:t>
            </a:r>
          </a:p>
          <a:p>
            <a:pPr lvl="1"/>
            <a:r>
              <a:rPr lang="da-DK" sz="1600" dirty="0"/>
              <a:t>Informere brugerne</a:t>
            </a:r>
          </a:p>
          <a:p>
            <a:pPr lvl="1"/>
            <a:r>
              <a:rPr lang="da-DK" sz="1600" dirty="0"/>
              <a:t>CE-mærke og registrere systemet</a:t>
            </a:r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974861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45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Trin 5: Hvad skal brugeren gøre?</a:t>
            </a:r>
          </a:p>
          <a:p>
            <a:pPr lvl="1"/>
            <a:r>
              <a:rPr lang="da-DK" sz="1600" dirty="0"/>
              <a:t>Følge leverandørens instrukser</a:t>
            </a:r>
          </a:p>
          <a:p>
            <a:pPr lvl="1"/>
            <a:r>
              <a:rPr lang="da-DK" sz="1600" dirty="0"/>
              <a:t>Sikre relevante input-data</a:t>
            </a:r>
          </a:p>
          <a:p>
            <a:pPr lvl="1"/>
            <a:r>
              <a:rPr lang="da-DK" sz="1600" dirty="0"/>
              <a:t>Overvåge drift og fejl</a:t>
            </a:r>
          </a:p>
          <a:p>
            <a:pPr lvl="1"/>
            <a:r>
              <a:rPr lang="da-DK" sz="1600" dirty="0"/>
              <a:t>Opbevare logfiler</a:t>
            </a:r>
          </a:p>
          <a:p>
            <a:pPr lvl="1"/>
            <a:r>
              <a:rPr lang="da-DK" sz="1600" dirty="0"/>
              <a:t>Beskytte individers rettigheder</a:t>
            </a:r>
          </a:p>
          <a:p>
            <a:pPr marL="0" indent="0">
              <a:spcAft>
                <a:spcPts val="600"/>
              </a:spcAft>
              <a:buNone/>
            </a:pP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794331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46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Børn og unge kræver ekstra opmærksomhed</a:t>
            </a:r>
          </a:p>
          <a:p>
            <a:pPr lvl="1"/>
            <a:r>
              <a:rPr lang="da-DK" sz="1600" dirty="0"/>
              <a:t>Særlige hensyn under 18 år</a:t>
            </a:r>
          </a:p>
          <a:p>
            <a:pPr lvl="1"/>
            <a:r>
              <a:rPr lang="da-DK" sz="1600" dirty="0"/>
              <a:t>Større krav til risikostyring</a:t>
            </a:r>
          </a:p>
          <a:p>
            <a:pPr lvl="1"/>
            <a:r>
              <a:rPr lang="da-DK" sz="1600" dirty="0"/>
              <a:t>Undgå følsomme persondata</a:t>
            </a:r>
          </a:p>
          <a:p>
            <a:pPr lvl="1"/>
            <a:r>
              <a:rPr lang="da-DK" sz="1600" dirty="0"/>
              <a:t>Tænk også GDPR</a:t>
            </a:r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9150879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 lnSpcReduction="10000"/>
          </a:bodyPr>
          <a:lstStyle/>
          <a:p>
            <a:r>
              <a:rPr lang="da-DK" sz="1900" b="1" dirty="0"/>
              <a:t>General Purpose AI og foundation-modeller</a:t>
            </a:r>
          </a:p>
          <a:p>
            <a:pPr lvl="1"/>
            <a:r>
              <a:rPr lang="da-DK" sz="1600" dirty="0"/>
              <a:t>Alsidige modeller</a:t>
            </a:r>
          </a:p>
          <a:p>
            <a:pPr lvl="1"/>
            <a:r>
              <a:rPr lang="da-DK" sz="1600" dirty="0"/>
              <a:t>Kan bruges til mange formål</a:t>
            </a:r>
          </a:p>
          <a:p>
            <a:pPr lvl="1"/>
            <a:r>
              <a:rPr lang="da-DK" sz="1600" dirty="0"/>
              <a:t>Krav om gennemsigtighed</a:t>
            </a:r>
          </a:p>
          <a:p>
            <a:pPr lvl="1"/>
            <a:r>
              <a:rPr lang="da-DK" sz="1600" dirty="0"/>
              <a:t>Krav til træningsdata og bias</a:t>
            </a:r>
          </a:p>
          <a:p>
            <a:pPr lvl="1"/>
            <a:r>
              <a:rPr lang="da-DK" sz="1600" dirty="0"/>
              <a:t>Eksempler: </a:t>
            </a:r>
            <a:r>
              <a:rPr lang="da-DK" sz="1600" dirty="0" err="1"/>
              <a:t>ChatGPT</a:t>
            </a:r>
            <a:r>
              <a:rPr lang="da-DK" sz="1600" dirty="0"/>
              <a:t>, </a:t>
            </a:r>
            <a:r>
              <a:rPr lang="da-DK" sz="1600" dirty="0" err="1"/>
              <a:t>Gemini</a:t>
            </a:r>
            <a:r>
              <a:rPr lang="da-DK" sz="1600" dirty="0"/>
              <a:t>, </a:t>
            </a:r>
            <a:r>
              <a:rPr lang="da-DK" sz="1600" dirty="0" err="1"/>
              <a:t>Midjourney</a:t>
            </a:r>
            <a:endParaRPr lang="da-DK" sz="1600" dirty="0"/>
          </a:p>
          <a:p>
            <a:pPr marL="0" indent="0">
              <a:spcAft>
                <a:spcPts val="600"/>
              </a:spcAft>
              <a:buNone/>
            </a:pP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1702312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Håndhævelse og konsekvenser</a:t>
            </a:r>
          </a:p>
          <a:p>
            <a:pPr lvl="1"/>
            <a:r>
              <a:rPr lang="da-DK" sz="1600" dirty="0"/>
              <a:t>Nationale tilsynsmyndigheder</a:t>
            </a:r>
          </a:p>
          <a:p>
            <a:pPr lvl="1"/>
            <a:r>
              <a:rPr lang="da-DK" sz="1600" dirty="0"/>
              <a:t>EU AI Office</a:t>
            </a:r>
          </a:p>
          <a:p>
            <a:pPr lvl="1"/>
            <a:r>
              <a:rPr lang="da-DK" sz="1600" dirty="0"/>
              <a:t>Revisioner og rapportering</a:t>
            </a:r>
          </a:p>
          <a:p>
            <a:pPr lvl="1"/>
            <a:r>
              <a:rPr lang="da-DK" sz="1600" dirty="0"/>
              <a:t>Store bøder ved overtrædelser</a:t>
            </a:r>
          </a:p>
          <a:p>
            <a:pPr marL="0" indent="0">
              <a:spcAft>
                <a:spcPts val="600"/>
              </a:spcAft>
              <a:buNone/>
            </a:pP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99986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49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Tidslinje og effekt</a:t>
            </a:r>
          </a:p>
          <a:p>
            <a:pPr lvl="1"/>
            <a:r>
              <a:rPr lang="da-DK" sz="1600" dirty="0"/>
              <a:t>Reglerne rulles ud gradvist</a:t>
            </a:r>
          </a:p>
          <a:p>
            <a:pPr lvl="1"/>
            <a:r>
              <a:rPr lang="da-DK" sz="1600" dirty="0"/>
              <a:t>Forbud først</a:t>
            </a:r>
          </a:p>
          <a:p>
            <a:pPr lvl="1"/>
            <a:r>
              <a:rPr lang="da-DK" sz="1600" dirty="0"/>
              <a:t>GPAI-krav derefter</a:t>
            </a:r>
          </a:p>
          <a:p>
            <a:pPr lvl="1"/>
            <a:r>
              <a:rPr lang="da-DK" sz="1600" dirty="0"/>
              <a:t>Højrisiko-forpligtelser senere</a:t>
            </a:r>
          </a:p>
          <a:p>
            <a:pPr lvl="1"/>
            <a:r>
              <a:rPr lang="da-DK" sz="1600" dirty="0"/>
              <a:t>Virksomheder skal forberede sig nu</a:t>
            </a:r>
          </a:p>
          <a:p>
            <a:pPr marL="0" indent="0">
              <a:spcAft>
                <a:spcPts val="600"/>
              </a:spcAft>
              <a:buNone/>
            </a:pP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31029162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50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r>
              <a:rPr lang="da-DK" b="1" dirty="0"/>
              <a:t>Opsummering: Hvad betyder det i praksis?</a:t>
            </a:r>
          </a:p>
          <a:p>
            <a:pPr lvl="1"/>
            <a:r>
              <a:rPr lang="da-DK" sz="1600" dirty="0"/>
              <a:t>Kend dit system</a:t>
            </a:r>
          </a:p>
          <a:p>
            <a:pPr lvl="1"/>
            <a:r>
              <a:rPr lang="da-DK" sz="1600" dirty="0"/>
              <a:t>Klassificér risikoen</a:t>
            </a:r>
          </a:p>
          <a:p>
            <a:pPr lvl="1"/>
            <a:r>
              <a:rPr lang="da-DK" sz="1600" dirty="0"/>
              <a:t>Kend din rolle</a:t>
            </a:r>
          </a:p>
          <a:p>
            <a:pPr lvl="1"/>
            <a:r>
              <a:rPr lang="da-DK" sz="1600" dirty="0"/>
              <a:t>Dokumentér og overvåg</a:t>
            </a:r>
          </a:p>
          <a:p>
            <a:pPr lvl="1"/>
            <a:r>
              <a:rPr lang="da-DK" sz="1600" dirty="0"/>
              <a:t>Tænk AI Act og GDPR sammen</a:t>
            </a:r>
            <a:br>
              <a:rPr lang="da-DK" sz="1200" dirty="0"/>
            </a:br>
            <a:endParaRPr lang="da-DK" sz="10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</p:spTree>
    <p:extLst>
      <p:ext uri="{BB962C8B-B14F-4D97-AF65-F5344CB8AC3E}">
        <p14:creationId xmlns:p14="http://schemas.microsoft.com/office/powerpoint/2010/main" val="1510225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51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15232" y="650769"/>
            <a:ext cx="8360357" cy="1079177"/>
          </a:xfrm>
        </p:spPr>
        <p:txBody>
          <a:bodyPr>
            <a:noAutofit/>
          </a:bodyPr>
          <a:lstStyle/>
          <a:p>
            <a:pPr marL="114300" indent="0" defTabSz="177800">
              <a:buNone/>
              <a:defRPr sz="3000">
                <a:solidFill>
                  <a:srgbClr val="000000"/>
                </a:solidFill>
              </a:defRPr>
            </a:pPr>
            <a:r>
              <a:rPr lang="da-DK" sz="2000" dirty="0"/>
              <a:t>AI Act består af 7 afsnit indeholdende 85 artikler og 9 bilag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4358" y="153683"/>
            <a:ext cx="7306332" cy="994172"/>
          </a:xfrm>
        </p:spPr>
        <p:txBody>
          <a:bodyPr/>
          <a:lstStyle/>
          <a:p>
            <a:r>
              <a:rPr lang="da-DK" b="1" i="1" dirty="0"/>
              <a:t>AI Act</a:t>
            </a:r>
          </a:p>
        </p:txBody>
      </p:sp>
      <p:pic>
        <p:nvPicPr>
          <p:cNvPr id="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61" y="1111281"/>
            <a:ext cx="6949305" cy="34610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58602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tekst, skærmbillede, dokument, Font/skrifttype&#10;&#10;AI-genereret indhold kan være ukorrekt.">
            <a:extLst>
              <a:ext uri="{FF2B5EF4-FFF2-40B4-BE49-F238E27FC236}">
                <a16:creationId xmlns:a16="http://schemas.microsoft.com/office/drawing/2014/main" id="{5159D4F9-6050-80AF-B557-267E5461E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13577"/>
            <a:ext cx="7975600" cy="5005707"/>
          </a:xfrm>
          <a:prstGeom prst="rect">
            <a:avLst/>
          </a:prstGeom>
        </p:spPr>
      </p:pic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52</a:t>
            </a:fld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F83EB1B3-60D4-2B1D-5CFF-F427ABA0346D}"/>
              </a:ext>
            </a:extLst>
          </p:cNvPr>
          <p:cNvSpPr txBox="1"/>
          <p:nvPr/>
        </p:nvSpPr>
        <p:spPr>
          <a:xfrm>
            <a:off x="274358" y="4673692"/>
            <a:ext cx="5424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800" dirty="0" err="1">
                <a:solidFill>
                  <a:srgbClr val="FF0000"/>
                </a:solidFill>
              </a:rPr>
              <a:t>https</a:t>
            </a:r>
            <a:r>
              <a:rPr lang="da-DK" sz="800" dirty="0">
                <a:solidFill>
                  <a:srgbClr val="FF0000"/>
                </a:solidFill>
              </a:rPr>
              <a:t>://</a:t>
            </a:r>
            <a:r>
              <a:rPr lang="da-DK" sz="800" dirty="0" err="1">
                <a:solidFill>
                  <a:srgbClr val="FF0000"/>
                </a:solidFill>
              </a:rPr>
              <a:t>www.danskerhverv.dk</a:t>
            </a:r>
            <a:r>
              <a:rPr lang="da-DK" sz="800" dirty="0">
                <a:solidFill>
                  <a:srgbClr val="FF0000"/>
                </a:solidFill>
              </a:rPr>
              <a:t>/branche/digitalisering-teknologi--tele/</a:t>
            </a:r>
            <a:r>
              <a:rPr lang="da-DK" sz="800" dirty="0" err="1">
                <a:solidFill>
                  <a:srgbClr val="FF0000"/>
                </a:solidFill>
              </a:rPr>
              <a:t>ai</a:t>
            </a:r>
            <a:r>
              <a:rPr lang="da-DK" sz="800" dirty="0">
                <a:solidFill>
                  <a:srgbClr val="FF0000"/>
                </a:solidFill>
              </a:rPr>
              <a:t>-</a:t>
            </a:r>
            <a:r>
              <a:rPr lang="da-DK" sz="800" dirty="0" err="1">
                <a:solidFill>
                  <a:srgbClr val="FF0000"/>
                </a:solidFill>
              </a:rPr>
              <a:t>act</a:t>
            </a:r>
            <a:r>
              <a:rPr lang="da-DK" sz="800" dirty="0">
                <a:solidFill>
                  <a:srgbClr val="FF0000"/>
                </a:solidFill>
              </a:rPr>
              <a:t>-</a:t>
            </a:r>
            <a:r>
              <a:rPr lang="da-DK" sz="800" dirty="0" err="1">
                <a:solidFill>
                  <a:srgbClr val="FF0000"/>
                </a:solidFill>
              </a:rPr>
              <a:t>eus</a:t>
            </a:r>
            <a:r>
              <a:rPr lang="da-DK" sz="800" dirty="0">
                <a:solidFill>
                  <a:srgbClr val="FF0000"/>
                </a:solidFill>
              </a:rPr>
              <a:t>-nye-forordning-om-kunstig-intelligens/</a:t>
            </a:r>
          </a:p>
        </p:txBody>
      </p:sp>
      <p:pic>
        <p:nvPicPr>
          <p:cNvPr id="7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9642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53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sz="1600" b="1" dirty="0"/>
              <a:t>AI Act gælder ikke ved: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Personlige formål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Hobbyprojekter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Klassisk software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Nogle open source-modeller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Hvornår gælder AI act ikke?</a:t>
            </a:r>
          </a:p>
        </p:txBody>
      </p:sp>
    </p:spTree>
    <p:extLst>
      <p:ext uri="{BB962C8B-B14F-4D97-AF65-F5344CB8AC3E}">
        <p14:creationId xmlns:p14="http://schemas.microsoft.com/office/powerpoint/2010/main" val="20480719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b="1" dirty="0"/>
              <a:t>AI Act gælder heller ikke </a:t>
            </a:r>
            <a:r>
              <a:rPr lang="da-DK" b="1" dirty="0" err="1"/>
              <a:t>ift</a:t>
            </a:r>
            <a:r>
              <a:rPr lang="da-DK" b="1" dirty="0"/>
              <a:t>: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Systemer brugt til forsvar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Efterretning og sikkerhed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Forskning og udvikling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”Før-praksis”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Hvornår gælder AI act ikke?</a:t>
            </a:r>
          </a:p>
        </p:txBody>
      </p:sp>
    </p:spTree>
    <p:extLst>
      <p:ext uri="{BB962C8B-B14F-4D97-AF65-F5344CB8AC3E}">
        <p14:creationId xmlns:p14="http://schemas.microsoft.com/office/powerpoint/2010/main" val="13312146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55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sz="1350" b="1" dirty="0"/>
              <a:t>Refleksion:</a:t>
            </a:r>
          </a:p>
          <a:p>
            <a:pPr marL="342900">
              <a:spcAft>
                <a:spcPts val="600"/>
              </a:spcAft>
            </a:pPr>
            <a:r>
              <a:rPr lang="da-DK" sz="1350" dirty="0"/>
              <a:t>Hvad tænker I at AI ikke må vise?</a:t>
            </a:r>
          </a:p>
          <a:p>
            <a:pPr marL="342900">
              <a:spcAft>
                <a:spcPts val="600"/>
              </a:spcAft>
            </a:pPr>
            <a:endParaRPr lang="da-DK" sz="1350" dirty="0"/>
          </a:p>
          <a:p>
            <a:pPr marL="342900">
              <a:spcAft>
                <a:spcPts val="600"/>
              </a:spcAft>
            </a:pPr>
            <a:r>
              <a:rPr lang="da-DK" sz="1350" dirty="0"/>
              <a:t>Hvorfor tror i ikke at den må vise det?</a:t>
            </a:r>
          </a:p>
          <a:p>
            <a:pPr marL="342900">
              <a:spcAft>
                <a:spcPts val="600"/>
              </a:spcAft>
            </a:pPr>
            <a:endParaRPr lang="da-DK" sz="1350" dirty="0"/>
          </a:p>
          <a:p>
            <a:pPr marL="342900">
              <a:spcAft>
                <a:spcPts val="600"/>
              </a:spcAft>
            </a:pPr>
            <a:r>
              <a:rPr lang="da-DK" sz="1350" dirty="0"/>
              <a:t>Hvad kunne risikoen være?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Forbudt AI</a:t>
            </a:r>
          </a:p>
        </p:txBody>
      </p:sp>
    </p:spTree>
    <p:extLst>
      <p:ext uri="{BB962C8B-B14F-4D97-AF65-F5344CB8AC3E}">
        <p14:creationId xmlns:p14="http://schemas.microsoft.com/office/powerpoint/2010/main" val="38488186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56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18008" y="676865"/>
            <a:ext cx="4417836" cy="4193627"/>
          </a:xfrm>
        </p:spPr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sz="2000" b="1" dirty="0" err="1"/>
              <a:t>Copilot</a:t>
            </a:r>
            <a:endParaRPr lang="da-DK" sz="2000" b="1" dirty="0"/>
          </a:p>
          <a:p>
            <a:pPr marL="285750" indent="-285750">
              <a:spcAft>
                <a:spcPts val="600"/>
              </a:spcAft>
            </a:pPr>
            <a:r>
              <a:rPr lang="da-DK" sz="2000" u="sng" dirty="0"/>
              <a:t>Manipulere mennesker </a:t>
            </a:r>
            <a:r>
              <a:rPr lang="da-DK" sz="2000" dirty="0"/>
              <a:t>skjult eller vildledende, så de tager skadelige beslutninger 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Udnytte sårbarheder (børn, ældre, udsatte grupper) 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Bruge </a:t>
            </a:r>
            <a:r>
              <a:rPr lang="da-DK" sz="2000" u="sng" dirty="0"/>
              <a:t>social scoring </a:t>
            </a:r>
            <a:r>
              <a:rPr lang="da-DK" sz="2000" dirty="0"/>
              <a:t>af borgere 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Forudsige individers kriminalitet baseret på </a:t>
            </a:r>
            <a:r>
              <a:rPr lang="da-DK" sz="2000" u="sng" dirty="0"/>
              <a:t>profilering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Aflæse følelser på arbejdspladser eller i uddannelser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Kategorisere mennesker biometrisk efter politiske, religiøse eller seksuelle forhold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Opbygge ansigtsdatabaser via </a:t>
            </a:r>
            <a:r>
              <a:rPr lang="da-DK" sz="2000" dirty="0" err="1"/>
              <a:t>scraping</a:t>
            </a:r>
            <a:r>
              <a:rPr lang="da-DK" sz="2000" dirty="0"/>
              <a:t> fra internet/kameraer</a:t>
            </a:r>
          </a:p>
          <a:p>
            <a:pPr marL="285750" indent="-285750">
              <a:spcAft>
                <a:spcPts val="600"/>
              </a:spcAft>
            </a:pPr>
            <a:r>
              <a:rPr lang="da-DK" sz="2000" dirty="0"/>
              <a:t>Bruge realtids ansigtsgenkendelse i offentlige rum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26926" y="101784"/>
            <a:ext cx="3944871" cy="486796"/>
          </a:xfrm>
        </p:spPr>
        <p:txBody>
          <a:bodyPr/>
          <a:lstStyle/>
          <a:p>
            <a:r>
              <a:rPr lang="da-DK" b="1" i="1" dirty="0"/>
              <a:t>Hvad må AI ikke vise?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4760527" y="588580"/>
            <a:ext cx="4417836" cy="35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600"/>
              </a:spcAft>
              <a:buFont typeface="Arial"/>
              <a:buNone/>
            </a:pPr>
            <a:r>
              <a:rPr lang="da-DK" sz="1400" b="1" dirty="0" err="1"/>
              <a:t>ChatGPT</a:t>
            </a:r>
            <a:r>
              <a:rPr lang="da-DK" sz="1400" b="1" dirty="0"/>
              <a:t>:</a:t>
            </a:r>
            <a:endParaRPr lang="da-DK" sz="1600" b="1" dirty="0"/>
          </a:p>
          <a:p>
            <a:pPr marL="114300" indent="0">
              <a:buNone/>
            </a:pPr>
            <a:r>
              <a:rPr lang="da-DK" sz="1400" b="1" dirty="0" err="1"/>
              <a:t>Ulåligt</a:t>
            </a:r>
            <a:r>
              <a:rPr lang="da-DK" sz="1400" b="1" dirty="0"/>
              <a:t> eller skadeligt indhold</a:t>
            </a:r>
            <a:endParaRPr lang="da-DK" sz="1400" dirty="0"/>
          </a:p>
          <a:p>
            <a:r>
              <a:rPr lang="da-DK" sz="1400" dirty="0"/>
              <a:t>Opfordring til kriminalitet </a:t>
            </a:r>
          </a:p>
          <a:p>
            <a:r>
              <a:rPr lang="da-DK" sz="1400" dirty="0"/>
              <a:t>Terror, vold eller farlige handlinger </a:t>
            </a:r>
          </a:p>
          <a:p>
            <a:pPr marL="114300" indent="0">
              <a:buNone/>
            </a:pPr>
            <a:r>
              <a:rPr lang="da-DK" sz="1400" b="1" dirty="0"/>
              <a:t>Diskriminerende eller krænkende indhold</a:t>
            </a:r>
            <a:endParaRPr lang="da-DK" sz="1400" dirty="0"/>
          </a:p>
          <a:p>
            <a:r>
              <a:rPr lang="da-DK" sz="1400" dirty="0"/>
              <a:t>Racisme, hadtale, diskrimination </a:t>
            </a:r>
          </a:p>
          <a:p>
            <a:r>
              <a:rPr lang="da-DK" sz="1400" dirty="0"/>
              <a:t>Krænkelse af minoriteter </a:t>
            </a:r>
          </a:p>
          <a:p>
            <a:pPr marL="114300" indent="0">
              <a:buNone/>
            </a:pPr>
            <a:r>
              <a:rPr lang="da-DK" sz="1400" b="1" dirty="0"/>
              <a:t>Manipulerende indhold</a:t>
            </a:r>
            <a:endParaRPr lang="da-DK" sz="1400" dirty="0"/>
          </a:p>
          <a:p>
            <a:r>
              <a:rPr lang="da-DK" sz="1400" dirty="0"/>
              <a:t>Bevidst vildledning </a:t>
            </a:r>
          </a:p>
          <a:p>
            <a:r>
              <a:rPr lang="da-DK" sz="1400" dirty="0"/>
              <a:t>Falsk information der kan skade </a:t>
            </a:r>
          </a:p>
          <a:p>
            <a:pPr marL="114300" indent="0">
              <a:buNone/>
            </a:pPr>
            <a:r>
              <a:rPr lang="da-DK" sz="1400" b="1" dirty="0"/>
              <a:t>Skadeligt indhold for brugere</a:t>
            </a:r>
            <a:endParaRPr lang="da-DK" sz="1400" dirty="0"/>
          </a:p>
          <a:p>
            <a:r>
              <a:rPr lang="da-DK" sz="1400" dirty="0"/>
              <a:t>Selvskade, farlige råd </a:t>
            </a:r>
          </a:p>
          <a:p>
            <a:r>
              <a:rPr lang="da-DK" sz="1400" dirty="0"/>
              <a:t>Sundhedsråd uden faglig basis </a:t>
            </a:r>
          </a:p>
          <a:p>
            <a:pPr marL="114300" indent="0">
              <a:buNone/>
            </a:pPr>
            <a:r>
              <a:rPr lang="da-DK" sz="1400" b="1" dirty="0"/>
              <a:t>Brud på privatliv</a:t>
            </a:r>
            <a:endParaRPr lang="da-DK" sz="1400" dirty="0"/>
          </a:p>
          <a:p>
            <a:r>
              <a:rPr lang="da-DK" sz="1400" dirty="0"/>
              <a:t>Deling af persondata uden samtykke </a:t>
            </a:r>
          </a:p>
          <a:p>
            <a:r>
              <a:rPr lang="da-DK" sz="1400" dirty="0"/>
              <a:t>Overvågning uden hjemmel</a:t>
            </a:r>
          </a:p>
        </p:txBody>
      </p:sp>
    </p:spTree>
    <p:extLst>
      <p:ext uri="{BB962C8B-B14F-4D97-AF65-F5344CB8AC3E}">
        <p14:creationId xmlns:p14="http://schemas.microsoft.com/office/powerpoint/2010/main" val="35655973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18008" y="676865"/>
            <a:ext cx="4417836" cy="4193627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sz="2000" b="1" dirty="0" err="1"/>
              <a:t>Copilot</a:t>
            </a:r>
            <a:endParaRPr lang="da-DK" sz="2000" b="1" dirty="0"/>
          </a:p>
          <a:p>
            <a:pPr marL="342900">
              <a:spcAft>
                <a:spcPts val="600"/>
              </a:spcAft>
            </a:pPr>
            <a:r>
              <a:rPr lang="da-DK" sz="1600" dirty="0"/>
              <a:t>AI til social scoring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AI til adfærdsmanipulation eller udnyttelse af sårbare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AI til følelsesgenkendelse i arbejde/skole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AI til biometrisk kategorisering af følsomme træk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AI til masse‑ansigtsgenkendelse i offentlige rum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26926" y="101784"/>
            <a:ext cx="3944871" cy="486796"/>
          </a:xfrm>
        </p:spPr>
        <p:txBody>
          <a:bodyPr/>
          <a:lstStyle/>
          <a:p>
            <a:r>
              <a:rPr lang="da-DK" b="1" i="1" dirty="0"/>
              <a:t>Forbudt AI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4760527" y="588580"/>
            <a:ext cx="4417836" cy="35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600"/>
              </a:spcAft>
              <a:buFont typeface="Arial"/>
              <a:buNone/>
            </a:pPr>
            <a:r>
              <a:rPr lang="da-DK" sz="1400" b="1" dirty="0" err="1"/>
              <a:t>ChatGPT</a:t>
            </a:r>
            <a:r>
              <a:rPr lang="da-DK" sz="1400" b="1" dirty="0"/>
              <a:t>:</a:t>
            </a:r>
          </a:p>
          <a:p>
            <a:pPr marL="114300" indent="0">
              <a:buNone/>
            </a:pPr>
            <a:r>
              <a:rPr lang="da-DK" sz="1400" b="1" dirty="0"/>
              <a:t>1. Social scoring</a:t>
            </a:r>
            <a:endParaRPr lang="da-DK" sz="1400" dirty="0"/>
          </a:p>
          <a:p>
            <a:r>
              <a:rPr lang="da-DK" sz="1400" dirty="0"/>
              <a:t>Systemer der vurderer borgere baseret på adfærd </a:t>
            </a:r>
          </a:p>
          <a:p>
            <a:r>
              <a:rPr lang="da-DK" sz="1400" dirty="0"/>
              <a:t>Fx “rating” af mennesker som i Kina </a:t>
            </a:r>
          </a:p>
          <a:p>
            <a:pPr marL="114300" indent="0">
              <a:buNone/>
            </a:pPr>
            <a:r>
              <a:rPr lang="da-DK" sz="1400" b="1" dirty="0"/>
              <a:t>2. Manipulation af mennesker</a:t>
            </a:r>
            <a:endParaRPr lang="da-DK" sz="1400" dirty="0"/>
          </a:p>
          <a:p>
            <a:r>
              <a:rPr lang="da-DK" sz="1400" dirty="0"/>
              <a:t>AI der udnytter sårbarheder (børn, ældre) </a:t>
            </a:r>
          </a:p>
          <a:p>
            <a:r>
              <a:rPr lang="da-DK" sz="1400" dirty="0"/>
              <a:t>Skjult påvirkning af adfærd </a:t>
            </a:r>
          </a:p>
          <a:p>
            <a:pPr marL="114300" indent="0">
              <a:buNone/>
            </a:pPr>
            <a:r>
              <a:rPr lang="da-DK" sz="1400" b="1" dirty="0"/>
              <a:t>3. Biometrisk masseovervågning (realtid)</a:t>
            </a:r>
            <a:endParaRPr lang="da-DK" sz="1400" dirty="0"/>
          </a:p>
          <a:p>
            <a:r>
              <a:rPr lang="da-DK" sz="1400" dirty="0"/>
              <a:t>Ansigtsgenkendelse i offentlige rum </a:t>
            </a:r>
          </a:p>
          <a:p>
            <a:r>
              <a:rPr lang="da-DK" sz="1400" dirty="0"/>
              <a:t>(med meget få undtagelser for politi) </a:t>
            </a:r>
          </a:p>
          <a:p>
            <a:pPr marL="114300" indent="0">
              <a:buNone/>
            </a:pPr>
            <a:r>
              <a:rPr lang="da-DK" sz="1400" b="1" dirty="0"/>
              <a:t>4. Emotion </a:t>
            </a:r>
            <a:r>
              <a:rPr lang="da-DK" sz="1400" b="1" dirty="0" err="1"/>
              <a:t>recognition</a:t>
            </a:r>
            <a:r>
              <a:rPr lang="da-DK" sz="1400" b="1" dirty="0"/>
              <a:t> i følsomme kontekster</a:t>
            </a:r>
            <a:endParaRPr lang="da-DK" sz="1400" dirty="0"/>
          </a:p>
          <a:p>
            <a:r>
              <a:rPr lang="da-DK" sz="1400" dirty="0"/>
              <a:t>Fx i skoler eller på arbejdspladser </a:t>
            </a:r>
          </a:p>
          <a:p>
            <a:pPr marL="114300" indent="0">
              <a:buNone/>
            </a:pPr>
            <a:r>
              <a:rPr lang="da-DK" sz="1400" b="1" dirty="0"/>
              <a:t>5. Udnyttelse af sårbare grupper</a:t>
            </a:r>
            <a:endParaRPr lang="da-DK" sz="1400" dirty="0"/>
          </a:p>
          <a:p>
            <a:r>
              <a:rPr lang="da-DK" sz="1400" dirty="0"/>
              <a:t>AI der presser eller manipulerer bestemte grupper</a:t>
            </a:r>
          </a:p>
          <a:p>
            <a:pPr marL="0" indent="0">
              <a:spcAft>
                <a:spcPts val="600"/>
              </a:spcAft>
              <a:buFont typeface="Arial"/>
              <a:buNone/>
            </a:pPr>
            <a:endParaRPr lang="da-DK" sz="1600" b="1" dirty="0"/>
          </a:p>
        </p:txBody>
      </p:sp>
    </p:spTree>
    <p:extLst>
      <p:ext uri="{BB962C8B-B14F-4D97-AF65-F5344CB8AC3E}">
        <p14:creationId xmlns:p14="http://schemas.microsoft.com/office/powerpoint/2010/main" val="41733700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58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sz="1350" dirty="0" err="1"/>
              <a:t>ChatGPTs</a:t>
            </a:r>
            <a:r>
              <a:rPr lang="da-DK" sz="1350" dirty="0"/>
              <a:t> svar om den ”anden” liste</a:t>
            </a:r>
          </a:p>
          <a:p>
            <a:pPr marL="285750" indent="-285750">
              <a:spcAft>
                <a:spcPts val="600"/>
              </a:spcAft>
            </a:pPr>
            <a:r>
              <a:rPr lang="en-US" sz="1400" dirty="0"/>
              <a:t>mere </a:t>
            </a:r>
            <a:r>
              <a:rPr lang="en-US" sz="1400" dirty="0" err="1"/>
              <a:t>korrekt</a:t>
            </a:r>
            <a:r>
              <a:rPr lang="en-US" sz="1400" dirty="0"/>
              <a:t> </a:t>
            </a:r>
            <a:r>
              <a:rPr lang="en-US" sz="1400" dirty="0" err="1"/>
              <a:t>juridisk</a:t>
            </a:r>
            <a:endParaRPr lang="en-US" sz="1400" dirty="0"/>
          </a:p>
          <a:p>
            <a:pPr marL="285750" indent="-285750">
              <a:spcAft>
                <a:spcPts val="600"/>
              </a:spcAft>
            </a:pPr>
            <a:r>
              <a:rPr lang="en-US" sz="1400" dirty="0"/>
              <a:t>mere </a:t>
            </a:r>
            <a:r>
              <a:rPr lang="en-US" sz="1400" dirty="0" err="1"/>
              <a:t>komplet</a:t>
            </a:r>
            <a:r>
              <a:rPr lang="en-US" sz="1400" dirty="0"/>
              <a:t> </a:t>
            </a:r>
            <a:r>
              <a:rPr lang="en-US" sz="1400" dirty="0" err="1"/>
              <a:t>og</a:t>
            </a:r>
            <a:r>
              <a:rPr lang="en-US" sz="1400" dirty="0"/>
              <a:t> </a:t>
            </a:r>
            <a:r>
              <a:rPr lang="en-US" sz="1400" dirty="0" err="1"/>
              <a:t>præcis</a:t>
            </a:r>
            <a:endParaRPr lang="en-US" sz="1400" dirty="0"/>
          </a:p>
          <a:p>
            <a:pPr marL="285750" indent="-285750">
              <a:spcAft>
                <a:spcPts val="600"/>
              </a:spcAft>
            </a:pPr>
            <a:r>
              <a:rPr lang="en-US" sz="1400" dirty="0"/>
              <a:t>Mere </a:t>
            </a:r>
            <a:r>
              <a:rPr lang="en-US" sz="1400" dirty="0" err="1"/>
              <a:t>konkret</a:t>
            </a:r>
            <a:r>
              <a:rPr lang="en-US" sz="1400" dirty="0"/>
              <a:t> </a:t>
            </a:r>
            <a:r>
              <a:rPr lang="en-US" sz="1400" dirty="0" err="1"/>
              <a:t>og</a:t>
            </a:r>
            <a:r>
              <a:rPr lang="en-US" sz="1400" dirty="0"/>
              <a:t> AI Act-</a:t>
            </a:r>
            <a:r>
              <a:rPr lang="en-US" sz="1400" dirty="0" err="1"/>
              <a:t>nær</a:t>
            </a:r>
            <a:endParaRPr lang="en-US" sz="1400" dirty="0"/>
          </a:p>
          <a:p>
            <a:pPr marL="285750" indent="-285750">
              <a:spcAft>
                <a:spcPts val="600"/>
              </a:spcAft>
            </a:pPr>
            <a:r>
              <a:rPr lang="en-US" sz="1400" dirty="0"/>
              <a:t>Mere </a:t>
            </a:r>
            <a:r>
              <a:rPr lang="en-US" sz="1400" dirty="0" err="1"/>
              <a:t>juridisk</a:t>
            </a:r>
            <a:r>
              <a:rPr lang="en-US" sz="1400" dirty="0"/>
              <a:t> </a:t>
            </a:r>
            <a:r>
              <a:rPr lang="en-US" sz="1400" dirty="0" err="1"/>
              <a:t>korrekt</a:t>
            </a:r>
            <a:r>
              <a:rPr lang="en-US" sz="1400" dirty="0"/>
              <a:t> </a:t>
            </a:r>
            <a:r>
              <a:rPr lang="en-US" sz="1400" dirty="0" err="1"/>
              <a:t>og</a:t>
            </a:r>
            <a:r>
              <a:rPr lang="en-US" sz="1400" dirty="0"/>
              <a:t> </a:t>
            </a:r>
            <a:r>
              <a:rPr lang="en-US" sz="1400" dirty="0" err="1"/>
              <a:t>skarp</a:t>
            </a:r>
            <a:endParaRPr lang="en-US" sz="1400" dirty="0"/>
          </a:p>
          <a:p>
            <a:pPr marL="285750" indent="-285750">
              <a:spcAft>
                <a:spcPts val="600"/>
              </a:spcAft>
            </a:pPr>
            <a:r>
              <a:rPr lang="en-US" sz="1400" dirty="0" err="1"/>
              <a:t>Bedre</a:t>
            </a:r>
            <a:r>
              <a:rPr lang="en-US" sz="1400" dirty="0"/>
              <a:t> </a:t>
            </a:r>
            <a:r>
              <a:rPr lang="en-US" sz="1400" dirty="0" err="1"/>
              <a:t>til</a:t>
            </a:r>
            <a:r>
              <a:rPr lang="en-US" sz="1400" dirty="0"/>
              <a:t> </a:t>
            </a:r>
            <a:r>
              <a:rPr lang="en-US" sz="1400" dirty="0" err="1"/>
              <a:t>undervisning</a:t>
            </a:r>
            <a:endParaRPr lang="en-US" sz="1400" dirty="0"/>
          </a:p>
          <a:p>
            <a:pPr marL="285750" indent="-285750">
              <a:spcAft>
                <a:spcPts val="600"/>
              </a:spcAft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/>
              <a:t>Konklusion</a:t>
            </a:r>
            <a:r>
              <a:rPr lang="en-US" sz="1400"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/>
              <a:t>Tættere</a:t>
            </a:r>
            <a:r>
              <a:rPr lang="en-US" sz="1400" dirty="0"/>
              <a:t> </a:t>
            </a:r>
            <a:r>
              <a:rPr lang="en-US" sz="1400" dirty="0" err="1"/>
              <a:t>på</a:t>
            </a:r>
            <a:r>
              <a:rPr lang="en-US" sz="1400" dirty="0"/>
              <a:t> AI Act </a:t>
            </a:r>
            <a:r>
              <a:rPr lang="en-US" sz="1400" dirty="0" err="1"/>
              <a:t>og</a:t>
            </a:r>
            <a:r>
              <a:rPr lang="en-US" sz="1400" dirty="0"/>
              <a:t> mere </a:t>
            </a:r>
            <a:r>
              <a:rPr lang="en-US" sz="1400" dirty="0" err="1"/>
              <a:t>præcis</a:t>
            </a:r>
            <a:endParaRPr lang="da-DK" sz="1350" dirty="0"/>
          </a:p>
          <a:p>
            <a:pPr marL="285750" indent="-285750">
              <a:spcAft>
                <a:spcPts val="600"/>
              </a:spcAft>
            </a:pPr>
            <a:endParaRPr lang="da-DK" sz="135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Listerne sammenliget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4807969" y="1233625"/>
            <a:ext cx="4222881" cy="35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600"/>
              </a:spcAft>
              <a:buFont typeface="Arial"/>
              <a:buNone/>
            </a:pPr>
            <a:r>
              <a:rPr lang="en-US" sz="1350" dirty="0"/>
              <a:t>Den “</a:t>
            </a:r>
            <a:r>
              <a:rPr lang="en-US" sz="1350" dirty="0" err="1"/>
              <a:t>anden</a:t>
            </a:r>
            <a:r>
              <a:rPr lang="en-US" sz="1350" dirty="0"/>
              <a:t>” </a:t>
            </a:r>
            <a:r>
              <a:rPr lang="en-US" sz="1350" dirty="0" err="1"/>
              <a:t>liste</a:t>
            </a:r>
            <a:r>
              <a:rPr lang="en-US" sz="1350" dirty="0"/>
              <a:t> </a:t>
            </a:r>
            <a:r>
              <a:rPr lang="en-US" sz="1350" dirty="0" err="1"/>
              <a:t>kom</a:t>
            </a:r>
            <a:r>
              <a:rPr lang="en-US" sz="1350" dirty="0"/>
              <a:t> </a:t>
            </a:r>
            <a:r>
              <a:rPr lang="en-US" sz="1350" dirty="0" err="1"/>
              <a:t>fra</a:t>
            </a:r>
            <a:r>
              <a:rPr lang="en-US" sz="1350" dirty="0"/>
              <a:t> Copilot</a:t>
            </a:r>
          </a:p>
          <a:p>
            <a:pPr marL="285750" indent="-285750">
              <a:spcAft>
                <a:spcPts val="600"/>
              </a:spcAft>
            </a:pPr>
            <a:r>
              <a:rPr lang="en-US" sz="1350" dirty="0" err="1"/>
              <a:t>Pædagogisk</a:t>
            </a:r>
            <a:r>
              <a:rPr lang="en-US" sz="1350" dirty="0"/>
              <a:t> okay – </a:t>
            </a:r>
            <a:r>
              <a:rPr lang="en-US" sz="1350" dirty="0" err="1"/>
              <a:t>juridisk</a:t>
            </a:r>
            <a:r>
              <a:rPr lang="en-US" sz="1350" dirty="0"/>
              <a:t> </a:t>
            </a:r>
            <a:r>
              <a:rPr lang="en-US" sz="1350" dirty="0" err="1"/>
              <a:t>lidt</a:t>
            </a:r>
            <a:r>
              <a:rPr lang="en-US" sz="1350" dirty="0"/>
              <a:t> </a:t>
            </a:r>
            <a:r>
              <a:rPr lang="en-US" sz="1350" dirty="0" err="1"/>
              <a:t>upræcist</a:t>
            </a:r>
            <a:endParaRPr lang="en-US" sz="1350" dirty="0"/>
          </a:p>
          <a:p>
            <a:pPr marL="285750" indent="-285750">
              <a:spcAft>
                <a:spcPts val="600"/>
              </a:spcAft>
            </a:pPr>
            <a:r>
              <a:rPr lang="en-US" sz="1350" dirty="0" err="1"/>
              <a:t>Mangler</a:t>
            </a:r>
            <a:r>
              <a:rPr lang="en-US" sz="1350" dirty="0"/>
              <a:t> nuance – </a:t>
            </a:r>
            <a:r>
              <a:rPr lang="en-US" sz="1350" dirty="0" err="1"/>
              <a:t>ikke</a:t>
            </a:r>
            <a:r>
              <a:rPr lang="en-US" sz="1350" dirty="0"/>
              <a:t> al </a:t>
            </a:r>
            <a:r>
              <a:rPr lang="en-US" sz="1350" dirty="0" err="1"/>
              <a:t>analyse</a:t>
            </a:r>
            <a:r>
              <a:rPr lang="en-US" sz="1350" dirty="0"/>
              <a:t> </a:t>
            </a:r>
            <a:r>
              <a:rPr lang="en-US" sz="1350" dirty="0" err="1"/>
              <a:t>er</a:t>
            </a:r>
            <a:r>
              <a:rPr lang="en-US" sz="1350" dirty="0"/>
              <a:t> </a:t>
            </a:r>
            <a:r>
              <a:rPr lang="en-US" sz="1350" dirty="0" err="1"/>
              <a:t>forbudt</a:t>
            </a:r>
            <a:endParaRPr lang="en-US" sz="1350" dirty="0"/>
          </a:p>
          <a:p>
            <a:pPr marL="285750" indent="-285750">
              <a:spcAft>
                <a:spcPts val="600"/>
              </a:spcAft>
            </a:pPr>
            <a:r>
              <a:rPr lang="en-US" sz="1350" dirty="0"/>
              <a:t>Ret </a:t>
            </a:r>
            <a:r>
              <a:rPr lang="en-US" sz="1350" dirty="0" err="1"/>
              <a:t>korrekt</a:t>
            </a:r>
            <a:r>
              <a:rPr lang="en-US" sz="1350" dirty="0"/>
              <a:t> - men </a:t>
            </a:r>
            <a:r>
              <a:rPr lang="en-US" sz="1350" dirty="0" err="1"/>
              <a:t>kunne</a:t>
            </a:r>
            <a:r>
              <a:rPr lang="en-US" sz="1350" dirty="0"/>
              <a:t> </a:t>
            </a:r>
            <a:r>
              <a:rPr lang="en-US" sz="1350" dirty="0" err="1"/>
              <a:t>nuanceres</a:t>
            </a:r>
            <a:r>
              <a:rPr lang="en-US" sz="1350" dirty="0"/>
              <a:t> </a:t>
            </a:r>
            <a:r>
              <a:rPr lang="en-US" sz="1350" dirty="0" err="1"/>
              <a:t>lidt</a:t>
            </a:r>
            <a:endParaRPr lang="en-US" sz="1350" dirty="0"/>
          </a:p>
          <a:p>
            <a:pPr marL="285750" indent="-285750">
              <a:spcAft>
                <a:spcPts val="600"/>
              </a:spcAft>
            </a:pPr>
            <a:r>
              <a:rPr lang="en-US" sz="1350" dirty="0"/>
              <a:t>Copilot </a:t>
            </a:r>
            <a:r>
              <a:rPr lang="en-US" sz="1350" dirty="0" err="1"/>
              <a:t>er</a:t>
            </a:r>
            <a:r>
              <a:rPr lang="en-US" sz="1350" dirty="0"/>
              <a:t> </a:t>
            </a:r>
            <a:r>
              <a:rPr lang="en-US" sz="1350" dirty="0" err="1"/>
              <a:t>lidt</a:t>
            </a:r>
            <a:r>
              <a:rPr lang="en-US" sz="1350" dirty="0"/>
              <a:t> for bred her (</a:t>
            </a:r>
            <a:r>
              <a:rPr lang="en-US" sz="1350" dirty="0" err="1"/>
              <a:t>ift</a:t>
            </a:r>
            <a:r>
              <a:rPr lang="en-US" sz="1350" dirty="0"/>
              <a:t>. Manipulation)</a:t>
            </a:r>
          </a:p>
          <a:p>
            <a:pPr marL="0" indent="0">
              <a:spcAft>
                <a:spcPts val="600"/>
              </a:spcAft>
              <a:buNone/>
            </a:pP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 err="1"/>
              <a:t>Konklusion</a:t>
            </a:r>
            <a:r>
              <a:rPr lang="en-US" sz="1350"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 err="1"/>
              <a:t>Lidt</a:t>
            </a:r>
            <a:r>
              <a:rPr lang="en-US" sz="1350" dirty="0"/>
              <a:t> for general, </a:t>
            </a:r>
            <a:r>
              <a:rPr lang="en-US" sz="1350" dirty="0" err="1"/>
              <a:t>mangler</a:t>
            </a:r>
            <a:r>
              <a:rPr lang="en-US" sz="1350" dirty="0"/>
              <a:t> </a:t>
            </a:r>
            <a:r>
              <a:rPr lang="en-US" sz="1350" dirty="0" err="1"/>
              <a:t>juridiske</a:t>
            </a:r>
            <a:r>
              <a:rPr lang="en-US" sz="1350" dirty="0"/>
              <a:t> nuance </a:t>
            </a:r>
            <a:r>
              <a:rPr lang="en-US" sz="1350" dirty="0" err="1"/>
              <a:t>og</a:t>
            </a:r>
            <a:r>
              <a:rPr lang="en-US" sz="1350" dirty="0"/>
              <a:t> </a:t>
            </a:r>
            <a:r>
              <a:rPr lang="en-US" sz="1350" dirty="0" err="1"/>
              <a:t>enkelte</a:t>
            </a:r>
            <a:r>
              <a:rPr lang="en-US" sz="1350" dirty="0"/>
              <a:t> </a:t>
            </a:r>
            <a:r>
              <a:rPr lang="en-US" sz="1350" dirty="0" err="1"/>
              <a:t>centrale</a:t>
            </a:r>
            <a:r>
              <a:rPr lang="en-US" sz="1350" dirty="0"/>
              <a:t> </a:t>
            </a:r>
            <a:r>
              <a:rPr lang="en-US" sz="1350" dirty="0" err="1"/>
              <a:t>punkter</a:t>
            </a:r>
            <a:endParaRPr lang="da-DK" sz="1350" dirty="0"/>
          </a:p>
          <a:p>
            <a:pPr marL="285750" indent="-285750">
              <a:spcAft>
                <a:spcPts val="600"/>
              </a:spcAft>
            </a:pPr>
            <a:endParaRPr lang="da-DK" sz="1350" dirty="0"/>
          </a:p>
        </p:txBody>
      </p:sp>
    </p:spTree>
    <p:extLst>
      <p:ext uri="{BB962C8B-B14F-4D97-AF65-F5344CB8AC3E}">
        <p14:creationId xmlns:p14="http://schemas.microsoft.com/office/powerpoint/2010/main" val="417407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Copilots </a:t>
            </a:r>
            <a:r>
              <a:rPr lang="en-US" dirty="0" err="1"/>
              <a:t>visualisering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forskellen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”Generer mig en visualisering af hvad du synes om forskellen på de to lister” – </a:t>
            </a:r>
            <a:r>
              <a:rPr lang="da-DK" dirty="0" err="1"/>
              <a:t>Copilot</a:t>
            </a:r>
            <a:r>
              <a:rPr lang="da-DK" dirty="0"/>
              <a:t> prompt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59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87171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7197" y="1017725"/>
            <a:ext cx="4469605" cy="2979737"/>
          </a:xfrm>
        </p:spPr>
      </p:pic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60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212722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ChatGPTs</a:t>
            </a:r>
            <a:r>
              <a:rPr lang="en-US" dirty="0"/>
              <a:t> </a:t>
            </a:r>
            <a:r>
              <a:rPr lang="en-US" dirty="0" err="1"/>
              <a:t>visualisering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forskellen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”Generer mig en visualisering af hvad du synes om forskellen på de to lister” – </a:t>
            </a:r>
            <a:r>
              <a:rPr lang="da-DK" dirty="0" err="1"/>
              <a:t>Copilot</a:t>
            </a:r>
            <a:r>
              <a:rPr lang="da-DK" dirty="0"/>
              <a:t> prompt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61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18103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041" y="73573"/>
            <a:ext cx="7689917" cy="5126612"/>
          </a:xfrm>
        </p:spPr>
      </p:pic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62</a:t>
            </a:fld>
            <a:endParaRPr lang="da-DK" dirty="0"/>
          </a:p>
        </p:txBody>
      </p:sp>
      <p:pic>
        <p:nvPicPr>
          <p:cNvPr id="6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4106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5381-FB95-86A8-B2D2-4B7ED20D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1DB62C62-8429-F82E-0A97-DF5DAAC5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30CACE3-50ED-B306-25EC-7D7D7FE624E7}"/>
              </a:ext>
            </a:extLst>
          </p:cNvPr>
          <p:cNvSpPr txBox="1"/>
          <p:nvPr/>
        </p:nvSpPr>
        <p:spPr>
          <a:xfrm>
            <a:off x="2058337" y="1573077"/>
            <a:ext cx="728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i="1" dirty="0"/>
              <a:t>AI som trusselbillede</a:t>
            </a:r>
            <a:endParaRPr lang="da-DK" sz="3600" i="1" dirty="0">
              <a:solidFill>
                <a:srgbClr val="0045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3221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64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161590"/>
            <a:ext cx="5248153" cy="3512102"/>
          </a:xfrm>
        </p:spPr>
        <p:txBody>
          <a:bodyPr>
            <a:normAutofit/>
          </a:bodyPr>
          <a:lstStyle/>
          <a:p>
            <a:endParaRPr lang="da-DK" sz="1600" b="1" dirty="0"/>
          </a:p>
          <a:p>
            <a:pPr marL="114300" indent="0">
              <a:buNone/>
            </a:pPr>
            <a:r>
              <a:rPr lang="da-DK" sz="1600" b="1" dirty="0"/>
              <a:t>AI skaber nye muligheder – men også nye risici</a:t>
            </a:r>
            <a:endParaRPr lang="da-DK" sz="1600" dirty="0"/>
          </a:p>
          <a:p>
            <a:r>
              <a:rPr lang="da-DK" sz="1600" dirty="0"/>
              <a:t>Hurtigere beslutninger </a:t>
            </a:r>
          </a:p>
          <a:p>
            <a:r>
              <a:rPr lang="da-DK" sz="1600" dirty="0"/>
              <a:t>Mere automatisering </a:t>
            </a:r>
          </a:p>
          <a:p>
            <a:r>
              <a:rPr lang="da-DK" sz="1600" dirty="0"/>
              <a:t>Større afhængighed af teknologi </a:t>
            </a:r>
          </a:p>
          <a:p>
            <a:pPr marL="114300" indent="0">
              <a:buNone/>
            </a:pPr>
            <a:endParaRPr lang="da-DK" sz="1600" b="1" dirty="0"/>
          </a:p>
          <a:p>
            <a:pPr marL="114300" indent="0">
              <a:buNone/>
            </a:pPr>
            <a:r>
              <a:rPr lang="da-DK" sz="1600" b="1" dirty="0"/>
              <a:t>Spørgsmålet er:</a:t>
            </a:r>
            <a:endParaRPr lang="da-DK" sz="1600" dirty="0"/>
          </a:p>
          <a:p>
            <a:r>
              <a:rPr lang="da-DK" sz="1600" dirty="0"/>
              <a:t>Hvad sker der, når det går galt?</a:t>
            </a:r>
          </a:p>
          <a:p>
            <a:pPr marL="342900">
              <a:spcAft>
                <a:spcPts val="600"/>
              </a:spcAft>
            </a:pPr>
            <a:endParaRPr lang="da-DK" sz="14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som trusselsbillede</a:t>
            </a:r>
          </a:p>
        </p:txBody>
      </p:sp>
    </p:spTree>
    <p:extLst>
      <p:ext uri="{BB962C8B-B14F-4D97-AF65-F5344CB8AC3E}">
        <p14:creationId xmlns:p14="http://schemas.microsoft.com/office/powerpoint/2010/main" val="17847086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456014"/>
            <a:ext cx="7886700" cy="2979896"/>
          </a:xfrm>
        </p:spPr>
        <p:txBody>
          <a:bodyPr/>
          <a:lstStyle/>
          <a:p>
            <a:pPr marL="114300" indent="0">
              <a:buNone/>
            </a:pPr>
            <a:r>
              <a:rPr lang="da-DK" sz="1600" b="1" dirty="0"/>
              <a:t>AI kan bruges til:</a:t>
            </a:r>
            <a:endParaRPr lang="da-DK" sz="1600" dirty="0"/>
          </a:p>
          <a:p>
            <a:r>
              <a:rPr lang="da-DK" sz="1600" dirty="0"/>
              <a:t>Manipulation (</a:t>
            </a:r>
            <a:r>
              <a:rPr lang="da-DK" sz="1600" dirty="0" err="1"/>
              <a:t>deepfakes</a:t>
            </a:r>
            <a:r>
              <a:rPr lang="da-DK" sz="1600" dirty="0"/>
              <a:t>, misinformation) </a:t>
            </a:r>
          </a:p>
          <a:p>
            <a:r>
              <a:rPr lang="da-DK" sz="1600" dirty="0"/>
              <a:t>Automatiseret svindel og </a:t>
            </a:r>
            <a:r>
              <a:rPr lang="da-DK" sz="1600" dirty="0" err="1"/>
              <a:t>phishing</a:t>
            </a:r>
            <a:r>
              <a:rPr lang="da-DK" sz="1600" dirty="0"/>
              <a:t> </a:t>
            </a:r>
          </a:p>
          <a:p>
            <a:r>
              <a:rPr lang="da-DK" sz="1600" dirty="0"/>
              <a:t>Overvågning og kontrol </a:t>
            </a:r>
          </a:p>
          <a:p>
            <a:r>
              <a:rPr lang="da-DK" sz="1600" dirty="0"/>
              <a:t>Fejl i kritiske beslutninger </a:t>
            </a:r>
          </a:p>
          <a:p>
            <a:pPr marL="114300" indent="0">
              <a:buNone/>
            </a:pPr>
            <a:endParaRPr lang="da-DK" sz="1600" dirty="0"/>
          </a:p>
          <a:p>
            <a:r>
              <a:rPr lang="da-DK" sz="1600" b="1" dirty="0"/>
              <a:t>Og:</a:t>
            </a:r>
            <a:endParaRPr lang="da-DK" sz="1600" dirty="0"/>
          </a:p>
          <a:p>
            <a:r>
              <a:rPr lang="da-DK" sz="1600" dirty="0"/>
              <a:t>Skalerer hurtigere end mennesker kan følge med</a:t>
            </a:r>
          </a:p>
          <a:p>
            <a:endParaRPr lang="en-US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65</a:t>
            </a:fld>
            <a:endParaRPr lang="da-DK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963461" y="461842"/>
            <a:ext cx="7306332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a-DK" b="1" i="1" dirty="0"/>
              <a:t>AI som trusselsbillede</a:t>
            </a:r>
          </a:p>
        </p:txBody>
      </p:sp>
    </p:spTree>
    <p:extLst>
      <p:ext uri="{BB962C8B-B14F-4D97-AF65-F5344CB8AC3E}">
        <p14:creationId xmlns:p14="http://schemas.microsoft.com/office/powerpoint/2010/main" val="27557357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456014"/>
            <a:ext cx="7886700" cy="2979896"/>
          </a:xfrm>
        </p:spPr>
        <p:txBody>
          <a:bodyPr/>
          <a:lstStyle/>
          <a:p>
            <a:pPr marL="114300" indent="0">
              <a:buNone/>
            </a:pPr>
            <a:r>
              <a:rPr lang="da-DK" sz="1600" b="1" dirty="0"/>
              <a:t>Tidligere:</a:t>
            </a:r>
            <a:endParaRPr lang="da-DK" sz="1600" dirty="0"/>
          </a:p>
          <a:p>
            <a:r>
              <a:rPr lang="da-DK" sz="1600" dirty="0"/>
              <a:t>Mennesker skabte og udførte angreb </a:t>
            </a:r>
          </a:p>
          <a:p>
            <a:pPr marL="114300" indent="0">
              <a:buNone/>
            </a:pPr>
            <a:endParaRPr lang="da-DK" sz="1600" dirty="0"/>
          </a:p>
          <a:p>
            <a:pPr marL="114300" indent="0">
              <a:buNone/>
            </a:pPr>
            <a:r>
              <a:rPr lang="da-DK" sz="1600" b="1" dirty="0"/>
              <a:t>Nu:</a:t>
            </a:r>
            <a:endParaRPr lang="da-DK" sz="1600" dirty="0"/>
          </a:p>
          <a:p>
            <a:r>
              <a:rPr lang="da-DK" sz="1600" dirty="0"/>
              <a:t>AI kan automatisere og skalere </a:t>
            </a:r>
          </a:p>
          <a:p>
            <a:pPr marL="114300" indent="0">
              <a:buNone/>
            </a:pPr>
            <a:endParaRPr lang="da-DK" sz="1600" dirty="0"/>
          </a:p>
          <a:p>
            <a:pPr marL="114300" indent="0">
              <a:buNone/>
            </a:pPr>
            <a:r>
              <a:rPr lang="da-DK" sz="1600" b="1" dirty="0"/>
              <a:t>Konsekvens:</a:t>
            </a:r>
            <a:endParaRPr lang="da-DK" sz="1600" dirty="0"/>
          </a:p>
          <a:p>
            <a:r>
              <a:rPr lang="da-DK" sz="1600" dirty="0"/>
              <a:t>Lavere barriere for angreb </a:t>
            </a:r>
          </a:p>
          <a:p>
            <a:r>
              <a:rPr lang="da-DK" sz="1600" dirty="0"/>
              <a:t>Hurtigere spredning </a:t>
            </a:r>
          </a:p>
          <a:p>
            <a:r>
              <a:rPr lang="da-DK" sz="1600" dirty="0"/>
              <a:t>Sværere at opdage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66</a:t>
            </a:fld>
            <a:endParaRPr lang="da-DK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963461" y="461842"/>
            <a:ext cx="7306332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a-DK" b="1" i="1" dirty="0"/>
              <a:t>AI som trusselsbillede</a:t>
            </a:r>
          </a:p>
        </p:txBody>
      </p:sp>
    </p:spTree>
    <p:extLst>
      <p:ext uri="{BB962C8B-B14F-4D97-AF65-F5344CB8AC3E}">
        <p14:creationId xmlns:p14="http://schemas.microsoft.com/office/powerpoint/2010/main" val="19940992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67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endParaRPr lang="da-DK" sz="1400" b="1" dirty="0"/>
          </a:p>
          <a:p>
            <a:pPr marL="114300" indent="0">
              <a:buNone/>
            </a:pPr>
            <a:r>
              <a:rPr lang="da-DK" sz="1400" b="1" dirty="0" err="1"/>
              <a:t>Deepfakes</a:t>
            </a:r>
            <a:r>
              <a:rPr lang="da-DK" sz="1400" b="1" dirty="0"/>
              <a:t> er:</a:t>
            </a:r>
            <a:endParaRPr lang="da-DK" sz="1400" dirty="0"/>
          </a:p>
          <a:p>
            <a:r>
              <a:rPr lang="da-DK" sz="1400" dirty="0"/>
              <a:t>AI-genereret falsk video, lyd eller billeder </a:t>
            </a:r>
          </a:p>
          <a:p>
            <a:r>
              <a:rPr lang="da-DK" sz="1400" dirty="0"/>
              <a:t>Får personer til at sige eller gøre noget, de aldrig har gjort </a:t>
            </a:r>
          </a:p>
          <a:p>
            <a:r>
              <a:rPr lang="da-DK" sz="1400" dirty="0"/>
              <a:t>Kan være meget realistiske </a:t>
            </a:r>
          </a:p>
          <a:p>
            <a:pPr marL="114300" indent="0">
              <a:buNone/>
            </a:pPr>
            <a:endParaRPr lang="da-DK" sz="1400" dirty="0"/>
          </a:p>
          <a:p>
            <a:pPr marL="114300" indent="0">
              <a:buNone/>
            </a:pPr>
            <a:r>
              <a:rPr lang="da-DK" sz="1400" b="1" dirty="0"/>
              <a:t>Bruges til:</a:t>
            </a:r>
            <a:endParaRPr lang="da-DK" sz="1400" dirty="0"/>
          </a:p>
          <a:p>
            <a:r>
              <a:rPr lang="da-DK" sz="1400" dirty="0"/>
              <a:t>Underholdning (film, </a:t>
            </a:r>
            <a:r>
              <a:rPr lang="da-DK" sz="1400" dirty="0" err="1"/>
              <a:t>memes</a:t>
            </a:r>
            <a:r>
              <a:rPr lang="da-DK" sz="1400" dirty="0"/>
              <a:t>) </a:t>
            </a:r>
          </a:p>
          <a:p>
            <a:r>
              <a:rPr lang="da-DK" sz="1400" dirty="0"/>
              <a:t>Manipulation og misinformation </a:t>
            </a:r>
          </a:p>
          <a:p>
            <a:r>
              <a:rPr lang="da-DK" sz="1400" dirty="0"/>
              <a:t>Svindel og identitetstyveri</a:t>
            </a:r>
          </a:p>
          <a:p>
            <a:pPr marL="342900">
              <a:spcAft>
                <a:spcPts val="600"/>
              </a:spcAft>
            </a:pPr>
            <a:endParaRPr lang="da-DK" sz="135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Hvad er </a:t>
            </a:r>
            <a:r>
              <a:rPr lang="da-DK" b="1" i="1" dirty="0" err="1"/>
              <a:t>Deepfakes</a:t>
            </a:r>
            <a:r>
              <a:rPr lang="da-DK" b="1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17714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68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6646029" cy="3512102"/>
          </a:xfrm>
        </p:spPr>
        <p:txBody>
          <a:bodyPr>
            <a:noAutofit/>
          </a:bodyPr>
          <a:lstStyle/>
          <a:p>
            <a:endParaRPr lang="da-DK" sz="1600" b="1" dirty="0"/>
          </a:p>
          <a:p>
            <a:pPr marL="114300" indent="0">
              <a:buNone/>
            </a:pPr>
            <a:r>
              <a:rPr lang="da-DK" sz="1600" b="1" dirty="0" err="1"/>
              <a:t>Deepfakes</a:t>
            </a:r>
            <a:r>
              <a:rPr lang="da-DK" sz="1600" b="1" dirty="0"/>
              <a:t> kombinerer:</a:t>
            </a:r>
            <a:endParaRPr lang="da-DK" sz="1600" dirty="0"/>
          </a:p>
          <a:p>
            <a:r>
              <a:rPr lang="da-DK" sz="1600" dirty="0"/>
              <a:t>Machine Learning (træning på store datamængder) </a:t>
            </a:r>
          </a:p>
          <a:p>
            <a:r>
              <a:rPr lang="da-DK" sz="1600" dirty="0"/>
              <a:t>Computer Vision (forstå ansigter og bevægelser) </a:t>
            </a:r>
          </a:p>
          <a:p>
            <a:r>
              <a:rPr lang="da-DK" sz="1600" dirty="0"/>
              <a:t>Generative modeller (skaber nyt indhold) </a:t>
            </a:r>
          </a:p>
          <a:p>
            <a:r>
              <a:rPr lang="da-DK" sz="1600" dirty="0"/>
              <a:t>Audio AI (kloning af stemmer) </a:t>
            </a:r>
          </a:p>
          <a:p>
            <a:pPr marL="114300" indent="0">
              <a:buNone/>
            </a:pPr>
            <a:endParaRPr lang="da-DK" sz="1600" dirty="0"/>
          </a:p>
          <a:p>
            <a:pPr marL="114300" indent="0">
              <a:buNone/>
            </a:pPr>
            <a:r>
              <a:rPr lang="da-DK" sz="1600" b="1" dirty="0"/>
              <a:t>Typisk proces:</a:t>
            </a:r>
            <a:endParaRPr lang="da-DK" sz="1600" dirty="0"/>
          </a:p>
          <a:p>
            <a:r>
              <a:rPr lang="da-DK" sz="1600" dirty="0"/>
              <a:t>Træning på billeder/video/lyd </a:t>
            </a:r>
          </a:p>
          <a:p>
            <a:r>
              <a:rPr lang="da-DK" sz="1600" dirty="0"/>
              <a:t>Lærer mønstre i ansigt/stemme </a:t>
            </a:r>
          </a:p>
          <a:p>
            <a:r>
              <a:rPr lang="da-DK" sz="1600" dirty="0"/>
              <a:t>Genererer realistisk falsk indhold</a:t>
            </a:r>
          </a:p>
          <a:p>
            <a:pPr marL="342900">
              <a:spcAft>
                <a:spcPts val="600"/>
              </a:spcAft>
            </a:pPr>
            <a:endParaRPr lang="da-DK" sz="14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Hvad er </a:t>
            </a:r>
            <a:r>
              <a:rPr lang="da-DK" b="1" i="1" dirty="0" err="1"/>
              <a:t>Deepfakes</a:t>
            </a:r>
            <a:r>
              <a:rPr lang="da-DK" b="1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17504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69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5185091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da-DK" sz="1600" dirty="0" err="1"/>
              <a:t>Deepfake</a:t>
            </a:r>
            <a:r>
              <a:rPr lang="da-DK" sz="1600" dirty="0"/>
              <a:t> eksempel:</a:t>
            </a:r>
          </a:p>
          <a:p>
            <a:pPr marL="342900">
              <a:spcAft>
                <a:spcPts val="600"/>
              </a:spcAft>
            </a:pPr>
            <a:r>
              <a:rPr lang="da-DK" sz="1600" dirty="0">
                <a:hlinkClick r:id="rId3"/>
              </a:rPr>
              <a:t>https://www.youtube.com/watch?v=23qpkGQdi1g</a:t>
            </a:r>
            <a:endParaRPr lang="da-DK" sz="1600" dirty="0"/>
          </a:p>
          <a:p>
            <a:pPr marL="342900">
              <a:spcAft>
                <a:spcPts val="600"/>
              </a:spcAft>
            </a:pPr>
            <a:endParaRPr lang="da-DK" sz="1600" dirty="0"/>
          </a:p>
          <a:p>
            <a:pPr marL="0" indent="0">
              <a:spcAft>
                <a:spcPts val="600"/>
              </a:spcAft>
              <a:buNone/>
            </a:pPr>
            <a:r>
              <a:rPr lang="da-DK" sz="1600" dirty="0" err="1"/>
              <a:t>Reflektion</a:t>
            </a:r>
            <a:endParaRPr lang="da-DK" sz="1600" dirty="0"/>
          </a:p>
          <a:p>
            <a:pPr marL="342900">
              <a:spcAft>
                <a:spcPts val="600"/>
              </a:spcAft>
            </a:pPr>
            <a:r>
              <a:rPr lang="da-DK" sz="1600" dirty="0"/>
              <a:t>Så det naturligt ud?</a:t>
            </a:r>
          </a:p>
          <a:p>
            <a:pPr marL="342900">
              <a:spcAft>
                <a:spcPts val="600"/>
              </a:spcAft>
            </a:pPr>
            <a:r>
              <a:rPr lang="da-DK" sz="1600" dirty="0"/>
              <a:t>Lagde i mærke til noget der var ”</a:t>
            </a:r>
            <a:r>
              <a:rPr lang="da-DK" sz="1600" dirty="0" err="1"/>
              <a:t>off</a:t>
            </a:r>
            <a:r>
              <a:rPr lang="da-DK" sz="1600" dirty="0"/>
              <a:t>”?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Hvad er </a:t>
            </a:r>
            <a:r>
              <a:rPr lang="da-DK" b="1" i="1" dirty="0" err="1"/>
              <a:t>Deepfakes</a:t>
            </a:r>
            <a:r>
              <a:rPr lang="da-DK" b="1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440780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524662"/>
            <a:ext cx="7886700" cy="2979896"/>
          </a:xfrm>
        </p:spPr>
        <p:txBody>
          <a:bodyPr/>
          <a:lstStyle/>
          <a:p>
            <a:pPr marL="114300" indent="0">
              <a:buNone/>
            </a:pPr>
            <a:r>
              <a:rPr lang="da-DK" b="1" dirty="0"/>
              <a:t>Hvordan spotter man </a:t>
            </a:r>
            <a:r>
              <a:rPr lang="da-DK" b="1" dirty="0" err="1"/>
              <a:t>deepfakes</a:t>
            </a:r>
            <a:r>
              <a:rPr lang="da-DK" b="1" dirty="0"/>
              <a:t>?</a:t>
            </a:r>
          </a:p>
          <a:p>
            <a:endParaRPr lang="da-DK" b="1" dirty="0"/>
          </a:p>
          <a:p>
            <a:pPr marL="114300" indent="0">
              <a:buNone/>
            </a:pPr>
            <a:r>
              <a:rPr lang="da-DK" b="1" dirty="0"/>
              <a:t>Typiske tegn:</a:t>
            </a:r>
            <a:endParaRPr lang="da-DK" dirty="0"/>
          </a:p>
          <a:p>
            <a:r>
              <a:rPr lang="da-DK" sz="1600" dirty="0"/>
              <a:t>Unaturlige ansigtsbevægelser </a:t>
            </a:r>
          </a:p>
          <a:p>
            <a:r>
              <a:rPr lang="da-DK" sz="1600" dirty="0"/>
              <a:t>Mærkelig læbesynkronisering </a:t>
            </a:r>
          </a:p>
          <a:p>
            <a:r>
              <a:rPr lang="da-DK" sz="1600" dirty="0"/>
              <a:t>Ulogisk lys/skygger </a:t>
            </a:r>
          </a:p>
          <a:p>
            <a:r>
              <a:rPr lang="da-DK" sz="1600" dirty="0"/>
              <a:t>Kunstig eller flad stemme</a:t>
            </a:r>
          </a:p>
          <a:p>
            <a:endParaRPr lang="da-DK" sz="1600" dirty="0"/>
          </a:p>
          <a:p>
            <a:r>
              <a:rPr lang="da-DK" sz="1600" dirty="0"/>
              <a:t>Bliver sværere og sværere at opdage</a:t>
            </a:r>
          </a:p>
          <a:p>
            <a:endParaRPr lang="en-US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70</a:t>
            </a:fld>
            <a:endParaRPr lang="da-DK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963461" y="461842"/>
            <a:ext cx="7306332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a-DK" b="1" i="1"/>
              <a:t>Hvad er Deepfakes?</a:t>
            </a:r>
            <a:endParaRPr lang="da-DK" b="1" i="1" dirty="0"/>
          </a:p>
        </p:txBody>
      </p:sp>
    </p:spTree>
    <p:extLst>
      <p:ext uri="{BB962C8B-B14F-4D97-AF65-F5344CB8AC3E}">
        <p14:creationId xmlns:p14="http://schemas.microsoft.com/office/powerpoint/2010/main" val="32329587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71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da-DK" sz="1600" b="1" dirty="0"/>
              <a:t>Hvad kan AI bruges til i de forkerte hænder?</a:t>
            </a:r>
            <a:endParaRPr lang="da-DK" sz="1600" dirty="0"/>
          </a:p>
          <a:p>
            <a:endParaRPr lang="da-DK" sz="1400" dirty="0"/>
          </a:p>
          <a:p>
            <a:r>
              <a:rPr lang="da-DK" sz="1600" dirty="0"/>
              <a:t>Målrettet </a:t>
            </a:r>
            <a:r>
              <a:rPr lang="da-DK" sz="1600" dirty="0" err="1"/>
              <a:t>phishing</a:t>
            </a:r>
            <a:r>
              <a:rPr lang="da-DK" sz="1600" dirty="0"/>
              <a:t> og svindel i stor skala </a:t>
            </a:r>
          </a:p>
          <a:p>
            <a:r>
              <a:rPr lang="da-DK" sz="1600" dirty="0" err="1"/>
              <a:t>Deepfakes</a:t>
            </a:r>
            <a:r>
              <a:rPr lang="da-DK" sz="1600" dirty="0"/>
              <a:t> til identitetstyveri og manipulation </a:t>
            </a:r>
          </a:p>
          <a:p>
            <a:r>
              <a:rPr lang="da-DK" sz="1600" dirty="0"/>
              <a:t>Automatiseret hacking og sårbarhedssøgning </a:t>
            </a:r>
          </a:p>
          <a:p>
            <a:r>
              <a:rPr lang="da-DK" sz="1600" dirty="0"/>
              <a:t>Generering af </a:t>
            </a:r>
            <a:r>
              <a:rPr lang="da-DK" sz="1600" dirty="0" err="1"/>
              <a:t>malware</a:t>
            </a:r>
            <a:r>
              <a:rPr lang="da-DK" sz="1600" dirty="0"/>
              <a:t> og angrebskode </a:t>
            </a:r>
          </a:p>
          <a:p>
            <a:r>
              <a:rPr lang="da-DK" sz="1600" dirty="0"/>
              <a:t>Social </a:t>
            </a:r>
            <a:r>
              <a:rPr lang="da-DK" sz="1600" dirty="0" err="1"/>
              <a:t>engineering</a:t>
            </a:r>
            <a:r>
              <a:rPr lang="da-DK" sz="1600" dirty="0"/>
              <a:t>, der virker mere overbevisende</a:t>
            </a:r>
          </a:p>
          <a:p>
            <a:pPr marL="342900">
              <a:spcAft>
                <a:spcPts val="600"/>
              </a:spcAft>
            </a:pPr>
            <a:endParaRPr lang="da-DK" sz="135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i de forkerte hænder</a:t>
            </a:r>
          </a:p>
        </p:txBody>
      </p:sp>
    </p:spTree>
    <p:extLst>
      <p:ext uri="{BB962C8B-B14F-4D97-AF65-F5344CB8AC3E}">
        <p14:creationId xmlns:p14="http://schemas.microsoft.com/office/powerpoint/2010/main" val="22913088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72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pic>
        <p:nvPicPr>
          <p:cNvPr id="7" name="Pladsholder til indhold 6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2840" y="902"/>
            <a:ext cx="4429128" cy="5142598"/>
          </a:xfrm>
        </p:spPr>
      </p:pic>
      <p:cxnSp>
        <p:nvCxnSpPr>
          <p:cNvPr id="14" name="Lige pilforbindelse 13"/>
          <p:cNvCxnSpPr/>
          <p:nvPr/>
        </p:nvCxnSpPr>
        <p:spPr>
          <a:xfrm>
            <a:off x="2450592" y="3209544"/>
            <a:ext cx="1499616" cy="914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pilforbindelse 15"/>
          <p:cNvCxnSpPr/>
          <p:nvPr/>
        </p:nvCxnSpPr>
        <p:spPr>
          <a:xfrm flipH="1" flipV="1">
            <a:off x="5669280" y="3419856"/>
            <a:ext cx="164592" cy="68580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5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0864" y="0"/>
            <a:ext cx="4700016" cy="5088710"/>
          </a:xfrm>
        </p:spPr>
      </p:pic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73</a:t>
            </a:fld>
            <a:endParaRPr lang="da-DK" dirty="0"/>
          </a:p>
        </p:txBody>
      </p:sp>
      <p:cxnSp>
        <p:nvCxnSpPr>
          <p:cNvPr id="7" name="Lige pilforbindelse 6"/>
          <p:cNvCxnSpPr/>
          <p:nvPr/>
        </p:nvCxnSpPr>
        <p:spPr>
          <a:xfrm>
            <a:off x="2898648" y="1017725"/>
            <a:ext cx="804672" cy="756211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78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6192" y="17180"/>
            <a:ext cx="5541264" cy="5126320"/>
          </a:xfrm>
        </p:spPr>
      </p:pic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74</a:t>
            </a:fld>
            <a:endParaRPr lang="da-DK" dirty="0"/>
          </a:p>
        </p:txBody>
      </p:sp>
      <p:cxnSp>
        <p:nvCxnSpPr>
          <p:cNvPr id="7" name="Lige pilforbindelse 6"/>
          <p:cNvCxnSpPr/>
          <p:nvPr/>
        </p:nvCxnSpPr>
        <p:spPr>
          <a:xfrm flipV="1">
            <a:off x="5312664" y="3685032"/>
            <a:ext cx="109728" cy="98866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pilforbindelse 7"/>
          <p:cNvCxnSpPr/>
          <p:nvPr/>
        </p:nvCxnSpPr>
        <p:spPr>
          <a:xfrm flipV="1">
            <a:off x="3409908" y="357170"/>
            <a:ext cx="109728" cy="98866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/>
          <p:cNvCxnSpPr/>
          <p:nvPr/>
        </p:nvCxnSpPr>
        <p:spPr>
          <a:xfrm flipV="1">
            <a:off x="2051304" y="304800"/>
            <a:ext cx="109728" cy="98866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/>
          <p:cNvCxnSpPr/>
          <p:nvPr/>
        </p:nvCxnSpPr>
        <p:spPr>
          <a:xfrm flipH="1">
            <a:off x="4507120" y="1345830"/>
            <a:ext cx="2396" cy="629274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/>
          <p:cNvCxnSpPr/>
          <p:nvPr/>
        </p:nvCxnSpPr>
        <p:spPr>
          <a:xfrm flipH="1">
            <a:off x="5792288" y="1345830"/>
            <a:ext cx="2396" cy="629274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36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5922" y="52303"/>
            <a:ext cx="4102038" cy="5014990"/>
          </a:xfrm>
        </p:spPr>
      </p:pic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75</a:t>
            </a:fld>
            <a:endParaRPr lang="da-DK" dirty="0"/>
          </a:p>
        </p:txBody>
      </p:sp>
      <p:sp>
        <p:nvSpPr>
          <p:cNvPr id="6" name="Tekstfelt 5"/>
          <p:cNvSpPr txBox="1"/>
          <p:nvPr/>
        </p:nvSpPr>
        <p:spPr>
          <a:xfrm>
            <a:off x="548708" y="1737360"/>
            <a:ext cx="18872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4/18/2026 1:44 PM:</a:t>
            </a:r>
          </a:p>
          <a:p>
            <a:r>
              <a:rPr lang="en-US" dirty="0" err="1"/>
              <a:t>Hvad</a:t>
            </a:r>
            <a:r>
              <a:rPr lang="en-US" dirty="0"/>
              <a:t> </a:t>
            </a:r>
            <a:r>
              <a:rPr lang="en-US" dirty="0" err="1"/>
              <a:t>faen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 ?</a:t>
            </a:r>
          </a:p>
          <a:p>
            <a:endParaRPr lang="en-US" dirty="0"/>
          </a:p>
          <a:p>
            <a:r>
              <a:rPr lang="en-US" dirty="0"/>
              <a:t>4/18/2026 1:50 PM</a:t>
            </a:r>
          </a:p>
          <a:p>
            <a:r>
              <a:rPr lang="en-US" dirty="0" err="1"/>
              <a:t>Blev</a:t>
            </a:r>
            <a:r>
              <a:rPr lang="en-US" dirty="0"/>
              <a:t> hacked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0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76</a:t>
            </a:fld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0"/>
            <a:ext cx="7715250" cy="5143500"/>
          </a:xfrm>
          <a:prstGeom prst="rect">
            <a:avLst/>
          </a:prstGeom>
        </p:spPr>
      </p:pic>
      <p:pic>
        <p:nvPicPr>
          <p:cNvPr id="6" name="Picture 2" descr="Horisontal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8251" y="4442790"/>
            <a:ext cx="1571995" cy="4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0228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77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 err="1"/>
              <a:t>Hvad</a:t>
            </a:r>
            <a:r>
              <a:rPr lang="en-US" sz="1600" b="1" dirty="0"/>
              <a:t> </a:t>
            </a:r>
            <a:r>
              <a:rPr lang="en-US" sz="1600" b="1" dirty="0" err="1"/>
              <a:t>skal</a:t>
            </a:r>
            <a:r>
              <a:rPr lang="en-US" sz="1600" b="1" dirty="0"/>
              <a:t> vi </a:t>
            </a:r>
            <a:r>
              <a:rPr lang="en-US" sz="1600" b="1" dirty="0" err="1"/>
              <a:t>være</a:t>
            </a:r>
            <a:r>
              <a:rPr lang="en-US" sz="1600" b="1" dirty="0"/>
              <a:t> </a:t>
            </a:r>
            <a:r>
              <a:rPr lang="en-US" sz="1600" b="1" dirty="0" err="1"/>
              <a:t>opmærksomme</a:t>
            </a:r>
            <a:r>
              <a:rPr lang="en-US" sz="1600" b="1" dirty="0"/>
              <a:t> </a:t>
            </a:r>
            <a:r>
              <a:rPr lang="en-US" sz="1600" b="1" dirty="0" err="1"/>
              <a:t>på</a:t>
            </a:r>
            <a:r>
              <a:rPr lang="en-US" sz="1600" b="1" dirty="0"/>
              <a:t>?</a:t>
            </a:r>
          </a:p>
          <a:p>
            <a:pPr marL="114300" indent="0">
              <a:buNone/>
            </a:pPr>
            <a:endParaRPr lang="en-US" sz="1600" dirty="0"/>
          </a:p>
          <a:p>
            <a:r>
              <a:rPr lang="en-US" sz="1600" dirty="0" err="1"/>
              <a:t>Brug</a:t>
            </a:r>
            <a:r>
              <a:rPr lang="en-US" sz="1600" dirty="0"/>
              <a:t> AI </a:t>
            </a:r>
            <a:r>
              <a:rPr lang="en-US" sz="1600" dirty="0" err="1"/>
              <a:t>ansvarligt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med </a:t>
            </a:r>
            <a:r>
              <a:rPr lang="en-US" sz="1600" dirty="0" err="1"/>
              <a:t>omtanke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Forstå</a:t>
            </a:r>
            <a:r>
              <a:rPr lang="en-US" sz="1600" dirty="0"/>
              <a:t> </a:t>
            </a:r>
            <a:r>
              <a:rPr lang="en-US" sz="1600" dirty="0" err="1"/>
              <a:t>risici</a:t>
            </a:r>
            <a:r>
              <a:rPr lang="en-US" sz="1600" dirty="0"/>
              <a:t> </a:t>
            </a:r>
            <a:r>
              <a:rPr lang="en-US" sz="1600" dirty="0" err="1"/>
              <a:t>før</a:t>
            </a:r>
            <a:r>
              <a:rPr lang="en-US" sz="1600" dirty="0"/>
              <a:t> du </a:t>
            </a:r>
            <a:r>
              <a:rPr lang="en-US" sz="1600" dirty="0" err="1"/>
              <a:t>anvender</a:t>
            </a:r>
            <a:r>
              <a:rPr lang="en-US" sz="1600" dirty="0"/>
              <a:t> </a:t>
            </a:r>
            <a:r>
              <a:rPr lang="en-US" sz="1600" dirty="0" err="1"/>
              <a:t>løsninger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Beskyt</a:t>
            </a:r>
            <a:r>
              <a:rPr lang="en-US" sz="1600" dirty="0"/>
              <a:t> data, </a:t>
            </a:r>
            <a:r>
              <a:rPr lang="en-US" sz="1600" dirty="0" err="1"/>
              <a:t>privatliv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rettigheder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Vær</a:t>
            </a:r>
            <a:r>
              <a:rPr lang="en-US" sz="1600" dirty="0"/>
              <a:t> </a:t>
            </a:r>
            <a:r>
              <a:rPr lang="en-US" sz="1600" dirty="0" err="1"/>
              <a:t>kritisk</a:t>
            </a:r>
            <a:r>
              <a:rPr lang="en-US" sz="1600" dirty="0"/>
              <a:t> over for output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beslutninger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Mennesket</a:t>
            </a:r>
            <a:r>
              <a:rPr lang="en-US" sz="1600" dirty="0"/>
              <a:t> </a:t>
            </a:r>
            <a:r>
              <a:rPr lang="en-US" sz="1600" dirty="0" err="1"/>
              <a:t>har</a:t>
            </a:r>
            <a:r>
              <a:rPr lang="en-US" sz="1600" dirty="0"/>
              <a:t> </a:t>
            </a:r>
            <a:r>
              <a:rPr lang="en-US" sz="1600" dirty="0" err="1"/>
              <a:t>altid</a:t>
            </a:r>
            <a:r>
              <a:rPr lang="en-US" sz="1600" dirty="0"/>
              <a:t> </a:t>
            </a:r>
            <a:r>
              <a:rPr lang="en-US" sz="1600" dirty="0" err="1"/>
              <a:t>det</a:t>
            </a:r>
            <a:r>
              <a:rPr lang="en-US" sz="1600" dirty="0"/>
              <a:t> </a:t>
            </a:r>
            <a:r>
              <a:rPr lang="en-US" sz="1600" dirty="0" err="1"/>
              <a:t>endelige</a:t>
            </a:r>
            <a:r>
              <a:rPr lang="en-US" sz="1600" dirty="0"/>
              <a:t> </a:t>
            </a:r>
            <a:r>
              <a:rPr lang="en-US" sz="1600" dirty="0" err="1"/>
              <a:t>ansvar</a:t>
            </a:r>
            <a:endParaRPr lang="en-US" sz="1600" dirty="0"/>
          </a:p>
          <a:p>
            <a:pPr marL="342900">
              <a:spcAft>
                <a:spcPts val="600"/>
              </a:spcAft>
            </a:pPr>
            <a:endParaRPr lang="da-DK" sz="135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Etik, risici og moral</a:t>
            </a:r>
          </a:p>
        </p:txBody>
      </p:sp>
    </p:spTree>
    <p:extLst>
      <p:ext uri="{BB962C8B-B14F-4D97-AF65-F5344CB8AC3E}">
        <p14:creationId xmlns:p14="http://schemas.microsoft.com/office/powerpoint/2010/main" val="13175961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78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i det forkerte hænder</a:t>
            </a:r>
          </a:p>
        </p:txBody>
      </p:sp>
      <p:pic>
        <p:nvPicPr>
          <p:cNvPr id="7" name="Pladsholder til indhold 6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0028" y="1000989"/>
            <a:ext cx="4834758" cy="3869187"/>
          </a:xfrm>
        </p:spPr>
      </p:pic>
    </p:spTree>
    <p:extLst>
      <p:ext uri="{BB962C8B-B14F-4D97-AF65-F5344CB8AC3E}">
        <p14:creationId xmlns:p14="http://schemas.microsoft.com/office/powerpoint/2010/main" val="30108633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79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i det forkerte hænder</a:t>
            </a:r>
          </a:p>
        </p:txBody>
      </p:sp>
      <p:pic>
        <p:nvPicPr>
          <p:cNvPr id="7" name="Pladsholder til indhold 6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5946" y="958935"/>
            <a:ext cx="4971392" cy="3978532"/>
          </a:xfrm>
        </p:spPr>
      </p:pic>
    </p:spTree>
    <p:extLst>
      <p:ext uri="{BB962C8B-B14F-4D97-AF65-F5344CB8AC3E}">
        <p14:creationId xmlns:p14="http://schemas.microsoft.com/office/powerpoint/2010/main" val="10435416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80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058055" y="958928"/>
            <a:ext cx="6401166" cy="3512102"/>
          </a:xfrm>
        </p:spPr>
        <p:txBody>
          <a:bodyPr>
            <a:normAutofit/>
          </a:bodyPr>
          <a:lstStyle/>
          <a:p>
            <a:pPr marL="342900">
              <a:spcAft>
                <a:spcPts val="600"/>
              </a:spcAft>
            </a:pPr>
            <a:r>
              <a:rPr lang="da-DK" dirty="0"/>
              <a:t>Hvem har rettighederne, til AI genereret materiale?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AI Rettigheder</a:t>
            </a:r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326172"/>
              </p:ext>
            </p:extLst>
          </p:nvPr>
        </p:nvGraphicFramePr>
        <p:xfrm>
          <a:off x="963461" y="1348082"/>
          <a:ext cx="7306332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3166">
                  <a:extLst>
                    <a:ext uri="{9D8B030D-6E8A-4147-A177-3AD203B41FA5}">
                      <a16:colId xmlns:a16="http://schemas.microsoft.com/office/drawing/2014/main" val="2481820247"/>
                    </a:ext>
                  </a:extLst>
                </a:gridCol>
                <a:gridCol w="3653166">
                  <a:extLst>
                    <a:ext uri="{9D8B030D-6E8A-4147-A177-3AD203B41FA5}">
                      <a16:colId xmlns:a16="http://schemas.microsoft.com/office/drawing/2014/main" val="1031404709"/>
                    </a:ext>
                  </a:extLst>
                </a:gridCol>
              </a:tblGrid>
              <a:tr h="2816771">
                <a:tc>
                  <a:txBody>
                    <a:bodyPr/>
                    <a:lstStyle/>
                    <a:p>
                      <a:r>
                        <a:rPr lang="en-US" sz="1600" u="sng" dirty="0" err="1"/>
                        <a:t>ChatGPT</a:t>
                      </a:r>
                      <a:endParaRPr lang="en-US" sz="1600" u="sng" dirty="0"/>
                    </a:p>
                    <a:p>
                      <a:endParaRPr lang="da-DK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dirty="0"/>
                        <a:t>Ofte: den der har lavet prompten / genereret billedet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da-DK" sz="16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dirty="0"/>
                        <a:t>Men: afhænger af platformens vilkår (fx </a:t>
                      </a:r>
                      <a:r>
                        <a:rPr lang="da-DK" sz="1600" b="0" dirty="0" err="1"/>
                        <a:t>Midjourney</a:t>
                      </a:r>
                      <a:r>
                        <a:rPr lang="da-DK" sz="1600" b="0" dirty="0"/>
                        <a:t>, DALL·E m.fl.)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da-DK" sz="16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dirty="0"/>
                        <a:t>AI selv kan ikke have ophavsret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da-DK" sz="16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b="0" dirty="0"/>
                        <a:t>I nogle lande: kræver ophavsret “menneskelig kreativitet”</a:t>
                      </a:r>
                    </a:p>
                    <a:p>
                      <a:endParaRPr lang="en-US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/>
                        <a:t>Copilot</a:t>
                      </a:r>
                      <a:endParaRPr lang="en-US" u="sng" dirty="0"/>
                    </a:p>
                    <a:p>
                      <a:endParaRPr lang="en-US" u="sng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dirty="0"/>
                        <a:t>Kun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mennesker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kan</a:t>
                      </a:r>
                      <a:r>
                        <a:rPr lang="en-US" sz="1600" b="0" u="none" baseline="0" dirty="0"/>
                        <a:t> have </a:t>
                      </a:r>
                      <a:r>
                        <a:rPr lang="en-US" sz="1600" b="0" u="none" baseline="0" dirty="0" err="1"/>
                        <a:t>ophavsret</a:t>
                      </a:r>
                      <a:endParaRPr lang="en-US" sz="1600" b="0" u="none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b="0" u="none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baseline="0" dirty="0" err="1"/>
                        <a:t>Menneskelig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kreativ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indflydelse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tæller</a:t>
                      </a:r>
                      <a:endParaRPr lang="en-US" sz="1600" b="0" u="none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b="0" u="none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baseline="0" dirty="0" err="1"/>
                        <a:t>AI’en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eller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udvikleren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ejer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ikke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automatisk</a:t>
                      </a:r>
                      <a:r>
                        <a:rPr lang="en-US" sz="1600" b="0" u="none" baseline="0" dirty="0"/>
                        <a:t> </a:t>
                      </a:r>
                      <a:r>
                        <a:rPr lang="en-US" sz="1600" b="0" u="none" baseline="0" dirty="0" err="1"/>
                        <a:t>rettighederne</a:t>
                      </a:r>
                      <a:endParaRPr lang="en-US" sz="1600" b="0" u="none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b="0" u="none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baseline="0" dirty="0"/>
                        <a:t>I </a:t>
                      </a:r>
                      <a:r>
                        <a:rPr lang="en-US" sz="1600" b="0" u="none" baseline="0" dirty="0" err="1"/>
                        <a:t>Danmark</a:t>
                      </a:r>
                      <a:r>
                        <a:rPr lang="en-US" sz="1600" b="0" u="none" baseline="0" dirty="0"/>
                        <a:t>: </a:t>
                      </a:r>
                      <a:r>
                        <a:rPr lang="en-US" sz="1600" b="0" u="none" baseline="0" dirty="0" err="1"/>
                        <a:t>Særregler</a:t>
                      </a:r>
                      <a:r>
                        <a:rPr lang="en-US" sz="1600" b="0" u="none" baseline="0" dirty="0"/>
                        <a:t> om </a:t>
                      </a:r>
                      <a:r>
                        <a:rPr lang="en-US" sz="1600" b="0" u="none" baseline="0" dirty="0" err="1"/>
                        <a:t>deepfakes</a:t>
                      </a:r>
                      <a:endParaRPr lang="en-US" sz="16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3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ladsholder til indhold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41343"/>
              </p:ext>
            </p:extLst>
          </p:nvPr>
        </p:nvGraphicFramePr>
        <p:xfrm>
          <a:off x="639160" y="1813523"/>
          <a:ext cx="7886700" cy="2390614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6698509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767951874"/>
                    </a:ext>
                  </a:extLst>
                </a:gridCol>
              </a:tblGrid>
              <a:tr h="322995">
                <a:tc>
                  <a:txBody>
                    <a:bodyPr/>
                    <a:lstStyle/>
                    <a:p>
                      <a:r>
                        <a:rPr lang="en-US" sz="1300" b="1" dirty="0"/>
                        <a:t>Situation</a:t>
                      </a:r>
                    </a:p>
                  </a:txBody>
                  <a:tcPr marL="84626" marR="84626" marT="42313" marB="423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 err="1"/>
                        <a:t>Hvem</a:t>
                      </a:r>
                      <a:r>
                        <a:rPr lang="en-US" sz="1300" b="1" dirty="0"/>
                        <a:t> </a:t>
                      </a:r>
                      <a:r>
                        <a:rPr lang="en-US" sz="1300" b="1" dirty="0" err="1"/>
                        <a:t>har</a:t>
                      </a:r>
                      <a:r>
                        <a:rPr lang="en-US" sz="1300" b="1" dirty="0"/>
                        <a:t> </a:t>
                      </a:r>
                      <a:r>
                        <a:rPr lang="en-US" sz="1300" b="1" dirty="0" err="1"/>
                        <a:t>rettighederne</a:t>
                      </a:r>
                      <a:r>
                        <a:rPr lang="en-US" sz="1300" b="1" dirty="0"/>
                        <a:t>?</a:t>
                      </a:r>
                    </a:p>
                  </a:txBody>
                  <a:tcPr marL="84626" marR="84626" marT="42313" marB="42313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037059"/>
                  </a:ext>
                </a:extLst>
              </a:tr>
              <a:tr h="322995">
                <a:tc>
                  <a:txBody>
                    <a:bodyPr/>
                    <a:lstStyle/>
                    <a:p>
                      <a:endParaRPr lang="en-US" sz="1300" dirty="0">
                        <a:effectLst/>
                      </a:endParaRPr>
                    </a:p>
                  </a:txBody>
                  <a:tcPr marL="84626" marR="84626" marT="42313" marB="423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effectLst/>
                      </a:endParaRPr>
                    </a:p>
                  </a:txBody>
                  <a:tcPr marL="84626" marR="84626" marT="42313" marB="423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07684"/>
                  </a:ext>
                </a:extLst>
              </a:tr>
              <a:tr h="322995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Rent AI‑genereret billede</a:t>
                      </a:r>
                    </a:p>
                  </a:txBody>
                  <a:tcPr marL="84626" marR="84626" marT="42313" marB="423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Ingen (ingen ophavsret)</a:t>
                      </a:r>
                    </a:p>
                  </a:txBody>
                  <a:tcPr marL="84626" marR="84626" marT="42313" marB="423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11075"/>
                  </a:ext>
                </a:extLst>
              </a:tr>
              <a:tr h="322995">
                <a:tc>
                  <a:txBody>
                    <a:bodyPr/>
                    <a:lstStyle/>
                    <a:p>
                      <a:r>
                        <a:rPr lang="da-DK" sz="1300" dirty="0">
                          <a:effectLst/>
                        </a:rPr>
                        <a:t>AI brugt som kreativt værktøj</a:t>
                      </a:r>
                    </a:p>
                  </a:txBody>
                  <a:tcPr marL="84626" marR="84626" marT="42313" marB="423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effectLst/>
                        </a:rPr>
                        <a:t>Mennesket bag den kreative indsats</a:t>
                      </a:r>
                    </a:p>
                  </a:txBody>
                  <a:tcPr marL="84626" marR="84626" marT="42313" marB="423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05258"/>
                  </a:ext>
                </a:extLst>
              </a:tr>
              <a:tr h="549317">
                <a:tc>
                  <a:txBody>
                    <a:bodyPr/>
                    <a:lstStyle/>
                    <a:p>
                      <a:r>
                        <a:rPr lang="da-DK" sz="1300">
                          <a:effectLst/>
                        </a:rPr>
                        <a:t>AI laver billede af en virkelig person</a:t>
                      </a:r>
                    </a:p>
                  </a:txBody>
                  <a:tcPr marL="84626" marR="84626" marT="42313" marB="423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300">
                          <a:effectLst/>
                        </a:rPr>
                        <a:t>Personen kan have rettigheder til sit udseende (DK)</a:t>
                      </a:r>
                    </a:p>
                  </a:txBody>
                  <a:tcPr marL="84626" marR="84626" marT="42313" marB="423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445199"/>
                  </a:ext>
                </a:extLst>
              </a:tr>
              <a:tr h="549317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Platformens vilkår</a:t>
                      </a:r>
                    </a:p>
                  </a:txBody>
                  <a:tcPr marL="84626" marR="84626" marT="42313" marB="423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dirty="0">
                          <a:effectLst/>
                        </a:rPr>
                        <a:t>Regulerer brug, men skaber ikke ophavsret i sig selv</a:t>
                      </a:r>
                    </a:p>
                  </a:txBody>
                  <a:tcPr marL="84626" marR="84626" marT="42313" marB="423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56769"/>
                  </a:ext>
                </a:extLst>
              </a:tr>
            </a:tbl>
          </a:graphicData>
        </a:graphic>
      </p:graphicFrame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47CDE5-0717-48E4-9385-7C842E50026E}" type="slidenum">
              <a:rPr lang="da-DK" smtClean="0"/>
              <a:pPr/>
              <a:t>81</a:t>
            </a:fld>
            <a:endParaRPr lang="da-DK" dirty="0"/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1058055" y="958928"/>
            <a:ext cx="6401166" cy="35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>
              <a:spcAft>
                <a:spcPts val="600"/>
              </a:spcAft>
            </a:pPr>
            <a:r>
              <a:rPr lang="da-DK"/>
              <a:t>Hvem har rettighederne, til AI genereret materiale?</a:t>
            </a:r>
            <a:endParaRPr lang="da-DK" dirty="0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963461" y="461842"/>
            <a:ext cx="7306332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4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45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a-DK" b="1" i="1"/>
              <a:t>AI Rettigheder</a:t>
            </a:r>
            <a:endParaRPr lang="da-DK" b="1" i="1" dirty="0"/>
          </a:p>
        </p:txBody>
      </p:sp>
    </p:spTree>
    <p:extLst>
      <p:ext uri="{BB962C8B-B14F-4D97-AF65-F5344CB8AC3E}">
        <p14:creationId xmlns:p14="http://schemas.microsoft.com/office/powerpoint/2010/main" val="21500219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5381-FB95-86A8-B2D2-4B7ED20D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1DB62C62-8429-F82E-0A97-DF5DAAC5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30CACE3-50ED-B306-25EC-7D7D7FE624E7}"/>
              </a:ext>
            </a:extLst>
          </p:cNvPr>
          <p:cNvSpPr txBox="1"/>
          <p:nvPr/>
        </p:nvSpPr>
        <p:spPr>
          <a:xfrm>
            <a:off x="2186353" y="1966269"/>
            <a:ext cx="481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 i="1" dirty="0"/>
              <a:t>AI og bæredygtighed</a:t>
            </a:r>
            <a:endParaRPr lang="da-DK" sz="3600" i="1" dirty="0">
              <a:solidFill>
                <a:srgbClr val="0045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2214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83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614379" cy="351210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da-DK" sz="1600" b="1" dirty="0"/>
              <a:t>AI og energiforbrug</a:t>
            </a:r>
          </a:p>
          <a:p>
            <a:pPr marL="114300" indent="0">
              <a:buNone/>
            </a:pPr>
            <a:endParaRPr lang="da-DK" sz="1600" b="1" dirty="0"/>
          </a:p>
          <a:p>
            <a:r>
              <a:rPr lang="da-DK" sz="1600" dirty="0"/>
              <a:t>AI kræver store mængder beregning (</a:t>
            </a:r>
            <a:r>
              <a:rPr lang="da-DK" sz="1600" dirty="0" err="1"/>
              <a:t>compute</a:t>
            </a:r>
            <a:r>
              <a:rPr lang="da-DK" sz="1600" dirty="0"/>
              <a:t>) </a:t>
            </a:r>
          </a:p>
          <a:p>
            <a:r>
              <a:rPr lang="da-DK" sz="1600" dirty="0"/>
              <a:t>Træning og brug (</a:t>
            </a:r>
            <a:r>
              <a:rPr lang="da-DK" sz="1600" dirty="0" err="1"/>
              <a:t>inferens</a:t>
            </a:r>
            <a:r>
              <a:rPr lang="da-DK" sz="1600" dirty="0"/>
              <a:t>) bruger begge strøm </a:t>
            </a:r>
          </a:p>
          <a:p>
            <a:r>
              <a:rPr lang="da-DK" sz="1600" dirty="0"/>
              <a:t>Energiforbruget vokser hurtigt globalt </a:t>
            </a:r>
          </a:p>
          <a:p>
            <a:r>
              <a:rPr lang="da-DK" sz="1600" dirty="0"/>
              <a:t>Datacentre er centrale drivere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</p:spTree>
    <p:extLst>
      <p:ext uri="{BB962C8B-B14F-4D97-AF65-F5344CB8AC3E}">
        <p14:creationId xmlns:p14="http://schemas.microsoft.com/office/powerpoint/2010/main" val="19735758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84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da-DK" sz="1600" b="1" dirty="0"/>
              <a:t>Klima og CO₂-aftryk</a:t>
            </a:r>
          </a:p>
          <a:p>
            <a:pPr marL="114300" indent="0">
              <a:buNone/>
            </a:pPr>
            <a:endParaRPr lang="da-DK" sz="1600" b="1" dirty="0"/>
          </a:p>
          <a:p>
            <a:r>
              <a:rPr lang="da-DK" sz="1600" dirty="0"/>
              <a:t>AI bidrager til øget CO₂-udledning </a:t>
            </a:r>
          </a:p>
          <a:p>
            <a:r>
              <a:rPr lang="da-DK" sz="1600" dirty="0"/>
              <a:t>Ikke kun drift – også produktion af hardware </a:t>
            </a:r>
          </a:p>
          <a:p>
            <a:r>
              <a:rPr lang="da-DK" sz="1600" dirty="0"/>
              <a:t>Chips og datacentre er energitunge </a:t>
            </a:r>
          </a:p>
          <a:p>
            <a:r>
              <a:rPr lang="da-DK" sz="1600" dirty="0"/>
              <a:t>Samlet klimaaftryk er svært at måle præcist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4864607" y="613349"/>
            <a:ext cx="4279393" cy="44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da-DK" sz="3400" b="1" dirty="0"/>
              <a:t>Påstand: Høflighed koster millioner</a:t>
            </a:r>
          </a:p>
          <a:p>
            <a:pPr marL="114300" indent="0">
              <a:buNone/>
            </a:pPr>
            <a:r>
              <a:rPr lang="da-DK" sz="3400" dirty="0"/>
              <a:t>Ja – men kun i </a:t>
            </a:r>
            <a:r>
              <a:rPr lang="da-DK" sz="3400" b="1" dirty="0"/>
              <a:t>stor skala</a:t>
            </a:r>
            <a:endParaRPr lang="da-DK" sz="3400" dirty="0"/>
          </a:p>
          <a:p>
            <a:pPr marL="114300" indent="0">
              <a:buNone/>
            </a:pPr>
            <a:r>
              <a:rPr lang="da-DK" sz="3400" dirty="0"/>
              <a:t>Hvis vi antager:</a:t>
            </a:r>
          </a:p>
          <a:p>
            <a:r>
              <a:rPr lang="da-DK" sz="3400" dirty="0"/>
              <a:t>1 ekstra prompt (“</a:t>
            </a:r>
            <a:r>
              <a:rPr lang="da-DK" sz="3400" dirty="0" err="1"/>
              <a:t>please</a:t>
            </a:r>
            <a:r>
              <a:rPr lang="da-DK" sz="3400" dirty="0"/>
              <a:t>”) = ~0,3 </a:t>
            </a:r>
            <a:r>
              <a:rPr lang="da-DK" sz="3400" dirty="0" err="1"/>
              <a:t>Wh</a:t>
            </a:r>
            <a:r>
              <a:rPr lang="da-DK" sz="3400" dirty="0"/>
              <a:t> </a:t>
            </a:r>
          </a:p>
          <a:p>
            <a:r>
              <a:rPr lang="da-DK" sz="3400" dirty="0"/>
              <a:t>1 milliard prompts/dag </a:t>
            </a:r>
          </a:p>
          <a:p>
            <a:pPr marL="114300" indent="0">
              <a:buNone/>
            </a:pPr>
            <a:endParaRPr lang="da-DK" sz="3400" dirty="0"/>
          </a:p>
          <a:p>
            <a:pPr marL="114300" indent="0">
              <a:buNone/>
            </a:pPr>
            <a:r>
              <a:rPr lang="da-DK" sz="3400" dirty="0"/>
              <a:t>Energi:</a:t>
            </a:r>
          </a:p>
          <a:p>
            <a:r>
              <a:rPr lang="da-DK" sz="3400" dirty="0"/>
              <a:t>0,3 </a:t>
            </a:r>
            <a:r>
              <a:rPr lang="da-DK" sz="3400" dirty="0" err="1"/>
              <a:t>Wh</a:t>
            </a:r>
            <a:r>
              <a:rPr lang="da-DK" sz="3400" dirty="0"/>
              <a:t> × 1 </a:t>
            </a:r>
            <a:r>
              <a:rPr lang="da-DK" sz="3400" dirty="0" err="1"/>
              <a:t>mia</a:t>
            </a:r>
            <a:r>
              <a:rPr lang="da-DK" sz="3400" dirty="0"/>
              <a:t> = </a:t>
            </a:r>
            <a:r>
              <a:rPr lang="da-DK" sz="3400" b="1" dirty="0"/>
              <a:t>300 MWh/dag</a:t>
            </a:r>
            <a:r>
              <a:rPr lang="da-DK" sz="3400" dirty="0"/>
              <a:t> </a:t>
            </a:r>
          </a:p>
          <a:p>
            <a:pPr marL="114300" indent="0">
              <a:buNone/>
            </a:pPr>
            <a:endParaRPr lang="da-DK" sz="3400" dirty="0"/>
          </a:p>
          <a:p>
            <a:pPr marL="114300" indent="0">
              <a:buNone/>
            </a:pPr>
            <a:r>
              <a:rPr lang="da-DK" sz="3400" dirty="0"/>
              <a:t>Pris:</a:t>
            </a:r>
          </a:p>
          <a:p>
            <a:r>
              <a:rPr lang="da-DK" sz="3400" dirty="0"/>
              <a:t>300.000 kWh × 2,5 </a:t>
            </a:r>
            <a:r>
              <a:rPr lang="da-DK" sz="3400" dirty="0" err="1"/>
              <a:t>kr</a:t>
            </a:r>
            <a:r>
              <a:rPr lang="da-DK" sz="3400" dirty="0"/>
              <a:t> ≈ </a:t>
            </a:r>
            <a:r>
              <a:rPr lang="da-DK" sz="3400" b="1" dirty="0"/>
              <a:t>750.000 </a:t>
            </a:r>
            <a:r>
              <a:rPr lang="da-DK" sz="3400" b="1" dirty="0" err="1"/>
              <a:t>kr</a:t>
            </a:r>
            <a:r>
              <a:rPr lang="da-DK" sz="3400" b="1" dirty="0"/>
              <a:t> pr. dag</a:t>
            </a:r>
            <a:r>
              <a:rPr lang="da-DK" sz="3400" dirty="0"/>
              <a:t> </a:t>
            </a:r>
          </a:p>
          <a:p>
            <a:r>
              <a:rPr lang="da-DK" sz="3400" dirty="0"/>
              <a:t>≈ </a:t>
            </a:r>
            <a:r>
              <a:rPr lang="da-DK" sz="3400" b="1" dirty="0"/>
              <a:t>270 mio. </a:t>
            </a:r>
            <a:r>
              <a:rPr lang="da-DK" sz="3400" b="1" dirty="0" err="1"/>
              <a:t>kr</a:t>
            </a:r>
            <a:r>
              <a:rPr lang="da-DK" sz="3400" b="1" dirty="0"/>
              <a:t> / år</a:t>
            </a:r>
            <a:r>
              <a:rPr lang="da-DK" sz="3400" dirty="0"/>
              <a:t> </a:t>
            </a:r>
          </a:p>
          <a:p>
            <a:pPr marL="114300" indent="0">
              <a:buNone/>
            </a:pPr>
            <a:endParaRPr lang="da-DK" sz="3400" dirty="0"/>
          </a:p>
          <a:p>
            <a:pPr marL="114300" indent="0">
              <a:buNone/>
            </a:pPr>
            <a:r>
              <a:rPr lang="da-DK" sz="3400" dirty="0"/>
              <a:t>Globalt (flere milliarder prompts dagligt):</a:t>
            </a:r>
          </a:p>
          <a:p>
            <a:r>
              <a:rPr lang="da-DK" sz="3400" dirty="0"/>
              <a:t>Kan ramme </a:t>
            </a:r>
            <a:r>
              <a:rPr lang="da-DK" sz="3400" b="1" dirty="0"/>
              <a:t>millioner af dollars årligt</a:t>
            </a:r>
            <a:r>
              <a:rPr lang="da-DK" sz="3400" dirty="0"/>
              <a:t> </a:t>
            </a:r>
          </a:p>
          <a:p>
            <a:pPr marL="114300" indent="0">
              <a:buNone/>
            </a:pPr>
            <a:endParaRPr lang="da-DK" sz="3400" dirty="0"/>
          </a:p>
          <a:p>
            <a:pPr marL="114300" indent="0">
              <a:buFont typeface="Arial"/>
              <a:buNone/>
            </a:pPr>
            <a:endParaRPr lang="da-DK" sz="1600" b="1" dirty="0"/>
          </a:p>
        </p:txBody>
      </p:sp>
    </p:spTree>
    <p:extLst>
      <p:ext uri="{BB962C8B-B14F-4D97-AF65-F5344CB8AC3E}">
        <p14:creationId xmlns:p14="http://schemas.microsoft.com/office/powerpoint/2010/main" val="157042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85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da-DK" sz="1600" b="1" dirty="0"/>
              <a:t>Vandforbrug</a:t>
            </a:r>
          </a:p>
          <a:p>
            <a:pPr marL="114300" indent="0">
              <a:buNone/>
            </a:pPr>
            <a:endParaRPr lang="da-DK" sz="1400" b="1" dirty="0"/>
          </a:p>
          <a:p>
            <a:r>
              <a:rPr lang="da-DK" sz="1600" dirty="0"/>
              <a:t>Datacentre bruger vand til køling </a:t>
            </a:r>
          </a:p>
          <a:p>
            <a:r>
              <a:rPr lang="da-DK" sz="1600" dirty="0"/>
              <a:t>Store mængder ferskvand forbruges </a:t>
            </a:r>
          </a:p>
          <a:p>
            <a:r>
              <a:rPr lang="da-DK" sz="1600" dirty="0"/>
              <a:t>AI-opgaver har et skjult vandaftryk </a:t>
            </a:r>
          </a:p>
          <a:p>
            <a:r>
              <a:rPr lang="da-DK" sz="1600" dirty="0"/>
              <a:t>Kan skabe lokale ressourcekonflikter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  <p:sp>
        <p:nvSpPr>
          <p:cNvPr id="7" name="Pladsholder til indhold 2"/>
          <p:cNvSpPr txBox="1">
            <a:spLocks/>
          </p:cNvSpPr>
          <p:nvPr/>
        </p:nvSpPr>
        <p:spPr>
          <a:xfrm>
            <a:off x="4846613" y="1233625"/>
            <a:ext cx="4222881" cy="198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da-DK" sz="1600" b="1" dirty="0"/>
              <a:t>Vand til køling:</a:t>
            </a:r>
          </a:p>
          <a:p>
            <a:pPr marL="114300" indent="0">
              <a:buFont typeface="Arial"/>
              <a:buNone/>
            </a:pPr>
            <a:endParaRPr lang="da-DK" sz="1400" b="1" dirty="0"/>
          </a:p>
          <a:p>
            <a:r>
              <a:rPr lang="da-DK" sz="1600" dirty="0"/>
              <a:t>Tekst 1-linje / kort svar:</a:t>
            </a:r>
          </a:p>
          <a:p>
            <a:r>
              <a:rPr lang="da-DK" sz="1600" dirty="0"/>
              <a:t>Estimeret – 0.3 ml vand pr. prompt</a:t>
            </a:r>
          </a:p>
          <a:p>
            <a:endParaRPr lang="da-DK" sz="1600" dirty="0"/>
          </a:p>
          <a:p>
            <a:r>
              <a:rPr lang="da-DK" sz="1600" dirty="0"/>
              <a:t>Billede / 100 ord:</a:t>
            </a:r>
          </a:p>
          <a:p>
            <a:r>
              <a:rPr lang="da-DK" sz="1600" dirty="0"/>
              <a:t>500-520 ml vand</a:t>
            </a:r>
          </a:p>
          <a:p>
            <a:pPr marL="114300" indent="0">
              <a:buNone/>
            </a:pPr>
            <a:endParaRPr lang="da-DK" sz="1600" dirty="0"/>
          </a:p>
        </p:txBody>
      </p:sp>
      <p:sp>
        <p:nvSpPr>
          <p:cNvPr id="8" name="Rektangel 7"/>
          <p:cNvSpPr/>
          <p:nvPr/>
        </p:nvSpPr>
        <p:spPr>
          <a:xfrm>
            <a:off x="4672053" y="3030264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https://www.businessenergyuk.com/knowledge-hub/chatgpt-energy-consumption-visualized/</a:t>
            </a:r>
          </a:p>
        </p:txBody>
      </p:sp>
    </p:spTree>
    <p:extLst>
      <p:ext uri="{BB962C8B-B14F-4D97-AF65-F5344CB8AC3E}">
        <p14:creationId xmlns:p14="http://schemas.microsoft.com/office/powerpoint/2010/main" val="20387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86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351210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600" b="1" dirty="0" err="1"/>
              <a:t>Udfordringer</a:t>
            </a:r>
            <a:r>
              <a:rPr lang="en-US" sz="1600" b="1" dirty="0"/>
              <a:t> </a:t>
            </a:r>
            <a:r>
              <a:rPr lang="en-US" sz="1600" b="1" dirty="0" err="1"/>
              <a:t>og</a:t>
            </a:r>
            <a:r>
              <a:rPr lang="en-US" sz="1600" b="1" dirty="0"/>
              <a:t> </a:t>
            </a:r>
            <a:r>
              <a:rPr lang="en-US" sz="1600" b="1" dirty="0" err="1"/>
              <a:t>fremtid</a:t>
            </a: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r>
              <a:rPr lang="en-US" sz="1600" dirty="0" err="1"/>
              <a:t>Energibehovet</a:t>
            </a:r>
            <a:r>
              <a:rPr lang="en-US" sz="1600" dirty="0"/>
              <a:t> </a:t>
            </a:r>
            <a:r>
              <a:rPr lang="en-US" sz="1600" dirty="0" err="1"/>
              <a:t>vokser</a:t>
            </a:r>
            <a:r>
              <a:rPr lang="en-US" sz="1600" dirty="0"/>
              <a:t> </a:t>
            </a:r>
            <a:r>
              <a:rPr lang="en-US" sz="1600" dirty="0" err="1"/>
              <a:t>markant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Få</a:t>
            </a:r>
            <a:r>
              <a:rPr lang="en-US" sz="1600" dirty="0"/>
              <a:t> </a:t>
            </a:r>
            <a:r>
              <a:rPr lang="en-US" sz="1600" dirty="0" err="1"/>
              <a:t>nemme</a:t>
            </a:r>
            <a:r>
              <a:rPr lang="en-US" sz="1600" dirty="0"/>
              <a:t> </a:t>
            </a:r>
            <a:r>
              <a:rPr lang="en-US" sz="1600" dirty="0" err="1"/>
              <a:t>løsninger</a:t>
            </a:r>
            <a:r>
              <a:rPr lang="en-US" sz="1600" dirty="0"/>
              <a:t> </a:t>
            </a:r>
            <a:r>
              <a:rPr lang="en-US" sz="1600" dirty="0" err="1"/>
              <a:t>på</a:t>
            </a:r>
            <a:r>
              <a:rPr lang="en-US" sz="1600" dirty="0"/>
              <a:t> </a:t>
            </a:r>
            <a:r>
              <a:rPr lang="en-US" sz="1600" dirty="0" err="1"/>
              <a:t>kort</a:t>
            </a:r>
            <a:r>
              <a:rPr lang="en-US" sz="1600" dirty="0"/>
              <a:t> </a:t>
            </a:r>
            <a:r>
              <a:rPr lang="en-US" sz="1600" dirty="0" err="1"/>
              <a:t>sigt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Manglende</a:t>
            </a:r>
            <a:r>
              <a:rPr lang="en-US" sz="1600" dirty="0"/>
              <a:t> </a:t>
            </a:r>
            <a:r>
              <a:rPr lang="en-US" sz="1600" dirty="0" err="1"/>
              <a:t>standarder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målinger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Behov</a:t>
            </a:r>
            <a:r>
              <a:rPr lang="en-US" sz="1600" dirty="0"/>
              <a:t> for </a:t>
            </a:r>
            <a:r>
              <a:rPr lang="en-US" sz="1600" dirty="0" err="1"/>
              <a:t>ansvarlig</a:t>
            </a:r>
            <a:r>
              <a:rPr lang="en-US" sz="1600" dirty="0"/>
              <a:t>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bevidst</a:t>
            </a:r>
            <a:r>
              <a:rPr lang="en-US" sz="1600" dirty="0"/>
              <a:t> </a:t>
            </a:r>
            <a:r>
              <a:rPr lang="en-US" sz="1600" dirty="0" err="1"/>
              <a:t>brug</a:t>
            </a:r>
            <a:endParaRPr lang="en-US" sz="16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</p:spTree>
    <p:extLst>
      <p:ext uri="{BB962C8B-B14F-4D97-AF65-F5344CB8AC3E}">
        <p14:creationId xmlns:p14="http://schemas.microsoft.com/office/powerpoint/2010/main" val="345297976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87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4222881" cy="467159"/>
          </a:xfrm>
        </p:spPr>
        <p:txBody>
          <a:bodyPr>
            <a:noAutofit/>
          </a:bodyPr>
          <a:lstStyle/>
          <a:p>
            <a:pPr marL="342900">
              <a:spcAft>
                <a:spcPts val="600"/>
              </a:spcAft>
            </a:pPr>
            <a:r>
              <a:rPr lang="da-DK" sz="1600" dirty="0"/>
              <a:t>Hvad bruger mest strøm, AI eller elbiler?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1318498" y="1581912"/>
            <a:ext cx="7240286" cy="275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da-DK" sz="1400" dirty="0"/>
              <a:t>Perspektiv - Elbiler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sz="1400" dirty="0"/>
              <a:t>Den gennemsnitlige dansker kører </a:t>
            </a:r>
          </a:p>
          <a:p>
            <a:pPr marL="285750" indent="-285750">
              <a:spcAft>
                <a:spcPts val="600"/>
              </a:spcAft>
            </a:pPr>
            <a:r>
              <a:rPr lang="da-DK" sz="1400" dirty="0"/>
              <a:t>285km om ugen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sz="1400" dirty="0"/>
              <a:t>Den gennemsnitlige elbil bruger </a:t>
            </a:r>
          </a:p>
          <a:p>
            <a:pPr marL="285750" indent="-285750">
              <a:spcAft>
                <a:spcPts val="600"/>
              </a:spcAft>
            </a:pPr>
            <a:r>
              <a:rPr lang="da-DK" sz="1400" dirty="0"/>
              <a:t>7kWh/100km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sz="1400" dirty="0"/>
              <a:t>Den gennemsnitlige danske elbilsejer bruger</a:t>
            </a:r>
          </a:p>
          <a:p>
            <a:pPr marL="285750" indent="-285750">
              <a:spcAft>
                <a:spcPts val="600"/>
              </a:spcAft>
            </a:pPr>
            <a:r>
              <a:rPr lang="da-DK" sz="1400" u="sng" dirty="0"/>
              <a:t>50kWh om ugen</a:t>
            </a:r>
          </a:p>
          <a:p>
            <a:pPr marL="285750" indent="-285750">
              <a:spcAft>
                <a:spcPts val="600"/>
              </a:spcAft>
            </a:pPr>
            <a:endParaRPr lang="da-DK" sz="1400" u="sng" dirty="0"/>
          </a:p>
          <a:p>
            <a:pPr marL="285750" indent="-285750">
              <a:spcAft>
                <a:spcPts val="600"/>
              </a:spcAft>
            </a:pPr>
            <a:r>
              <a:rPr lang="da-DK" sz="1400" u="sng" dirty="0">
                <a:sym typeface="Wingdings" panose="05000000000000000000" pitchFamily="2" charset="2"/>
              </a:rPr>
              <a:t> 500.000 elbiler giver et årligt gennemsnitligt forbrug på 1,3 </a:t>
            </a:r>
            <a:r>
              <a:rPr lang="da-DK" sz="1400" u="sng" dirty="0" err="1">
                <a:sym typeface="Wingdings" panose="05000000000000000000" pitchFamily="2" charset="2"/>
              </a:rPr>
              <a:t>tWh</a:t>
            </a:r>
            <a:r>
              <a:rPr lang="da-DK" sz="1400" u="sng" dirty="0">
                <a:sym typeface="Wingdings" panose="05000000000000000000" pitchFamily="2" charset="2"/>
              </a:rPr>
              <a:t>  1300 </a:t>
            </a:r>
            <a:r>
              <a:rPr lang="da-DK" sz="1400" u="sng" dirty="0" err="1">
                <a:sym typeface="Wingdings" panose="05000000000000000000" pitchFamily="2" charset="2"/>
              </a:rPr>
              <a:t>gWh</a:t>
            </a:r>
            <a:endParaRPr lang="da-DK" sz="1400" u="sng" dirty="0"/>
          </a:p>
        </p:txBody>
      </p:sp>
      <p:sp>
        <p:nvSpPr>
          <p:cNvPr id="8" name="Pladsholder til indhold 2"/>
          <p:cNvSpPr txBox="1">
            <a:spLocks/>
          </p:cNvSpPr>
          <p:nvPr/>
        </p:nvSpPr>
        <p:spPr>
          <a:xfrm>
            <a:off x="6047916" y="1233625"/>
            <a:ext cx="2221877" cy="20216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da-DK" sz="1400" dirty="0"/>
              <a:t>Metas datacenter i Odense</a:t>
            </a:r>
          </a:p>
          <a:p>
            <a:pPr marL="285750" indent="-285750">
              <a:spcAft>
                <a:spcPts val="600"/>
              </a:spcAft>
            </a:pPr>
            <a:r>
              <a:rPr lang="da-DK" sz="1400" dirty="0"/>
              <a:t>Godkendt til 540 </a:t>
            </a:r>
            <a:r>
              <a:rPr lang="da-DK" sz="1400" dirty="0" err="1"/>
              <a:t>gWh</a:t>
            </a:r>
            <a:r>
              <a:rPr lang="da-DK" sz="1400" dirty="0"/>
              <a:t> pr. år</a:t>
            </a:r>
          </a:p>
          <a:p>
            <a:pPr marL="285750" indent="-285750">
              <a:spcAft>
                <a:spcPts val="600"/>
              </a:spcAft>
            </a:pPr>
            <a:r>
              <a:rPr lang="da-DK" sz="1400" dirty="0"/>
              <a:t>Svarende til ca. 208.000 elbiler</a:t>
            </a:r>
          </a:p>
        </p:txBody>
      </p:sp>
    </p:spTree>
    <p:extLst>
      <p:ext uri="{BB962C8B-B14F-4D97-AF65-F5344CB8AC3E}">
        <p14:creationId xmlns:p14="http://schemas.microsoft.com/office/powerpoint/2010/main" val="34367681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88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7458163" cy="467159"/>
          </a:xfrm>
        </p:spPr>
        <p:txBody>
          <a:bodyPr>
            <a:noAutofit/>
          </a:bodyPr>
          <a:lstStyle/>
          <a:p>
            <a:pPr marL="342900">
              <a:spcAft>
                <a:spcPts val="600"/>
              </a:spcAft>
            </a:pPr>
            <a:r>
              <a:rPr lang="da-DK" dirty="0"/>
              <a:t>I 2025 ventes de danske datacentre at forbruge 3.600 </a:t>
            </a:r>
            <a:r>
              <a:rPr lang="da-DK" dirty="0" err="1"/>
              <a:t>GWh</a:t>
            </a:r>
            <a:r>
              <a:rPr lang="da-DK" dirty="0"/>
              <a:t> årligt</a:t>
            </a:r>
          </a:p>
          <a:p>
            <a:pPr marL="342900">
              <a:spcAft>
                <a:spcPts val="600"/>
              </a:spcAft>
            </a:pPr>
            <a:r>
              <a:rPr lang="da-DK" dirty="0"/>
              <a:t>500.000 elbiler: ca. 1,3 </a:t>
            </a:r>
            <a:r>
              <a:rPr lang="da-DK" dirty="0" err="1"/>
              <a:t>TWh</a:t>
            </a:r>
            <a:r>
              <a:rPr lang="da-DK" dirty="0"/>
              <a:t>/år</a:t>
            </a:r>
          </a:p>
          <a:p>
            <a:pPr marL="342900">
              <a:spcAft>
                <a:spcPts val="600"/>
              </a:spcAft>
            </a:pPr>
            <a:r>
              <a:rPr lang="da-DK" dirty="0"/>
              <a:t>Datacentre (DK, 2025): 3,6 </a:t>
            </a:r>
            <a:r>
              <a:rPr lang="da-DK" dirty="0" err="1"/>
              <a:t>TWh</a:t>
            </a:r>
            <a:r>
              <a:rPr lang="da-DK" dirty="0"/>
              <a:t>/år</a:t>
            </a:r>
          </a:p>
          <a:p>
            <a:pPr marL="342900">
              <a:spcAft>
                <a:spcPts val="600"/>
              </a:spcAft>
            </a:pPr>
            <a:r>
              <a:rPr lang="da-DK" u="sng" dirty="0"/>
              <a:t>Datacentre bruger ~3 gange så meget strøm som 500.000 elbiler</a:t>
            </a:r>
            <a:endParaRPr lang="da-DK" dirty="0"/>
          </a:p>
          <a:p>
            <a:pPr marL="342900">
              <a:spcAft>
                <a:spcPts val="600"/>
              </a:spcAft>
            </a:pPr>
            <a:endParaRPr lang="da-DK" sz="16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  <p:sp>
        <p:nvSpPr>
          <p:cNvPr id="8" name="Rektangel 7"/>
          <p:cNvSpPr/>
          <p:nvPr/>
        </p:nvSpPr>
        <p:spPr>
          <a:xfrm>
            <a:off x="1307592" y="1532346"/>
            <a:ext cx="7744968" cy="2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https://www.energiforumdanmark.dk/nyheder/27-06-2024-co2-neutral-koeling-af-datacentre-kan-give-klimagevinst-i-pose-og-saek/</a:t>
            </a:r>
          </a:p>
        </p:txBody>
      </p:sp>
    </p:spTree>
    <p:extLst>
      <p:ext uri="{BB962C8B-B14F-4D97-AF65-F5344CB8AC3E}">
        <p14:creationId xmlns:p14="http://schemas.microsoft.com/office/powerpoint/2010/main" val="38154746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da-DK" sz="900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5747CDE5-0717-48E4-9385-7C842E50026E}" type="slidenum">
              <a:rPr lang="da-DK" sz="900" b="1" kern="1200">
                <a:solidFill>
                  <a:srgbClr val="00454E"/>
                </a:solidFill>
                <a:ea typeface="+mn-ea"/>
                <a:cs typeface="Times New Roman"/>
              </a:rPr>
              <a:pPr algn="r" defTabSz="685800">
                <a:buClrTx/>
                <a:defRPr/>
              </a:pPr>
              <a:t>89</a:t>
            </a:fld>
            <a:endParaRPr lang="da-DK" sz="900" b="1" kern="1200" dirty="0">
              <a:solidFill>
                <a:srgbClr val="00454E"/>
              </a:solidFill>
              <a:ea typeface="+mn-ea"/>
              <a:cs typeface="Times New Roman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963461" y="1233625"/>
            <a:ext cx="7458163" cy="467159"/>
          </a:xfrm>
        </p:spPr>
        <p:txBody>
          <a:bodyPr>
            <a:noAutofit/>
          </a:bodyPr>
          <a:lstStyle/>
          <a:p>
            <a:pPr marL="342900">
              <a:spcAft>
                <a:spcPts val="600"/>
              </a:spcAft>
            </a:pPr>
            <a:r>
              <a:rPr lang="da-DK" dirty="0"/>
              <a:t>Hvor meget strøm bruger datacentre i 2030?</a:t>
            </a:r>
            <a:endParaRPr lang="da-DK" sz="1600" dirty="0"/>
          </a:p>
          <a:p>
            <a:pPr marL="800100" lvl="1">
              <a:spcAft>
                <a:spcPts val="600"/>
              </a:spcAft>
            </a:pPr>
            <a:r>
              <a:rPr lang="da-DK" sz="1600" dirty="0" err="1"/>
              <a:t>Concito</a:t>
            </a:r>
            <a:r>
              <a:rPr lang="da-DK" sz="1600" dirty="0"/>
              <a:t>: 17 TWH pr. år</a:t>
            </a:r>
          </a:p>
          <a:p>
            <a:pPr marL="800100" lvl="1">
              <a:spcAft>
                <a:spcPts val="600"/>
              </a:spcAft>
            </a:pPr>
            <a:r>
              <a:rPr lang="da-DK" sz="1600" dirty="0"/>
              <a:t>Klimarådet: 7-10 TWH pr. år</a:t>
            </a:r>
          </a:p>
          <a:p>
            <a:pPr marL="800100" lvl="1">
              <a:spcAft>
                <a:spcPts val="600"/>
              </a:spcAft>
            </a:pPr>
            <a:r>
              <a:rPr lang="da-DK" sz="1600" dirty="0"/>
              <a:t>DR: 8 TWH pr. år</a:t>
            </a:r>
          </a:p>
          <a:p>
            <a:pPr marL="1257300" lvl="2">
              <a:spcAft>
                <a:spcPts val="600"/>
              </a:spcAft>
            </a:pPr>
            <a:r>
              <a:rPr lang="da-DK" sz="1200" dirty="0"/>
              <a:t>… </a:t>
            </a:r>
            <a:r>
              <a:rPr lang="da-DK" sz="1600" dirty="0"/>
              <a:t>Og op til 26 TWH pr. år frem imod 2050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461" y="461842"/>
            <a:ext cx="7306332" cy="994172"/>
          </a:xfrm>
        </p:spPr>
        <p:txBody>
          <a:bodyPr/>
          <a:lstStyle/>
          <a:p>
            <a:r>
              <a:rPr lang="da-DK" b="1" i="1" dirty="0"/>
              <a:t>Bæredygtighed</a:t>
            </a:r>
          </a:p>
        </p:txBody>
      </p:sp>
      <p:sp>
        <p:nvSpPr>
          <p:cNvPr id="6" name="Rektangel 5"/>
          <p:cNvSpPr/>
          <p:nvPr/>
        </p:nvSpPr>
        <p:spPr>
          <a:xfrm>
            <a:off x="1768409" y="2134738"/>
            <a:ext cx="656539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https://concito.dk/nyheder/markant-stigning-datacentres-stroemforbrug-stiller-krav-til-groenne-omstilling</a:t>
            </a:r>
          </a:p>
        </p:txBody>
      </p:sp>
      <p:sp>
        <p:nvSpPr>
          <p:cNvPr id="7" name="Rektangel 6"/>
          <p:cNvSpPr/>
          <p:nvPr/>
        </p:nvSpPr>
        <p:spPr>
          <a:xfrm>
            <a:off x="1768409" y="2676414"/>
            <a:ext cx="636422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chrome-extension://</a:t>
            </a:r>
            <a:r>
              <a:rPr lang="en-US" sz="800" dirty="0" err="1"/>
              <a:t>efaidnbmnnnibpcajpcglclefindmkaj</a:t>
            </a:r>
            <a:r>
              <a:rPr lang="en-US" sz="800" dirty="0"/>
              <a:t>/https://klimaraadet.dk/sites/default/files/imorted-file/datacenteranalyse_final.pdf</a:t>
            </a:r>
          </a:p>
        </p:txBody>
      </p:sp>
      <p:sp>
        <p:nvSpPr>
          <p:cNvPr id="9" name="Rektangel 8"/>
          <p:cNvSpPr/>
          <p:nvPr/>
        </p:nvSpPr>
        <p:spPr>
          <a:xfrm>
            <a:off x="1768409" y="3218090"/>
            <a:ext cx="65013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https://www.dr.dk/nyheder/viden/klima/vi-har-kurs-mod-et-el-underskud-i-danmark-og-det-skyldes-saerligt-en-sektor</a:t>
            </a:r>
          </a:p>
        </p:txBody>
      </p:sp>
    </p:spTree>
    <p:extLst>
      <p:ext uri="{BB962C8B-B14F-4D97-AF65-F5344CB8AC3E}">
        <p14:creationId xmlns:p14="http://schemas.microsoft.com/office/powerpoint/2010/main" val="27333329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2FBB-ECB9-DF11-60C3-1BC5A688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24977-05C1-18E9-7011-A353D971CC33}"/>
              </a:ext>
            </a:extLst>
          </p:cNvPr>
          <p:cNvSpPr txBox="1">
            <a:spLocks/>
          </p:cNvSpPr>
          <p:nvPr/>
        </p:nvSpPr>
        <p:spPr>
          <a:xfrm>
            <a:off x="4965900" y="-5138"/>
            <a:ext cx="4018612" cy="102054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a-DK" sz="1350" b="1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673BDE2F-0E18-6622-9009-28DCF987B632}"/>
              </a:ext>
            </a:extLst>
          </p:cNvPr>
          <p:cNvSpPr txBox="1">
            <a:spLocks/>
          </p:cNvSpPr>
          <p:nvPr/>
        </p:nvSpPr>
        <p:spPr>
          <a:xfrm>
            <a:off x="453553" y="368330"/>
            <a:ext cx="7886700" cy="82743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000" dirty="0">
                <a:solidFill>
                  <a:schemeClr val="bg2"/>
                </a:solidFill>
              </a:rPr>
              <a:t>Opsamling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0F788FB4-5795-7328-FD6B-144E3C6641BE}"/>
              </a:ext>
            </a:extLst>
          </p:cNvPr>
          <p:cNvSpPr txBox="1"/>
          <p:nvPr/>
        </p:nvSpPr>
        <p:spPr>
          <a:xfrm>
            <a:off x="453553" y="1443955"/>
            <a:ext cx="6815927" cy="1483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da-DK" sz="2400" b="1" dirty="0">
                <a:solidFill>
                  <a:schemeClr val="bg2"/>
                </a:solidFill>
                <a:latin typeface="Segoe UI" panose="020B0502040204020203" pitchFamily="34" charset="0"/>
              </a:rPr>
              <a:t>Refleksion fra sidst</a:t>
            </a:r>
          </a:p>
          <a:p>
            <a:pPr fontAlgn="t">
              <a:lnSpc>
                <a:spcPts val="1500"/>
              </a:lnSpc>
              <a:buNone/>
            </a:pPr>
            <a:endParaRPr lang="da-DK" sz="2400" b="1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marL="342900" indent="-3429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2"/>
                </a:solidFill>
                <a:latin typeface="Segoe UI" panose="020B0502040204020203" pitchFamily="34" charset="0"/>
              </a:rPr>
              <a:t>Hvad tager I med jer fra i dag?</a:t>
            </a:r>
          </a:p>
          <a:p>
            <a:pPr fontAlgn="t">
              <a:lnSpc>
                <a:spcPts val="1500"/>
              </a:lnSpc>
            </a:pPr>
            <a:endParaRPr lang="da-DK" sz="2400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marL="342900" indent="-3429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2"/>
                </a:solidFill>
                <a:latin typeface="Segoe UI" panose="020B0502040204020203" pitchFamily="34" charset="0"/>
              </a:rPr>
              <a:t>Hvad har I tænkt over siden da?</a:t>
            </a:r>
          </a:p>
          <a:p>
            <a:pPr fontAlgn="t">
              <a:lnSpc>
                <a:spcPts val="1500"/>
              </a:lnSpc>
            </a:pPr>
            <a:endParaRPr lang="da-DK" sz="2400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marL="342900" indent="-3429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2"/>
                </a:solidFill>
                <a:latin typeface="Segoe UI" panose="020B0502040204020203" pitchFamily="34" charset="0"/>
              </a:rPr>
              <a:t>Er der nogle spørgsmål, der er dukket op?</a:t>
            </a:r>
          </a:p>
        </p:txBody>
      </p:sp>
    </p:spTree>
    <p:extLst>
      <p:ext uri="{BB962C8B-B14F-4D97-AF65-F5344CB8AC3E}">
        <p14:creationId xmlns:p14="http://schemas.microsoft.com/office/powerpoint/2010/main" val="26430991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765381-FB95-86A8-B2D2-4B7ED20D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D7083-114E-A517-089F-386E42DEC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854" y="2384402"/>
            <a:ext cx="6829800" cy="910159"/>
          </a:xfrm>
        </p:spPr>
        <p:txBody>
          <a:bodyPr/>
          <a:lstStyle/>
          <a:p>
            <a:r>
              <a:rPr lang="da-DK" dirty="0"/>
              <a:t>Øvelse: AI – For og Imod</a:t>
            </a: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DB62C62-8429-F82E-0A97-DF5DAAC5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0211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110813-0AD1-61F4-7D60-0C09F797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5FF5FA-8FF8-08EB-C2EF-44CF39AD1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792" y="2571750"/>
            <a:ext cx="8741664" cy="910159"/>
          </a:xfrm>
        </p:spPr>
        <p:txBody>
          <a:bodyPr/>
          <a:lstStyle/>
          <a:p>
            <a:pPr lvl="0"/>
            <a:r>
              <a:rPr lang="da-DK" dirty="0"/>
              <a:t>Skal AI bruges til overvågning for at forebygge kriminalitet?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Tryghed</a:t>
            </a:r>
            <a:r>
              <a:rPr lang="en-US" dirty="0"/>
              <a:t> vs. </a:t>
            </a:r>
            <a:r>
              <a:rPr lang="en-US" dirty="0" err="1"/>
              <a:t>privatliv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F3243A6-B77A-FD2D-8041-9D44987B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9707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075832-1AAF-D7C5-C7A5-60797F83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417E64-3FF3-5B89-A91F-43C1A89E7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854" y="3274418"/>
            <a:ext cx="6829800" cy="910159"/>
          </a:xfrm>
        </p:spPr>
        <p:txBody>
          <a:bodyPr/>
          <a:lstStyle/>
          <a:p>
            <a:pPr lvl="0"/>
            <a:r>
              <a:rPr lang="da-DK" dirty="0"/>
              <a:t>Bør politiet bruge AI til at forudsige kriminalitet (</a:t>
            </a:r>
            <a:r>
              <a:rPr lang="da-DK" dirty="0" err="1"/>
              <a:t>predictive</a:t>
            </a:r>
            <a:r>
              <a:rPr lang="da-DK" dirty="0"/>
              <a:t> policing)?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Forebyggelse</a:t>
            </a:r>
            <a:r>
              <a:rPr lang="en-US" dirty="0"/>
              <a:t> vs. bias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diskrimination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C2AA99-7714-290D-1D45-1E899A691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3954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90D8C6-739A-CBA8-5FC7-A0CEC9B9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02861-72D5-16D9-A423-71EB08A3E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100" y="3408530"/>
            <a:ext cx="6829800" cy="910159"/>
          </a:xfrm>
        </p:spPr>
        <p:txBody>
          <a:bodyPr/>
          <a:lstStyle/>
          <a:p>
            <a:pPr lvl="0"/>
            <a:r>
              <a:rPr lang="da-DK" dirty="0"/>
              <a:t>Er det acceptabelt at bruge AI til ansigtsgenkendelse i det offentlige rum?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Effektivitet</a:t>
            </a:r>
            <a:r>
              <a:rPr lang="en-US" dirty="0"/>
              <a:t> vs. </a:t>
            </a:r>
            <a:r>
              <a:rPr lang="en-US" dirty="0" err="1"/>
              <a:t>overvågningssamfund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9F06BE-EEB7-681F-23AF-93BBFB2F3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2732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BEE0F1-3421-C8C5-889D-DA7B39EB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3BF3E-7DA0-A499-A326-13FE8DCAF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430" y="3359762"/>
            <a:ext cx="6829800" cy="910159"/>
          </a:xfrm>
        </p:spPr>
        <p:txBody>
          <a:bodyPr/>
          <a:lstStyle/>
          <a:p>
            <a:pPr lvl="0"/>
            <a:r>
              <a:rPr lang="da-DK" dirty="0"/>
              <a:t>Skal </a:t>
            </a:r>
            <a:r>
              <a:rPr lang="da-DK" dirty="0" err="1"/>
              <a:t>deepfakes</a:t>
            </a:r>
            <a:r>
              <a:rPr lang="da-DK" dirty="0"/>
              <a:t> være fuldt lovlige, hvis de er tydeligt markeret?</a:t>
            </a:r>
            <a:br>
              <a:rPr lang="da-DK" dirty="0"/>
            </a:br>
            <a:r>
              <a:rPr lang="da-DK" dirty="0"/>
              <a:t>(Ytringsfrihed vs. misinformation)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50C49BF-590B-9A5B-9ED1-7CBB31FC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9372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64CF29-7075-D260-A0E9-683EE930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6E09F-B471-F3D8-B370-84B63E645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237" y="2884274"/>
            <a:ext cx="7119526" cy="910159"/>
          </a:xfrm>
        </p:spPr>
        <p:txBody>
          <a:bodyPr/>
          <a:lstStyle/>
          <a:p>
            <a:pPr lvl="0"/>
            <a:r>
              <a:rPr lang="da-DK" dirty="0"/>
              <a:t>Bør AI-genereret indhold altid mærkes tydeligt?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Transparens</a:t>
            </a:r>
            <a:r>
              <a:rPr lang="en-US" dirty="0"/>
              <a:t> vs. innovation/</a:t>
            </a:r>
            <a:r>
              <a:rPr lang="en-US" dirty="0" err="1"/>
              <a:t>brugervenlighed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C9DD02-7BD0-A502-257C-282CD17F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5099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D820ED-F7C1-658E-9390-3E2FB6A9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AA2CD-4812-2A77-3063-189512B3B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056" y="2835506"/>
            <a:ext cx="8412480" cy="910159"/>
          </a:xfrm>
        </p:spPr>
        <p:txBody>
          <a:bodyPr/>
          <a:lstStyle/>
          <a:p>
            <a:pPr lvl="0"/>
            <a:r>
              <a:rPr lang="da-DK" dirty="0"/>
              <a:t>Er det i orden at bruge AI til at skrive opgaver i uddannelse?</a:t>
            </a:r>
            <a:br>
              <a:rPr lang="da-DK" dirty="0"/>
            </a:br>
            <a:r>
              <a:rPr lang="da-DK" dirty="0"/>
              <a:t>(Hjælpemiddel vs. snyd og læringstab)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8BA5C-BCF5-50C5-2844-A6164340D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03217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8DB1B1-EE31-3776-7FE2-B5390D70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31B672-05DA-3D2F-2E79-F5309436C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493" y="3201266"/>
            <a:ext cx="7595014" cy="910159"/>
          </a:xfrm>
        </p:spPr>
        <p:txBody>
          <a:bodyPr/>
          <a:lstStyle/>
          <a:p>
            <a:pPr lvl="0"/>
            <a:r>
              <a:rPr lang="da-DK" dirty="0"/>
              <a:t>Skal virksomheder have lov til at bruge AI til at overvåge medarbejdere?</a:t>
            </a:r>
            <a:br>
              <a:rPr lang="da-DK" dirty="0"/>
            </a:br>
            <a:r>
              <a:rPr lang="da-DK" dirty="0"/>
              <a:t>(Produktivitet vs. tillid og arbejdsmiljø)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09C8E49-1A64-3595-B9F2-A45E8D3DF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164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C2B4F9-464C-3DCD-2B72-6801E6BB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5989F-3FA5-0510-DABE-89E161348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58" y="2969618"/>
            <a:ext cx="8314342" cy="910159"/>
          </a:xfrm>
        </p:spPr>
        <p:txBody>
          <a:bodyPr/>
          <a:lstStyle/>
          <a:p>
            <a:pPr lvl="0"/>
            <a:r>
              <a:rPr lang="da-DK" dirty="0"/>
              <a:t>Bør AI bruges i ansættelsesprocesser til at sortere kandidater?</a:t>
            </a:r>
            <a:br>
              <a:rPr lang="da-DK" dirty="0"/>
            </a:br>
            <a:r>
              <a:rPr lang="da-DK" dirty="0"/>
              <a:t>(Effektivitet vs. bias og fairness)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DBEC54F-3990-3D3B-E584-A4610D9F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401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9BBFA1-380C-98A4-7B2B-B24348D9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85240-9F2E-DDFF-8161-A57DEE6EB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957" y="2571750"/>
            <a:ext cx="7790086" cy="910159"/>
          </a:xfrm>
        </p:spPr>
        <p:txBody>
          <a:bodyPr/>
          <a:lstStyle/>
          <a:p>
            <a:pPr lvl="0"/>
            <a:r>
              <a:rPr lang="da-DK" dirty="0"/>
              <a:t>Er AI en løsning på klimakrisen – eller en del af problemet?</a:t>
            </a:r>
            <a:br>
              <a:rPr lang="da-DK" dirty="0"/>
            </a:br>
            <a:r>
              <a:rPr lang="da-DK" dirty="0"/>
              <a:t>(Optimering vs. energiforbrug)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4DA976-D124-E189-787D-BB32DF024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0752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4148F2-16BB-D9AC-741A-0C42510C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FCB46-EF8F-4E0F-2092-3900C7E81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30793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Er det acceptabelt, at AI “hallucinerer”, hvis det stadig er nyttigt?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Praktisk</a:t>
            </a:r>
            <a:r>
              <a:rPr lang="en-US" dirty="0"/>
              <a:t> </a:t>
            </a:r>
            <a:r>
              <a:rPr lang="en-US" dirty="0" err="1"/>
              <a:t>værdi</a:t>
            </a:r>
            <a:r>
              <a:rPr lang="en-US" dirty="0"/>
              <a:t> vs. </a:t>
            </a:r>
            <a:r>
              <a:rPr lang="en-US" dirty="0" err="1"/>
              <a:t>troværdighed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DF9D38F-3A63-0CF0-C3DE-E3DC2B6C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06150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1C3D00-87F9-7962-977D-E7FFFA45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054D4-41A6-C9E3-2FFB-30ECCA6BB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120" y="27745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Skal AI reguleres stramt gennem lovgivning som EU AI </a:t>
            </a:r>
            <a:r>
              <a:rPr lang="da-DK" dirty="0" err="1"/>
              <a:t>Act</a:t>
            </a:r>
            <a:r>
              <a:rPr lang="da-DK" dirty="0"/>
              <a:t>?</a:t>
            </a:r>
            <a:br>
              <a:rPr lang="da-DK" dirty="0"/>
            </a:br>
            <a:r>
              <a:rPr lang="da-DK" dirty="0"/>
              <a:t>(Beskyttelse vs. innovation)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FBF584-3FD5-BB8F-27F5-FCC28604A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5953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1AF018-4EE1-AAFC-F3CB-DBEFF16C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60E30-202A-08DC-93A6-CAB52387F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3042770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Bør der være grænser for, hvad AI må bruges til i militær sammenhæng?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Effektivitet</a:t>
            </a:r>
            <a:r>
              <a:rPr lang="en-US" dirty="0"/>
              <a:t> vs. moral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ansvar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21A6E1-7142-3E2D-6487-04F0BC59C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3103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388B05-51F9-05D4-2620-D0B06CA3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8EBE80-86E0-0DBD-6BEB-0A3C8E12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1358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Er det okay at bruge AI til at påvirke holdninger (fx politik/reklame)?</a:t>
            </a:r>
            <a:br>
              <a:rPr lang="da-DK" dirty="0"/>
            </a:br>
            <a:r>
              <a:rPr lang="da-DK" dirty="0"/>
              <a:t>(Målretning vs. manipulation)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5590108-32FC-4C0D-ECF1-B75577CB2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2334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AE1EEB-9AEE-28B7-B8CF-C16AA900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5FEBF-273B-DC56-BBB3-1814B63B3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1358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Bør AI kunne træffes beslutninger i sundhedsvæsenet?</a:t>
            </a:r>
            <a:br>
              <a:rPr lang="da-DK" dirty="0"/>
            </a:br>
            <a:r>
              <a:rPr lang="da-DK" dirty="0"/>
              <a:t>(Præcision vs. ansvar og etik)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5B60815-620E-2938-B57F-88EF14801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023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EB0DE4-A563-0E23-473F-BCC42AFA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44F2CF-5886-E6E8-A4A6-E6AB68F58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745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Skal AI have adgang til vores personlige data for at fungere optimalt?</a:t>
            </a:r>
            <a:br>
              <a:rPr lang="da-DK" dirty="0"/>
            </a:br>
            <a:r>
              <a:rPr lang="en-US" dirty="0"/>
              <a:t>(Bedre service vs. </a:t>
            </a:r>
            <a:r>
              <a:rPr lang="en-US" dirty="0" err="1"/>
              <a:t>privatliv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46DD75A-189D-6FFB-E540-62E77C091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6229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7B1131-B5AF-A1EF-AC29-489EEE9E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A5C92-93CF-9872-3BB4-0ED2703A9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745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Er det et problem, at AI kan erstatte menneskelige jobs?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Effektivisering</a:t>
            </a:r>
            <a:r>
              <a:rPr lang="en-US" dirty="0"/>
              <a:t> vs. </a:t>
            </a:r>
            <a:r>
              <a:rPr lang="en-US" dirty="0" err="1"/>
              <a:t>arbejdsløshed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C8A999E-B5E7-E215-3463-B20C07A38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56701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28FFF8-30FF-084E-6765-F835C66D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CE5E7-F46A-F2BA-1168-D7D843730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745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Bør vi stole på </a:t>
            </a:r>
            <a:r>
              <a:rPr lang="da-DK" dirty="0" err="1"/>
              <a:t>AI’s</a:t>
            </a:r>
            <a:r>
              <a:rPr lang="da-DK" dirty="0"/>
              <a:t> anbefalinger i hverdagen (fx navigation, valg)?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Bekvemmelighed</a:t>
            </a:r>
            <a:r>
              <a:rPr lang="en-US" dirty="0"/>
              <a:t> vs. </a:t>
            </a:r>
            <a:r>
              <a:rPr lang="en-US" dirty="0" err="1"/>
              <a:t>kritisk</a:t>
            </a:r>
            <a:r>
              <a:rPr lang="en-US" dirty="0"/>
              <a:t> </a:t>
            </a:r>
            <a:r>
              <a:rPr lang="en-US" dirty="0" err="1"/>
              <a:t>tænkning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E4469F-9B29-249F-0C56-6476CB99A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58280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2E3602-5DD4-1CF8-913B-F3145019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209CB-1132-D942-E39C-F755DD3F4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745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Er AI en trussel mod menneskelig dømmekraft?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Støtteværktøj</a:t>
            </a:r>
            <a:r>
              <a:rPr lang="en-US" dirty="0"/>
              <a:t> vs. </a:t>
            </a:r>
            <a:r>
              <a:rPr lang="en-US" dirty="0" err="1"/>
              <a:t>afhængighed</a:t>
            </a:r>
            <a:r>
              <a:rPr lang="en-US" dirty="0"/>
              <a:t>) 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FAEE200-565C-A8ED-0DA3-E60AE44FD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91760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7991A6-6E37-9216-F8AD-DB4FA2E7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54BDB-FC92-EEEB-61C4-E4C1A6BD3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16" y="2774546"/>
            <a:ext cx="9001104" cy="910159"/>
          </a:xfrm>
        </p:spPr>
        <p:txBody>
          <a:bodyPr/>
          <a:lstStyle/>
          <a:p>
            <a:pPr lvl="0"/>
            <a:r>
              <a:rPr lang="da-DK" dirty="0"/>
              <a:t>Skal alle lære at bruge AI – eller risikerer vi at gøre os selv overflødige?</a:t>
            </a:r>
            <a:br>
              <a:rPr lang="da-DK" dirty="0"/>
            </a:br>
            <a:r>
              <a:rPr lang="en-US" dirty="0"/>
              <a:t>(</a:t>
            </a:r>
            <a:r>
              <a:rPr lang="en-US" dirty="0" err="1"/>
              <a:t>Kompetence</a:t>
            </a:r>
            <a:r>
              <a:rPr lang="en-US" dirty="0"/>
              <a:t> vs. </a:t>
            </a:r>
            <a:r>
              <a:rPr lang="en-US" dirty="0" err="1"/>
              <a:t>afhængighed</a:t>
            </a:r>
            <a:r>
              <a:rPr lang="en-US" dirty="0"/>
              <a:t>)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4CD17A-F472-2F47-8D81-FEA0EAE4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28817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56458-6BD4-DDAE-B76A-2EAB47CEDA3E}"/>
              </a:ext>
            </a:extLst>
          </p:cNvPr>
          <p:cNvSpPr txBox="1">
            <a:spLocks/>
          </p:cNvSpPr>
          <p:nvPr/>
        </p:nvSpPr>
        <p:spPr>
          <a:xfrm>
            <a:off x="4965900" y="-5138"/>
            <a:ext cx="4018612" cy="102054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a-DK" sz="1350" b="1" dirty="0"/>
          </a:p>
        </p:txBody>
      </p:sp>
    </p:spTree>
    <p:extLst>
      <p:ext uri="{BB962C8B-B14F-4D97-AF65-F5344CB8AC3E}">
        <p14:creationId xmlns:p14="http://schemas.microsoft.com/office/powerpoint/2010/main" val="2873064142"/>
      </p:ext>
    </p:extLst>
  </p:cSld>
  <p:clrMapOvr>
    <a:masterClrMapping/>
  </p:clrMapOvr>
</p:sld>
</file>

<file path=ppt/theme/theme1.xml><?xml version="1.0" encoding="utf-8"?>
<a:theme xmlns:a="http://schemas.openxmlformats.org/drawingml/2006/main" name="UCL">
  <a:themeElements>
    <a:clrScheme name="Simple Light">
      <a:dk1>
        <a:srgbClr val="000000"/>
      </a:dk1>
      <a:lt1>
        <a:srgbClr val="FFFFFF"/>
      </a:lt1>
      <a:dk2>
        <a:srgbClr val="00454E"/>
      </a:dk2>
      <a:lt2>
        <a:srgbClr val="C1D6D9"/>
      </a:lt2>
      <a:accent1>
        <a:srgbClr val="47B9B3"/>
      </a:accent1>
      <a:accent2>
        <a:srgbClr val="CAE4E3"/>
      </a:accent2>
      <a:accent3>
        <a:srgbClr val="9B3C7D"/>
      </a:accent3>
      <a:accent4>
        <a:srgbClr val="EE866F"/>
      </a:accent4>
      <a:accent5>
        <a:srgbClr val="F2CAC1"/>
      </a:accent5>
      <a:accent6>
        <a:srgbClr val="FAE76A"/>
      </a:accent6>
      <a:hlink>
        <a:srgbClr val="0045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5839</Words>
  <Application>Microsoft Office PowerPoint</Application>
  <PresentationFormat>Skærmshow (16:9)</PresentationFormat>
  <Paragraphs>1057</Paragraphs>
  <Slides>111</Slides>
  <Notes>99</Notes>
  <HiddenSlides>21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111</vt:i4>
      </vt:variant>
    </vt:vector>
  </HeadingPairs>
  <TitlesOfParts>
    <vt:vector size="112" baseType="lpstr">
      <vt:lpstr>UCL</vt:lpstr>
      <vt:lpstr>AI i praksis - Praktisk brug og sund skepsis</vt:lpstr>
      <vt:lpstr>PowerPoint-præsentation</vt:lpstr>
      <vt:lpstr>Dagen i dag</vt:lpstr>
      <vt:lpstr>Bias og Hallucinationer</vt:lpstr>
      <vt:lpstr>Bias</vt:lpstr>
      <vt:lpstr>Bias</vt:lpstr>
      <vt:lpstr>Bias</vt:lpstr>
      <vt:lpstr>Bias</vt:lpstr>
      <vt:lpstr>Hallucinationer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Forståelsesproblemer</vt:lpstr>
      <vt:lpstr>PowerPoint-præsentation</vt:lpstr>
      <vt:lpstr>PowerPoint-præsentation</vt:lpstr>
      <vt:lpstr>Øvelse  </vt:lpstr>
      <vt:lpstr>Udgør AI en trussel?  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AI Act</vt:lpstr>
      <vt:lpstr>PowerPoint-præsentation</vt:lpstr>
      <vt:lpstr>Hvornår gælder AI act ikke?</vt:lpstr>
      <vt:lpstr>Hvornår gælder AI act ikke?</vt:lpstr>
      <vt:lpstr>Forbudt AI</vt:lpstr>
      <vt:lpstr>Hvad må AI ikke vise?</vt:lpstr>
      <vt:lpstr>Forbudt AI</vt:lpstr>
      <vt:lpstr>Listerne sammenliget</vt:lpstr>
      <vt:lpstr>Copilots visualisering af forskellen</vt:lpstr>
      <vt:lpstr>PowerPoint-præsentation</vt:lpstr>
      <vt:lpstr>ChatGPTs visualisering af forskellen</vt:lpstr>
      <vt:lpstr>PowerPoint-præsentation</vt:lpstr>
      <vt:lpstr>PowerPoint-præsentation</vt:lpstr>
      <vt:lpstr>AI som trusselsbillede</vt:lpstr>
      <vt:lpstr>PowerPoint-præsentation</vt:lpstr>
      <vt:lpstr>PowerPoint-præsentation</vt:lpstr>
      <vt:lpstr>Hvad er Deepfakes?</vt:lpstr>
      <vt:lpstr>Hvad er Deepfakes?</vt:lpstr>
      <vt:lpstr>Hvad er Deepfakes?</vt:lpstr>
      <vt:lpstr>PowerPoint-præsentation</vt:lpstr>
      <vt:lpstr>AI i de forkerte hænder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Etik, risici og moral</vt:lpstr>
      <vt:lpstr>AI i det forkerte hænder</vt:lpstr>
      <vt:lpstr>AI i det forkerte hænder</vt:lpstr>
      <vt:lpstr>AI Rettigheder</vt:lpstr>
      <vt:lpstr>PowerPoint-præsentation</vt:lpstr>
      <vt:lpstr>PowerPoint-præsentation</vt:lpstr>
      <vt:lpstr>Bæredygtighed</vt:lpstr>
      <vt:lpstr>Bæredygtighed</vt:lpstr>
      <vt:lpstr>Bæredygtighed</vt:lpstr>
      <vt:lpstr>Bæredygtighed</vt:lpstr>
      <vt:lpstr>Bæredygtighed</vt:lpstr>
      <vt:lpstr>Bæredygtighed</vt:lpstr>
      <vt:lpstr>Bæredygtighed</vt:lpstr>
      <vt:lpstr>PowerPoint-præsentation</vt:lpstr>
      <vt:lpstr>Øvelse: AI – For og Imod  </vt:lpstr>
      <vt:lpstr>Skal AI bruges til overvågning for at forebygge kriminalitet? (Tryghed vs. privatliv) </vt:lpstr>
      <vt:lpstr>Bør politiet bruge AI til at forudsige kriminalitet (predictive policing)? (Forebyggelse vs. bias og diskrimination) </vt:lpstr>
      <vt:lpstr>Er det acceptabelt at bruge AI til ansigtsgenkendelse i det offentlige rum? (Effektivitet vs. overvågningssamfund) </vt:lpstr>
      <vt:lpstr>Skal deepfakes være fuldt lovlige, hvis de er tydeligt markeret? (Ytringsfrihed vs. misinformation) </vt:lpstr>
      <vt:lpstr>Bør AI-genereret indhold altid mærkes tydeligt? (Transparens vs. innovation/brugervenlighed) </vt:lpstr>
      <vt:lpstr>Er det i orden at bruge AI til at skrive opgaver i uddannelse? (Hjælpemiddel vs. snyd og læringstab) </vt:lpstr>
      <vt:lpstr>Skal virksomheder have lov til at bruge AI til at overvåge medarbejdere? (Produktivitet vs. tillid og arbejdsmiljø) </vt:lpstr>
      <vt:lpstr>Bør AI bruges i ansættelsesprocesser til at sortere kandidater? (Effektivitet vs. bias og fairness) </vt:lpstr>
      <vt:lpstr>Er AI en løsning på klimakrisen – eller en del af problemet? (Optimering vs. energiforbrug) </vt:lpstr>
      <vt:lpstr>Er det acceptabelt, at AI “hallucinerer”, hvis det stadig er nyttigt? (Praktisk værdi vs. troværdighed) </vt:lpstr>
      <vt:lpstr>Skal AI reguleres stramt gennem lovgivning som EU AI Act? (Beskyttelse vs. innovation) </vt:lpstr>
      <vt:lpstr>Bør der være grænser for, hvad AI må bruges til i militær sammenhæng? (Effektivitet vs. moral og ansvar) </vt:lpstr>
      <vt:lpstr>Er det okay at bruge AI til at påvirke holdninger (fx politik/reklame)? (Målretning vs. manipulation) </vt:lpstr>
      <vt:lpstr>Bør AI kunne træffes beslutninger i sundhedsvæsenet? (Præcision vs. ansvar og etik) </vt:lpstr>
      <vt:lpstr>Skal AI have adgang til vores personlige data for at fungere optimalt? (Bedre service vs. privatliv) </vt:lpstr>
      <vt:lpstr>Er det et problem, at AI kan erstatte menneskelige jobs? (Effektivisering vs. arbejdsløshed) </vt:lpstr>
      <vt:lpstr>Bør vi stole på AI’s anbefalinger i hverdagen (fx navigation, valg)? (Bekvemmelighed vs. kritisk tænkning) </vt:lpstr>
      <vt:lpstr>Er AI en trussel mod menneskelig dømmekraft? (Støtteværktøj vs. afhængighed) </vt:lpstr>
      <vt:lpstr>Skal alle lære at bruge AI – eller risikerer vi at gøre os selv overflødige? (Kompetence vs. afhængighed)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Omlægning til blended learning</dc:title>
  <dc:creator>Kim Hass Rubin</dc:creator>
  <cp:lastModifiedBy>Jesper Qvist</cp:lastModifiedBy>
  <cp:revision>218</cp:revision>
  <dcterms:modified xsi:type="dcterms:W3CDTF">2026-09-07T11:32:51Z</dcterms:modified>
</cp:coreProperties>
</file>