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52"/>
  </p:notesMasterIdLst>
  <p:sldIdLst>
    <p:sldId id="453" r:id="rId2"/>
    <p:sldId id="256" r:id="rId3"/>
    <p:sldId id="506" r:id="rId4"/>
    <p:sldId id="505" r:id="rId5"/>
    <p:sldId id="564" r:id="rId6"/>
    <p:sldId id="520" r:id="rId7"/>
    <p:sldId id="563" r:id="rId8"/>
    <p:sldId id="521" r:id="rId9"/>
    <p:sldId id="522" r:id="rId10"/>
    <p:sldId id="562" r:id="rId11"/>
    <p:sldId id="523" r:id="rId12"/>
    <p:sldId id="524" r:id="rId13"/>
    <p:sldId id="561" r:id="rId14"/>
    <p:sldId id="525" r:id="rId15"/>
    <p:sldId id="526" r:id="rId16"/>
    <p:sldId id="527" r:id="rId17"/>
    <p:sldId id="528" r:id="rId18"/>
    <p:sldId id="529" r:id="rId19"/>
    <p:sldId id="530" r:id="rId20"/>
    <p:sldId id="531" r:id="rId21"/>
    <p:sldId id="532" r:id="rId22"/>
    <p:sldId id="533" r:id="rId23"/>
    <p:sldId id="534" r:id="rId24"/>
    <p:sldId id="553" r:id="rId25"/>
    <p:sldId id="552" r:id="rId26"/>
    <p:sldId id="535" r:id="rId27"/>
    <p:sldId id="536" r:id="rId28"/>
    <p:sldId id="420" r:id="rId29"/>
    <p:sldId id="452" r:id="rId30"/>
    <p:sldId id="421" r:id="rId31"/>
    <p:sldId id="422" r:id="rId32"/>
    <p:sldId id="423" r:id="rId33"/>
    <p:sldId id="565" r:id="rId34"/>
    <p:sldId id="566" r:id="rId35"/>
    <p:sldId id="567" r:id="rId36"/>
    <p:sldId id="568" r:id="rId37"/>
    <p:sldId id="569" r:id="rId38"/>
    <p:sldId id="570" r:id="rId39"/>
    <p:sldId id="571" r:id="rId40"/>
    <p:sldId id="572" r:id="rId41"/>
    <p:sldId id="424" r:id="rId42"/>
    <p:sldId id="441" r:id="rId43"/>
    <p:sldId id="433" r:id="rId44"/>
    <p:sldId id="434" r:id="rId45"/>
    <p:sldId id="435" r:id="rId46"/>
    <p:sldId id="436" r:id="rId47"/>
    <p:sldId id="416" r:id="rId48"/>
    <p:sldId id="417" r:id="rId49"/>
    <p:sldId id="418" r:id="rId50"/>
    <p:sldId id="419" r:id="rId51"/>
  </p:sldIdLst>
  <p:sldSz cx="9144000" cy="5143500" type="screen16x9"/>
  <p:notesSz cx="6858000" cy="9144000"/>
  <p:embeddedFontLst>
    <p:embeddedFont>
      <p:font typeface="Segoe UI" panose="020B0502040204020203" pitchFamily="3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81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8E8C"/>
    <a:srgbClr val="66FF33"/>
    <a:srgbClr val="438E77"/>
    <a:srgbClr val="E6FAEB"/>
    <a:srgbClr val="ADD8AC"/>
    <a:srgbClr val="93C3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3F09B1-CD31-4CA8-8316-924E167CB412}" v="8" dt="2026-08-31T11:06:48.234"/>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45407" autoAdjust="0"/>
  </p:normalViewPr>
  <p:slideViewPr>
    <p:cSldViewPr snapToGrid="0">
      <p:cViewPr varScale="1">
        <p:scale>
          <a:sx n="67" d="100"/>
          <a:sy n="67" d="100"/>
        </p:scale>
        <p:origin x="3084" y="60"/>
      </p:cViewPr>
      <p:guideLst>
        <p:guide orient="horz" pos="1620"/>
        <p:guide pos="2880"/>
        <p:guide pos="81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viewProps" Target="viewProps.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en-US" dirty="0" err="1"/>
              <a:t>Gevær</a:t>
            </a:r>
            <a:endParaRPr lang="en-US" dirty="0"/>
          </a:p>
        </p:txBody>
      </p:sp>
    </p:spTree>
    <p:extLst>
      <p:ext uri="{BB962C8B-B14F-4D97-AF65-F5344CB8AC3E}">
        <p14:creationId xmlns:p14="http://schemas.microsoft.com/office/powerpoint/2010/main" val="67256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171450" indent="-171450">
              <a:buFontTx/>
              <a:buChar char="-"/>
            </a:pPr>
            <a:endParaRPr lang="da-DK" dirty="0"/>
          </a:p>
        </p:txBody>
      </p:sp>
      <p:sp>
        <p:nvSpPr>
          <p:cNvPr id="4" name="Pladsholder til slidenummer 3"/>
          <p:cNvSpPr>
            <a:spLocks noGrp="1"/>
          </p:cNvSpPr>
          <p:nvPr>
            <p:ph type="sldNum" sz="quarter" idx="5"/>
          </p:nvPr>
        </p:nvSpPr>
        <p:spPr/>
        <p:txBody>
          <a:bodyPr/>
          <a:lstStyle/>
          <a:p>
            <a:fld id="{1709616B-2551-4F3B-9F98-37489227F742}" type="slidenum">
              <a:rPr lang="da-DK" smtClean="0"/>
              <a:t>2</a:t>
            </a:fld>
            <a:endParaRPr lang="da-DK"/>
          </a:p>
        </p:txBody>
      </p:sp>
    </p:spTree>
    <p:extLst>
      <p:ext uri="{BB962C8B-B14F-4D97-AF65-F5344CB8AC3E}">
        <p14:creationId xmlns:p14="http://schemas.microsoft.com/office/powerpoint/2010/main" val="3682418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r>
              <a:rPr lang="da-DK" sz="1100" b="0" i="0" u="none" strike="noStrike" cap="none" dirty="0">
                <a:solidFill>
                  <a:srgbClr val="000000"/>
                </a:solidFill>
                <a:effectLst/>
                <a:latin typeface="Arial"/>
                <a:ea typeface="Arial"/>
                <a:cs typeface="Arial"/>
                <a:sym typeface="Arial"/>
              </a:rPr>
              <a:t>Opgave, Rolle, Format, Kontekst</a:t>
            </a:r>
            <a:endParaRPr lang="en-US" sz="1100" b="0" i="0" u="none" strike="noStrike" cap="none" dirty="0">
              <a:solidFill>
                <a:srgbClr val="000000"/>
              </a:solidFill>
              <a:effectLst/>
              <a:latin typeface="Arial"/>
              <a:ea typeface="Arial"/>
              <a:cs typeface="Arial"/>
              <a:sym typeface="Arial"/>
            </a:endParaRPr>
          </a:p>
          <a:p>
            <a:r>
              <a:rPr lang="da-DK" sz="1100" b="0" i="0" u="none" strike="noStrike" cap="none" dirty="0">
                <a:solidFill>
                  <a:srgbClr val="000000"/>
                </a:solidFill>
                <a:effectLst/>
                <a:latin typeface="Arial"/>
                <a:ea typeface="Arial"/>
                <a:cs typeface="Arial"/>
                <a:sym typeface="Arial"/>
              </a:rPr>
              <a:t>Rolle: Bed den påtage sig en rolle, ”Du er en lærer der…”</a:t>
            </a:r>
            <a:endParaRPr lang="en-US" sz="1100" b="0" i="0" u="none" strike="noStrike" cap="none" dirty="0">
              <a:solidFill>
                <a:srgbClr val="000000"/>
              </a:solidFill>
              <a:effectLst/>
              <a:latin typeface="Arial"/>
              <a:ea typeface="Arial"/>
              <a:cs typeface="Arial"/>
              <a:sym typeface="Arial"/>
            </a:endParaRPr>
          </a:p>
          <a:p>
            <a:r>
              <a:rPr lang="da-DK" sz="1100" b="0" i="0" u="none" strike="noStrike" cap="none" dirty="0">
                <a:solidFill>
                  <a:srgbClr val="000000"/>
                </a:solidFill>
                <a:effectLst/>
                <a:latin typeface="Arial"/>
                <a:ea typeface="Arial"/>
                <a:cs typeface="Arial"/>
                <a:sym typeface="Arial"/>
              </a:rPr>
              <a:t>Format: Hvordan vil jeg have svaret? </a:t>
            </a:r>
            <a:r>
              <a:rPr lang="nb-NO" sz="1100" b="0" i="0" u="none" strike="noStrike" cap="none" dirty="0">
                <a:solidFill>
                  <a:srgbClr val="000000"/>
                </a:solidFill>
                <a:effectLst/>
                <a:latin typeface="Arial"/>
                <a:ea typeface="Arial"/>
                <a:cs typeface="Arial"/>
                <a:sym typeface="Arial"/>
              </a:rPr>
              <a:t>Grundform, artikel, essay, opskrift, punktlist, etc.</a:t>
            </a:r>
            <a:endParaRPr lang="en-US" sz="1100" b="0" i="0" u="none" strike="noStrike" cap="none" dirty="0">
              <a:solidFill>
                <a:srgbClr val="000000"/>
              </a:solidFill>
              <a:effectLst/>
              <a:latin typeface="Arial"/>
              <a:ea typeface="Arial"/>
              <a:cs typeface="Arial"/>
              <a:sym typeface="Arial"/>
            </a:endParaRPr>
          </a:p>
          <a:p>
            <a:r>
              <a:rPr lang="da-DK" sz="1100" b="0" i="0" u="none" strike="noStrike" cap="none" dirty="0">
                <a:solidFill>
                  <a:srgbClr val="000000"/>
                </a:solidFill>
                <a:effectLst/>
                <a:latin typeface="Arial"/>
                <a:ea typeface="Arial"/>
                <a:cs typeface="Arial"/>
                <a:sym typeface="Arial"/>
              </a:rPr>
              <a:t>Kontekst: Giv den en smule kontekst så den kan spore sig ind. ”Skriv en kort sang om havet… Som kan synges af elever fra en 3. klasse” </a:t>
            </a:r>
            <a:r>
              <a:rPr lang="da-DK" sz="1100" b="0" i="0" u="none" strike="noStrike" cap="none" dirty="0">
                <a:solidFill>
                  <a:srgbClr val="000000"/>
                </a:solidFill>
                <a:effectLst/>
                <a:latin typeface="Arial"/>
                <a:ea typeface="Arial"/>
                <a:cs typeface="Arial"/>
                <a:sym typeface="Wingdings" panose="05000000000000000000" pitchFamily="2" charset="2"/>
              </a:rPr>
              <a:t></a:t>
            </a:r>
            <a:r>
              <a:rPr lang="da-DK" sz="1100" b="0" i="0" u="none" strike="noStrike" cap="none" dirty="0">
                <a:solidFill>
                  <a:srgbClr val="000000"/>
                </a:solidFill>
                <a:effectLst/>
                <a:latin typeface="Arial"/>
                <a:ea typeface="Arial"/>
                <a:cs typeface="Arial"/>
                <a:sym typeface="Arial"/>
              </a:rPr>
              <a:t> Kontekst.</a:t>
            </a:r>
            <a:endParaRPr lang="en-US" sz="1100" b="0" i="0" u="none" strike="noStrike" cap="none" dirty="0">
              <a:solidFill>
                <a:srgbClr val="000000"/>
              </a:solidFill>
              <a:effectLst/>
              <a:latin typeface="Arial"/>
              <a:ea typeface="Arial"/>
              <a:cs typeface="Arial"/>
              <a:sym typeface="Arial"/>
            </a:endParaRPr>
          </a:p>
          <a:p>
            <a:r>
              <a:rPr lang="da-DK" sz="1100" b="0" i="1" u="none" strike="noStrike" cap="none" dirty="0">
                <a:solidFill>
                  <a:srgbClr val="000000"/>
                </a:solidFill>
                <a:effectLst/>
                <a:latin typeface="Arial"/>
                <a:ea typeface="Arial"/>
                <a:cs typeface="Arial"/>
                <a:sym typeface="Arial"/>
              </a:rPr>
              <a:t>Situationel blokke</a:t>
            </a:r>
            <a:endParaRPr lang="en-US" sz="1100" b="0" i="0" u="none" strike="noStrike" cap="none" dirty="0">
              <a:solidFill>
                <a:srgbClr val="000000"/>
              </a:solidFill>
              <a:effectLst/>
              <a:latin typeface="Arial"/>
              <a:ea typeface="Arial"/>
              <a:cs typeface="Arial"/>
              <a:sym typeface="Arial"/>
            </a:endParaRPr>
          </a:p>
          <a:p>
            <a:r>
              <a:rPr lang="da-DK" sz="1100" b="0" i="0" u="none" strike="noStrike" cap="none" dirty="0">
                <a:solidFill>
                  <a:srgbClr val="000000"/>
                </a:solidFill>
                <a:effectLst/>
                <a:latin typeface="Arial"/>
                <a:ea typeface="Arial"/>
                <a:cs typeface="Arial"/>
                <a:sym typeface="Arial"/>
              </a:rPr>
              <a:t>Begrænsninger: Det ikke altid de overholder det, men er bedre stillet med end uden.</a:t>
            </a:r>
            <a:endParaRPr lang="en-US" sz="1100" b="0" i="0" u="none" strike="noStrike" cap="none" dirty="0">
              <a:solidFill>
                <a:srgbClr val="000000"/>
              </a:solidFill>
              <a:effectLst/>
              <a:latin typeface="Arial"/>
              <a:ea typeface="Arial"/>
              <a:cs typeface="Arial"/>
              <a:sym typeface="Arial"/>
            </a:endParaRPr>
          </a:p>
          <a:p>
            <a:r>
              <a:rPr lang="da-DK" sz="1100" b="0" i="0" u="none" strike="noStrike" cap="none" dirty="0">
                <a:solidFill>
                  <a:srgbClr val="000000"/>
                </a:solidFill>
                <a:effectLst/>
                <a:latin typeface="Arial"/>
                <a:ea typeface="Arial"/>
                <a:cs typeface="Arial"/>
                <a:sym typeface="Arial"/>
              </a:rPr>
              <a:t>Eksempler: Vedhæft eller giv den et eksempel.</a:t>
            </a:r>
            <a:endParaRPr lang="en-US" sz="1100" b="0" i="0" u="none" strike="noStrike" cap="none" dirty="0">
              <a:solidFill>
                <a:srgbClr val="000000"/>
              </a:solidFill>
              <a:effectLst/>
              <a:latin typeface="Arial"/>
              <a:ea typeface="Arial"/>
              <a:cs typeface="Arial"/>
              <a:sym typeface="Arial"/>
            </a:endParaRPr>
          </a:p>
          <a:p>
            <a:r>
              <a:rPr lang="da-DK" sz="1100" b="0" i="0" u="none" strike="noStrike" cap="none" dirty="0">
                <a:solidFill>
                  <a:srgbClr val="000000"/>
                </a:solidFill>
                <a:effectLst/>
                <a:latin typeface="Arial"/>
                <a:ea typeface="Arial"/>
                <a:cs typeface="Arial"/>
                <a:sym typeface="Arial"/>
              </a:rPr>
              <a:t>Data: Hænger godt sammen med Eksempler. Beder vi den forholde sig til noget specifik data, så vedhæft </a:t>
            </a:r>
            <a:r>
              <a:rPr lang="da-DK" sz="1100" b="0" i="0" u="none" strike="noStrike" cap="none" dirty="0" err="1">
                <a:solidFill>
                  <a:srgbClr val="000000"/>
                </a:solidFill>
                <a:effectLst/>
                <a:latin typeface="Arial"/>
                <a:ea typeface="Arial"/>
                <a:cs typeface="Arial"/>
                <a:sym typeface="Arial"/>
              </a:rPr>
              <a:t>dataen</a:t>
            </a:r>
            <a:r>
              <a:rPr lang="da-DK" sz="1100" b="0" i="0" u="none" strike="noStrike" cap="none" dirty="0">
                <a:solidFill>
                  <a:srgbClr val="000000"/>
                </a:solidFill>
                <a:effectLst/>
                <a:latin typeface="Arial"/>
                <a:ea typeface="Arial"/>
                <a:cs typeface="Arial"/>
                <a:sym typeface="Arial"/>
              </a:rPr>
              <a:t>. Spørg man til specifik overenskomst, kan man vedhæfte en specifik overenskomst.</a:t>
            </a:r>
            <a:endParaRPr lang="en-US" sz="1100" b="0" i="0" u="none" strike="noStrike" cap="none" dirty="0">
              <a:solidFill>
                <a:srgbClr val="000000"/>
              </a:solidFill>
              <a:effectLst/>
              <a:latin typeface="Arial"/>
              <a:ea typeface="Arial"/>
              <a:cs typeface="Arial"/>
              <a:sym typeface="Arial"/>
            </a:endParaRPr>
          </a:p>
          <a:p>
            <a:endParaRPr lang="en-US" dirty="0"/>
          </a:p>
        </p:txBody>
      </p:sp>
    </p:spTree>
    <p:extLst>
      <p:ext uri="{BB962C8B-B14F-4D97-AF65-F5344CB8AC3E}">
        <p14:creationId xmlns:p14="http://schemas.microsoft.com/office/powerpoint/2010/main" val="972534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7FFA1-110F-36BF-7AEC-5D68E0CB234B}"/>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6756D8D-6587-A0EA-A5BD-6547661A5DA8}"/>
              </a:ext>
            </a:extLst>
          </p:cNvPr>
          <p:cNvSpPr>
            <a:spLocks noGrp="1" noRot="1" noChangeAspect="1"/>
          </p:cNvSpPr>
          <p:nvPr>
            <p:ph type="sldImg"/>
          </p:nvPr>
        </p:nvSpPr>
        <p:spPr>
          <a:xfrm>
            <a:off x="381000" y="685800"/>
            <a:ext cx="6096000" cy="3429000"/>
          </a:xfrm>
        </p:spPr>
      </p:sp>
      <p:sp>
        <p:nvSpPr>
          <p:cNvPr id="3" name="Pladsholder til noter 2">
            <a:extLst>
              <a:ext uri="{FF2B5EF4-FFF2-40B4-BE49-F238E27FC236}">
                <a16:creationId xmlns:a16="http://schemas.microsoft.com/office/drawing/2014/main" id="{E86C0F66-E8C8-EE9A-A5D3-BFE613A2799E}"/>
              </a:ext>
            </a:extLst>
          </p:cNvPr>
          <p:cNvSpPr>
            <a:spLocks noGrp="1"/>
          </p:cNvSpPr>
          <p:nvPr>
            <p:ph type="body" idx="1"/>
          </p:nvPr>
        </p:nvSpPr>
        <p:spPr/>
        <p:txBody>
          <a:bodyPr/>
          <a:lstStyle/>
          <a:p>
            <a:pPr marL="171450" indent="-171450">
              <a:buFontTx/>
              <a:buChar char="-"/>
            </a:pPr>
            <a:endParaRPr lang="da-DK" dirty="0"/>
          </a:p>
        </p:txBody>
      </p:sp>
      <p:sp>
        <p:nvSpPr>
          <p:cNvPr id="4" name="Pladsholder til slidenummer 3">
            <a:extLst>
              <a:ext uri="{FF2B5EF4-FFF2-40B4-BE49-F238E27FC236}">
                <a16:creationId xmlns:a16="http://schemas.microsoft.com/office/drawing/2014/main" id="{7B2FF758-8BD6-98F1-F9BE-CA83226FB62D}"/>
              </a:ext>
            </a:extLst>
          </p:cNvPr>
          <p:cNvSpPr>
            <a:spLocks noGrp="1"/>
          </p:cNvSpPr>
          <p:nvPr>
            <p:ph type="sldNum" sz="quarter" idx="5"/>
          </p:nvPr>
        </p:nvSpPr>
        <p:spPr/>
        <p:txBody>
          <a:bodyPr/>
          <a:lstStyle/>
          <a:p>
            <a:fld id="{1709616B-2551-4F3B-9F98-37489227F742}" type="slidenum">
              <a:rPr lang="da-DK" smtClean="0"/>
              <a:t>5</a:t>
            </a:fld>
            <a:endParaRPr lang="da-DK"/>
          </a:p>
        </p:txBody>
      </p:sp>
    </p:spTree>
    <p:extLst>
      <p:ext uri="{BB962C8B-B14F-4D97-AF65-F5344CB8AC3E}">
        <p14:creationId xmlns:p14="http://schemas.microsoft.com/office/powerpoint/2010/main" val="2536195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da-DK" b="1" dirty="0"/>
          </a:p>
          <a:p>
            <a:r>
              <a:rPr lang="da-DK" dirty="0"/>
              <a:t>Løser </a:t>
            </a:r>
            <a:r>
              <a:rPr lang="da-DK" b="1" dirty="0"/>
              <a:t>én specifik opgave</a:t>
            </a:r>
            <a:r>
              <a:rPr lang="da-DK" dirty="0"/>
              <a:t> (fx oversættelse, billedgenkendelse) </a:t>
            </a:r>
          </a:p>
          <a:p>
            <a:r>
              <a:rPr lang="da-DK" dirty="0"/>
              <a:t>Kan handle </a:t>
            </a:r>
            <a:r>
              <a:rPr lang="da-DK" b="1" dirty="0"/>
              <a:t>autonomt – men kun inden for en snæver ramme</a:t>
            </a:r>
            <a:r>
              <a:rPr lang="da-DK" dirty="0"/>
              <a:t> </a:t>
            </a:r>
          </a:p>
          <a:p>
            <a:r>
              <a:rPr lang="da-DK" b="1" dirty="0"/>
              <a:t>Forstår ikke helheden</a:t>
            </a:r>
            <a:r>
              <a:rPr lang="da-DK" dirty="0"/>
              <a:t> – kun dele af problemet </a:t>
            </a:r>
          </a:p>
          <a:p>
            <a:r>
              <a:rPr lang="da-DK" dirty="0"/>
              <a:t>Kan ikke overføre viden til nye opgaver </a:t>
            </a:r>
          </a:p>
          <a:p>
            <a:r>
              <a:rPr lang="da-DK" dirty="0"/>
              <a:t>Bygger ofte på </a:t>
            </a:r>
            <a:r>
              <a:rPr lang="da-DK" b="1" dirty="0" err="1"/>
              <a:t>machine</a:t>
            </a:r>
            <a:r>
              <a:rPr lang="da-DK" b="1" dirty="0"/>
              <a:t> </a:t>
            </a:r>
            <a:r>
              <a:rPr lang="da-DK" b="1" dirty="0" err="1"/>
              <a:t>learning</a:t>
            </a:r>
            <a:r>
              <a:rPr lang="da-DK" b="1" dirty="0"/>
              <a:t> og neurale netværk</a:t>
            </a:r>
            <a:endParaRPr lang="da-DK"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43403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Eksempler</a:t>
            </a:r>
            <a:r>
              <a:rPr lang="en-US" dirty="0"/>
              <a:t> </a:t>
            </a:r>
            <a:r>
              <a:rPr lang="en-US" dirty="0" err="1"/>
              <a:t>på</a:t>
            </a:r>
            <a:r>
              <a:rPr lang="en-US" dirty="0"/>
              <a:t> smal AI er spamfiltre og e-mail-sortering. </a:t>
            </a:r>
          </a:p>
          <a:p>
            <a:r>
              <a:rPr lang="en-US" dirty="0"/>
              <a:t>De kan virke smarte, fordi de udforer noget automatisk, men de er bygget til meget afgraensede opgaver. </a:t>
            </a:r>
          </a:p>
          <a:p>
            <a:r>
              <a:rPr lang="en-US" dirty="0"/>
              <a:t>De </a:t>
            </a:r>
            <a:r>
              <a:rPr lang="en-US" dirty="0" err="1"/>
              <a:t>forstår</a:t>
            </a:r>
            <a:r>
              <a:rPr lang="en-US" dirty="0"/>
              <a:t> ikke kontekst, og de kan </a:t>
            </a:r>
            <a:r>
              <a:rPr lang="en-US" dirty="0" err="1"/>
              <a:t>ikke</a:t>
            </a:r>
            <a:r>
              <a:rPr lang="en-US" dirty="0"/>
              <a:t> </a:t>
            </a:r>
            <a:r>
              <a:rPr lang="en-US" dirty="0" err="1"/>
              <a:t>lære</a:t>
            </a:r>
            <a:r>
              <a:rPr lang="en-US" dirty="0"/>
              <a:t> frit pa egen hand.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0492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a-DK" dirty="0"/>
              <a:t>AI der kan </a:t>
            </a:r>
            <a:r>
              <a:rPr lang="da-DK" b="1" dirty="0"/>
              <a:t>lære, tænke og løse mange forskellige opgaver</a:t>
            </a:r>
            <a:r>
              <a:rPr lang="da-DK" dirty="0"/>
              <a:t> </a:t>
            </a:r>
          </a:p>
          <a:p>
            <a:r>
              <a:rPr lang="da-DK" dirty="0"/>
              <a:t>Fungerer på niveau med </a:t>
            </a:r>
            <a:r>
              <a:rPr lang="da-DK" b="1" dirty="0"/>
              <a:t>menneskelig intelligens</a:t>
            </a:r>
            <a:r>
              <a:rPr lang="da-DK" dirty="0"/>
              <a:t> </a:t>
            </a:r>
          </a:p>
          <a:p>
            <a:r>
              <a:rPr lang="da-DK" dirty="0"/>
              <a:t>Kan overføre viden fra én opgave til en anden </a:t>
            </a:r>
          </a:p>
          <a:p>
            <a:pPr marL="158750" indent="0">
              <a:buNone/>
            </a:pPr>
            <a:r>
              <a:rPr lang="da-DK" b="1" dirty="0"/>
              <a:t>Status</a:t>
            </a:r>
          </a:p>
          <a:p>
            <a:r>
              <a:rPr lang="da-DK" b="1" dirty="0"/>
              <a:t>Findes ikke endnu</a:t>
            </a:r>
            <a:r>
              <a:rPr lang="da-DK" dirty="0"/>
              <a:t> – kun en vision</a:t>
            </a:r>
          </a:p>
          <a:p>
            <a:pPr marL="158750" indent="0">
              <a:buNone/>
            </a:pPr>
            <a:r>
              <a:rPr lang="da-DK" b="1" dirty="0"/>
              <a:t>Formål</a:t>
            </a:r>
          </a:p>
          <a:p>
            <a:r>
              <a:rPr lang="da-DK" dirty="0"/>
              <a:t>Skabe AI der kan fungere som </a:t>
            </a:r>
            <a:r>
              <a:rPr lang="da-DK" b="1" dirty="0"/>
              <a:t>alsidig assistent</a:t>
            </a:r>
            <a:r>
              <a:rPr lang="da-DK" dirty="0"/>
              <a:t> </a:t>
            </a:r>
          </a:p>
          <a:p>
            <a:r>
              <a:rPr lang="da-DK" dirty="0"/>
              <a:t>Ikke kun løse én opgave – men mange </a:t>
            </a:r>
          </a:p>
          <a:p>
            <a:pPr marL="158750" indent="0">
              <a:buNone/>
            </a:pPr>
            <a:r>
              <a:rPr lang="da-DK" b="1" dirty="0"/>
              <a:t>Note </a:t>
            </a:r>
          </a:p>
          <a:p>
            <a:pPr marL="457200" indent="-298450"/>
            <a:r>
              <a:rPr lang="da-DK" dirty="0"/>
              <a:t>Bygger potentielt på: ML (</a:t>
            </a:r>
            <a:r>
              <a:rPr lang="da-DK" dirty="0" err="1"/>
              <a:t>machine</a:t>
            </a:r>
            <a:r>
              <a:rPr lang="da-DK" dirty="0"/>
              <a:t> </a:t>
            </a:r>
            <a:r>
              <a:rPr lang="da-DK" dirty="0" err="1"/>
              <a:t>learning</a:t>
            </a:r>
            <a:r>
              <a:rPr lang="da-DK" dirty="0"/>
              <a:t>), neurale netværk, generativ AI </a:t>
            </a:r>
          </a:p>
          <a:p>
            <a:r>
              <a:rPr lang="da-DK" dirty="0"/>
              <a:t>Men: Det vi har i dag (fx </a:t>
            </a:r>
            <a:r>
              <a:rPr lang="da-DK" dirty="0" err="1"/>
              <a:t>ChatGPT</a:t>
            </a:r>
            <a:r>
              <a:rPr lang="da-DK" dirty="0"/>
              <a:t>) = </a:t>
            </a:r>
            <a:r>
              <a:rPr lang="da-DK" b="1" dirty="0"/>
              <a:t>stadig smal AI</a:t>
            </a:r>
            <a:endParaRPr lang="da-DK"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25847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Vi er ikke ved AGI endnu. Mange moderne modeller har adgang til meget viden, men det gor dem ikke automatisk intelligente. Derfor siger noterne, at vi er et sted mellem Smal AI og AGI. Det aabner ogsa det grundlaeggende sporgsmal: Hvad er intelligens egentlig?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45200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a-DK" dirty="0"/>
              <a:t>AI der </a:t>
            </a:r>
            <a:r>
              <a:rPr lang="da-DK" b="1" dirty="0"/>
              <a:t>overgår menneskelig intelligens</a:t>
            </a:r>
            <a:r>
              <a:rPr lang="da-DK" dirty="0"/>
              <a:t> på alle områder </a:t>
            </a:r>
          </a:p>
          <a:p>
            <a:r>
              <a:rPr lang="da-DK" dirty="0"/>
              <a:t>Kan lære og udvikle sig </a:t>
            </a:r>
            <a:r>
              <a:rPr lang="da-DK" b="1" dirty="0"/>
              <a:t>hurtigere end mennesker</a:t>
            </a:r>
            <a:r>
              <a:rPr lang="da-DK" dirty="0"/>
              <a:t> </a:t>
            </a:r>
          </a:p>
          <a:p>
            <a:r>
              <a:rPr lang="da-DK" dirty="0"/>
              <a:t>Ville kunne træffe beslutninger bedre end os </a:t>
            </a:r>
          </a:p>
          <a:p>
            <a:pPr marL="158750" indent="0">
              <a:buNone/>
            </a:pPr>
            <a:r>
              <a:rPr lang="da-DK" b="1" dirty="0"/>
              <a:t>Status</a:t>
            </a:r>
          </a:p>
          <a:p>
            <a:r>
              <a:rPr lang="da-DK" b="1" dirty="0"/>
              <a:t>Findes ikke – ren teori / science fiction</a:t>
            </a:r>
            <a:endParaRPr lang="da-DK" dirty="0"/>
          </a:p>
          <a:p>
            <a:pPr marL="158750" indent="0">
              <a:buNone/>
            </a:pPr>
            <a:r>
              <a:rPr lang="da-DK" b="1" dirty="0"/>
              <a:t>Pointe</a:t>
            </a:r>
          </a:p>
          <a:p>
            <a:r>
              <a:rPr lang="da-DK" dirty="0"/>
              <a:t>Ofte koblet til idéen om </a:t>
            </a:r>
            <a:r>
              <a:rPr lang="da-DK" b="1" dirty="0"/>
              <a:t>AI-overtagelse</a:t>
            </a:r>
            <a:r>
              <a:rPr lang="da-DK" dirty="0"/>
              <a:t> </a:t>
            </a:r>
          </a:p>
          <a:p>
            <a:r>
              <a:rPr lang="da-DK" dirty="0"/>
              <a:t>Men i praksis: </a:t>
            </a:r>
            <a:r>
              <a:rPr lang="da-DK" b="1" dirty="0"/>
              <a:t>ren spekulation</a:t>
            </a:r>
            <a:r>
              <a:rPr lang="da-DK" dirty="0"/>
              <a:t> </a:t>
            </a:r>
          </a:p>
          <a:p>
            <a:pPr marL="158750" indent="0">
              <a:buNone/>
            </a:pPr>
            <a:r>
              <a:rPr lang="da-DK" b="1" dirty="0"/>
              <a:t>Note </a:t>
            </a:r>
          </a:p>
          <a:p>
            <a:pPr marL="158750" indent="0">
              <a:buNone/>
            </a:pPr>
            <a:r>
              <a:rPr lang="da-DK" dirty="0"/>
              <a:t>Hvis AGI opstår → </a:t>
            </a:r>
            <a:r>
              <a:rPr lang="da-DK" i="1" dirty="0"/>
              <a:t>kan</a:t>
            </a:r>
            <a:r>
              <a:rPr lang="da-DK" dirty="0"/>
              <a:t> ASI i teorien følge hurtigt efter</a:t>
            </a:r>
            <a:br>
              <a:rPr lang="da-DK" dirty="0"/>
            </a:br>
            <a:r>
              <a:rPr lang="da-DK" dirty="0"/>
              <a:t>Men: Vi er stadig meget langt fra begge dele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54935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ChatGPT</a:t>
            </a:r>
            <a:r>
              <a:rPr lang="en-US" dirty="0"/>
              <a:t> </a:t>
            </a:r>
            <a:r>
              <a:rPr lang="en-US" dirty="0" err="1"/>
              <a:t>er</a:t>
            </a:r>
            <a:r>
              <a:rPr lang="en-US" dirty="0"/>
              <a:t> </a:t>
            </a:r>
            <a:r>
              <a:rPr lang="en-US" dirty="0" err="1"/>
              <a:t>ikke</a:t>
            </a:r>
            <a:r>
              <a:rPr lang="en-US" dirty="0"/>
              <a:t> </a:t>
            </a:r>
            <a:r>
              <a:rPr lang="en-US" dirty="0" err="1"/>
              <a:t>superintelligent</a:t>
            </a:r>
            <a:r>
              <a:rPr lang="en-US" dirty="0"/>
              <a:t>. </a:t>
            </a:r>
          </a:p>
          <a:p>
            <a:r>
              <a:rPr lang="en-US" dirty="0" err="1"/>
              <a:t>ChatGPT</a:t>
            </a:r>
            <a:r>
              <a:rPr lang="en-US" dirty="0"/>
              <a:t> placers</a:t>
            </a:r>
            <a:r>
              <a:rPr lang="en-US" baseline="0" dirty="0"/>
              <a:t> </a:t>
            </a:r>
            <a:r>
              <a:rPr lang="en-US" dirty="0" err="1"/>
              <a:t>cirka</a:t>
            </a:r>
            <a:r>
              <a:rPr lang="en-US" dirty="0"/>
              <a:t> mellem punkt 1 </a:t>
            </a:r>
            <a:r>
              <a:rPr lang="en-US" dirty="0" err="1"/>
              <a:t>og</a:t>
            </a:r>
            <a:r>
              <a:rPr lang="en-US" dirty="0"/>
              <a:t> 2 - mellem Smal AI og AGI. Superintelligens ligger </a:t>
            </a:r>
            <a:r>
              <a:rPr lang="en-US" dirty="0" err="1"/>
              <a:t>længere</a:t>
            </a:r>
            <a:r>
              <a:rPr lang="en-US" dirty="0"/>
              <a:t> ude </a:t>
            </a:r>
            <a:r>
              <a:rPr lang="en-US" dirty="0" err="1"/>
              <a:t>som</a:t>
            </a:r>
            <a:r>
              <a:rPr lang="en-US" dirty="0"/>
              <a:t> </a:t>
            </a:r>
            <a:r>
              <a:rPr lang="en-US" dirty="0" err="1"/>
              <a:t>og</a:t>
            </a:r>
            <a:r>
              <a:rPr lang="en-US" dirty="0"/>
              <a:t> </a:t>
            </a:r>
            <a:r>
              <a:rPr lang="en-US" dirty="0" err="1"/>
              <a:t>er</a:t>
            </a:r>
            <a:r>
              <a:rPr lang="en-US" dirty="0"/>
              <a:t> rent</a:t>
            </a:r>
            <a:r>
              <a:rPr lang="en-US" baseline="0" dirty="0"/>
              <a:t> </a:t>
            </a:r>
            <a:r>
              <a:rPr lang="en-US" baseline="0" dirty="0" err="1"/>
              <a:t>hypotetisk</a:t>
            </a: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dirty="0">
                <a:latin typeface="Proxima Nova Alt Rg"/>
              </a:rPr>
              <a:t>"Kunstig superintelligens vil blive langt de mest egnede former for intelligens på jorden," sagde Dave </a:t>
            </a:r>
            <a:r>
              <a:rPr lang="da-DK" sz="1100" dirty="0" err="1">
                <a:latin typeface="Proxima Nova Alt Rg"/>
              </a:rPr>
              <a:t>Rogenmoser</a:t>
            </a:r>
            <a:r>
              <a:rPr lang="da-DK" sz="1100" dirty="0">
                <a:latin typeface="Proxima Nova Alt Rg"/>
              </a:rPr>
              <a:t>, administrerende direktør for AI-skrivefirmaet Jasper. "Det vil have menneskets intelligens og vil være overordentlig bedre til alt, hvad vi gør."</a:t>
            </a:r>
            <a:endParaRPr lang="da-DK" sz="1100" dirty="0">
              <a:solidFill>
                <a:srgbClr val="000000"/>
              </a:solidFill>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675253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Reaktiv maskine AI er en konkret AI-type, der reagerer pa stimuli i realtid. Den opbygger ikke varig hukommelse og gemmer ikke viden til fremtiden. Den arbejder efter en enkel logik: Hvis det her sker, sa gor det her.</a:t>
            </a:r>
          </a:p>
          <a:p>
            <a:r>
              <a:rPr lang="da-DK" b="1" dirty="0"/>
              <a:t>Reaktiv maskine AI</a:t>
            </a:r>
          </a:p>
          <a:p>
            <a:r>
              <a:rPr lang="da-DK" dirty="0"/>
              <a:t>Reagerer kun på input i realtid </a:t>
            </a:r>
          </a:p>
          <a:p>
            <a:r>
              <a:rPr lang="da-DK" dirty="0"/>
              <a:t>Har ingen hukommelse </a:t>
            </a:r>
          </a:p>
          <a:p>
            <a:r>
              <a:rPr lang="da-DK" dirty="0"/>
              <a:t>Lærer ikke af tidligere erfaringer </a:t>
            </a:r>
          </a:p>
          <a:p>
            <a:r>
              <a:rPr lang="da-DK" dirty="0"/>
              <a:t>Begrænset til bestemte input og opgaver </a:t>
            </a:r>
          </a:p>
          <a:p>
            <a:r>
              <a:rPr lang="da-DK" dirty="0"/>
              <a:t>Den mest grundlæggende type AI </a:t>
            </a:r>
          </a:p>
          <a:p>
            <a:r>
              <a:rPr lang="da-DK" b="1" dirty="0"/>
              <a:t>Anvendelse:</a:t>
            </a:r>
            <a:endParaRPr lang="da-DK" dirty="0"/>
          </a:p>
          <a:p>
            <a:r>
              <a:rPr lang="da-DK" dirty="0"/>
              <a:t>Udfører simple automatiserede opgaver </a:t>
            </a:r>
          </a:p>
          <a:p>
            <a:r>
              <a:rPr lang="da-DK" dirty="0"/>
              <a:t>Fx spamfiltre og anbefalingssystemer </a:t>
            </a:r>
          </a:p>
          <a:p>
            <a:r>
              <a:rPr lang="da-DK" b="1" dirty="0"/>
              <a:t>Begrænsninger:</a:t>
            </a:r>
            <a:endParaRPr lang="da-DK" dirty="0"/>
          </a:p>
          <a:p>
            <a:r>
              <a:rPr lang="da-DK" dirty="0"/>
              <a:t>Kan ikke bygge videre på tidligere viden </a:t>
            </a:r>
          </a:p>
          <a:p>
            <a:r>
              <a:rPr lang="da-DK" dirty="0"/>
              <a:t>Kan ikke håndtere komplekse opgaver </a:t>
            </a:r>
          </a:p>
          <a:p>
            <a:r>
              <a:rPr lang="da-DK" b="1" dirty="0"/>
              <a:t>Eksempler:</a:t>
            </a:r>
            <a:endParaRPr lang="da-DK" dirty="0"/>
          </a:p>
          <a:p>
            <a:r>
              <a:rPr lang="da-DK" dirty="0"/>
              <a:t>IBM Deep Blue (1997) – reagerede i realtid og slog Kasparov </a:t>
            </a:r>
          </a:p>
          <a:p>
            <a:r>
              <a:rPr lang="da-DK" dirty="0" err="1"/>
              <a:t>Netflix</a:t>
            </a:r>
            <a:r>
              <a:rPr lang="da-DK" dirty="0"/>
              <a:t> anbefalingssystem – foreslår indhold baseret på brugerdata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09424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Spamfiltre er et godt eksempel pa reaktiv maskine AI. Vi hjaelper dem med at laere, men de opbygger ikke egen forstaelse eller hukommelse. Det samme med robotstovsugere: de kan mappe et rum, men finder ikke ny viden om verden. Den her type AI er banal, men vi far enormt meget vaerdi af den i hverdagen.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01701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Begraenset hukommelse AI er et skridt videre end den reaktive maskine. Den kan stadig reagere, men den kan ogsa bruge tidligere data i sine vurderinger. Derfor kan den samle information over tid og laere </a:t>
            </a:r>
            <a:r>
              <a:rPr lang="en-US" dirty="0" err="1"/>
              <a:t>monstre</a:t>
            </a:r>
            <a:r>
              <a:rPr lang="en-US" dirty="0"/>
              <a:t>.</a:t>
            </a:r>
          </a:p>
          <a:p>
            <a:r>
              <a:rPr lang="da-DK" b="1" dirty="0"/>
              <a:t>Begrænset hukommelse AI (Limited Memory)</a:t>
            </a:r>
          </a:p>
          <a:p>
            <a:r>
              <a:rPr lang="da-DK" dirty="0"/>
              <a:t>Kan gemme og bruge tidligere data </a:t>
            </a:r>
          </a:p>
          <a:p>
            <a:r>
              <a:rPr lang="da-DK" dirty="0"/>
              <a:t>Opbygger kortsigtet viden </a:t>
            </a:r>
          </a:p>
          <a:p>
            <a:r>
              <a:rPr lang="da-DK" dirty="0"/>
              <a:t>Lærer af erfaringer over tid </a:t>
            </a:r>
          </a:p>
          <a:p>
            <a:r>
              <a:rPr lang="da-DK" dirty="0"/>
              <a:t>Forbedrer sine beslutninger løbende </a:t>
            </a:r>
          </a:p>
          <a:p>
            <a:r>
              <a:rPr lang="da-DK" b="1" dirty="0"/>
              <a:t>Teknologi:</a:t>
            </a:r>
            <a:endParaRPr lang="da-DK" dirty="0"/>
          </a:p>
          <a:p>
            <a:r>
              <a:rPr lang="da-DK" dirty="0"/>
              <a:t>Bygger på </a:t>
            </a:r>
            <a:r>
              <a:rPr lang="da-DK" dirty="0" err="1"/>
              <a:t>deep</a:t>
            </a:r>
            <a:r>
              <a:rPr lang="da-DK" dirty="0"/>
              <a:t> </a:t>
            </a:r>
            <a:r>
              <a:rPr lang="da-DK" dirty="0" err="1"/>
              <a:t>learning</a:t>
            </a:r>
            <a:r>
              <a:rPr lang="da-DK" dirty="0"/>
              <a:t> </a:t>
            </a:r>
          </a:p>
          <a:p>
            <a:r>
              <a:rPr lang="da-DK" dirty="0"/>
              <a:t>Inspireret af den menneskelige hjerne </a:t>
            </a:r>
          </a:p>
          <a:p>
            <a:r>
              <a:rPr lang="da-DK" dirty="0"/>
              <a:t>Genkender mønstre og lærer af data </a:t>
            </a:r>
          </a:p>
          <a:p>
            <a:r>
              <a:rPr lang="da-DK" b="1" dirty="0"/>
              <a:t>Anvendelse:</a:t>
            </a:r>
            <a:endParaRPr lang="da-DK" dirty="0"/>
          </a:p>
          <a:p>
            <a:r>
              <a:rPr lang="da-DK" dirty="0"/>
              <a:t>Udbredt i moderne AI </a:t>
            </a:r>
          </a:p>
          <a:p>
            <a:r>
              <a:rPr lang="da-DK" dirty="0"/>
              <a:t>Bruges i både simple og avancerede systemer </a:t>
            </a:r>
          </a:p>
          <a:p>
            <a:r>
              <a:rPr lang="da-DK" dirty="0"/>
              <a:t>Fx </a:t>
            </a:r>
            <a:r>
              <a:rPr lang="da-DK" dirty="0" err="1"/>
              <a:t>chatbots</a:t>
            </a:r>
            <a:r>
              <a:rPr lang="da-DK" dirty="0"/>
              <a:t>, anbefalinger og selvkørende biler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59891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Netflix er et klassisk eksempel. Systemet kigger pa, hvad du har set, hvor laenge du blev, og hvad du sprang fra. Ud fra det bygger det en begraenset hukommelse op om dine preferencer. Derfor siger noterne ogsa, at vi i dag omtrent er mellem reaktiv maskine AI og begraenset hukommelse AI.</a:t>
            </a:r>
          </a:p>
          <a:p>
            <a:r>
              <a:rPr lang="da-DK" b="1" dirty="0"/>
              <a:t>Eksempler:</a:t>
            </a:r>
            <a:endParaRPr lang="da-DK" dirty="0"/>
          </a:p>
          <a:p>
            <a:r>
              <a:rPr lang="da-DK" dirty="0" err="1"/>
              <a:t>Chatbots</a:t>
            </a:r>
            <a:r>
              <a:rPr lang="da-DK" dirty="0"/>
              <a:t> og virtuelle assistenter</a:t>
            </a:r>
            <a:br>
              <a:rPr lang="da-DK" dirty="0"/>
            </a:br>
            <a:r>
              <a:rPr lang="da-DK" dirty="0"/>
              <a:t>→ Lærer af brugerinteraktion</a:t>
            </a:r>
            <a:br>
              <a:rPr lang="da-DK" dirty="0"/>
            </a:br>
            <a:r>
              <a:rPr lang="da-DK" dirty="0"/>
              <a:t>→ Husker præferencer og giver personlige svar </a:t>
            </a:r>
          </a:p>
          <a:p>
            <a:r>
              <a:rPr lang="da-DK" dirty="0"/>
              <a:t>Selvkørende biler</a:t>
            </a:r>
            <a:br>
              <a:rPr lang="da-DK" dirty="0"/>
            </a:br>
            <a:r>
              <a:rPr lang="da-DK" dirty="0"/>
              <a:t>→ Observerer omgivelser i realtid</a:t>
            </a:r>
            <a:br>
              <a:rPr lang="da-DK" dirty="0"/>
            </a:br>
            <a:r>
              <a:rPr lang="da-DK" dirty="0"/>
              <a:t>→ Forudsiger handlinger (stop, drej, undgå forhindringer)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215015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Theory of Mind kommer fra psykologien. Det handler om at kunne forsta, at andre har tanker, foleser og mentale tilstande. Overfort til AI betyder det et niveau, hvor systemet ikke bare registrerer data, men nar en helhedsforstaelse af menneskelig </a:t>
            </a:r>
            <a:r>
              <a:rPr lang="en-US" dirty="0" err="1"/>
              <a:t>psyke</a:t>
            </a:r>
            <a:r>
              <a:rPr lang="en-US" dirty="0"/>
              <a:t>.</a:t>
            </a:r>
          </a:p>
          <a:p>
            <a:r>
              <a:rPr lang="da-DK" b="1" dirty="0" err="1"/>
              <a:t>Theory</a:t>
            </a:r>
            <a:r>
              <a:rPr lang="da-DK" b="1" dirty="0"/>
              <a:t> of Mind AI</a:t>
            </a:r>
          </a:p>
          <a:p>
            <a:r>
              <a:rPr lang="da-DK" dirty="0"/>
              <a:t>AI der kan opfatte og forstå andres følelser </a:t>
            </a:r>
          </a:p>
          <a:p>
            <a:r>
              <a:rPr lang="da-DK" dirty="0"/>
              <a:t>Baseret på psykologisk begreb </a:t>
            </a:r>
          </a:p>
          <a:p>
            <a:r>
              <a:rPr lang="da-DK" dirty="0"/>
              <a:t>Kan forudsige adfærd ud fra følelsesmæssige signaler </a:t>
            </a:r>
          </a:p>
          <a:p>
            <a:r>
              <a:rPr lang="da-DK" dirty="0"/>
              <a:t>Næste store milepæl i AI </a:t>
            </a:r>
          </a:p>
          <a:p>
            <a:r>
              <a:rPr lang="da-DK" b="1" dirty="0"/>
              <a:t>Status:</a:t>
            </a:r>
            <a:endParaRPr lang="da-DK" dirty="0"/>
          </a:p>
          <a:p>
            <a:r>
              <a:rPr lang="da-DK" dirty="0"/>
              <a:t>Ikke realiseret endnu </a:t>
            </a:r>
          </a:p>
          <a:p>
            <a:r>
              <a:rPr lang="da-DK" dirty="0"/>
              <a:t>AI kan genkende signaler, men ikke forstå dem </a:t>
            </a:r>
          </a:p>
          <a:p>
            <a:r>
              <a:rPr lang="da-DK" b="1" dirty="0"/>
              <a:t>Muligheder:</a:t>
            </a:r>
            <a:endParaRPr lang="da-DK" dirty="0"/>
          </a:p>
          <a:p>
            <a:r>
              <a:rPr lang="da-DK" dirty="0"/>
              <a:t>Kan forbedre interaktion mellem mennesker og teknologi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740342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 AI kan i princippet registrere, at du ser trist ud, hvis den har et kamera og kan genkende monster. Men det er ikke det samme som at forsta, hvad sorg eller tristhed betyder. Derfor er vi ikke ved Theory of Mind endnu. Nutidens AI forstar ikke menneskelige </a:t>
            </a:r>
            <a:r>
              <a:rPr lang="en-US" dirty="0" err="1"/>
              <a:t>foleser</a:t>
            </a:r>
            <a:r>
              <a:rPr lang="en-US" dirty="0"/>
              <a:t>.</a:t>
            </a:r>
          </a:p>
          <a:p>
            <a:r>
              <a:rPr lang="da-DK" b="1" dirty="0" err="1"/>
              <a:t>Theory</a:t>
            </a:r>
            <a:r>
              <a:rPr lang="da-DK" b="1" dirty="0"/>
              <a:t> of Mind – Følelser vs. mønstre</a:t>
            </a:r>
          </a:p>
          <a:p>
            <a:r>
              <a:rPr lang="da-DK" dirty="0"/>
              <a:t>AI kan genkende følelser som mønstre (fx ansigtsudtryk) </a:t>
            </a:r>
          </a:p>
          <a:p>
            <a:r>
              <a:rPr lang="da-DK" dirty="0"/>
              <a:t>Men forstår ikke hvad følelser betyder </a:t>
            </a:r>
          </a:p>
          <a:p>
            <a:r>
              <a:rPr lang="da-DK" dirty="0"/>
              <a:t>Følelsesmæssige signaler er komplekse og nuancerede </a:t>
            </a:r>
          </a:p>
          <a:p>
            <a:r>
              <a:rPr lang="da-DK" dirty="0"/>
              <a:t>Stor risiko for fejl i fortolkning under indlæring </a:t>
            </a:r>
          </a:p>
          <a:p>
            <a:r>
              <a:rPr lang="da-DK" b="1" dirty="0"/>
              <a:t>Risici:</a:t>
            </a:r>
            <a:endParaRPr lang="da-DK" dirty="0"/>
          </a:p>
          <a:p>
            <a:r>
              <a:rPr lang="da-DK" dirty="0"/>
              <a:t>AI kan misfortolke menneskelig adfærd </a:t>
            </a:r>
          </a:p>
          <a:p>
            <a:r>
              <a:rPr lang="da-DK" dirty="0"/>
              <a:t>Fejl kan have store konsekvenser </a:t>
            </a:r>
          </a:p>
          <a:p>
            <a:r>
              <a:rPr lang="da-DK" dirty="0"/>
              <a:t>Kan føre til øget automatisering af jobs </a:t>
            </a:r>
          </a:p>
          <a:p>
            <a:r>
              <a:rPr lang="da-DK" b="1" dirty="0"/>
              <a:t>Eksempel:</a:t>
            </a:r>
            <a:endParaRPr lang="da-DK" dirty="0"/>
          </a:p>
          <a:p>
            <a:r>
              <a:rPr lang="da-DK" dirty="0"/>
              <a:t>Selvkørende bil</a:t>
            </a:r>
            <a:br>
              <a:rPr lang="da-DK" dirty="0"/>
            </a:br>
            <a:r>
              <a:rPr lang="da-DK" dirty="0"/>
              <a:t>→ Menneske: ved børn leger nær vejen → sænker farten</a:t>
            </a:r>
            <a:br>
              <a:rPr lang="da-DK" dirty="0"/>
            </a:br>
            <a:r>
              <a:rPr lang="da-DK" dirty="0"/>
              <a:t>→ AI (uden </a:t>
            </a:r>
            <a:r>
              <a:rPr lang="da-DK" dirty="0" err="1"/>
              <a:t>Theory</a:t>
            </a:r>
            <a:r>
              <a:rPr lang="da-DK" dirty="0"/>
              <a:t> of Mind): reagerer kun på data</a:t>
            </a:r>
            <a:br>
              <a:rPr lang="da-DK" dirty="0"/>
            </a:br>
            <a:r>
              <a:rPr lang="da-DK" dirty="0"/>
              <a:t>→ Med </a:t>
            </a:r>
            <a:r>
              <a:rPr lang="da-DK" dirty="0" err="1"/>
              <a:t>Theory</a:t>
            </a:r>
            <a:r>
              <a:rPr lang="da-DK" dirty="0"/>
              <a:t> of Mind: kunne forstå kontekst og handle mere menneskeligt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621741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Selvbevidst AI er den sidste fase i modellen. Her er AI ikke bare i stand til at genkende andres mentale tilstande, men har ogsa en form for selvforstaelse. Det ville vaere et niveau, der minder om menneskelig intelligens og </a:t>
            </a:r>
            <a:r>
              <a:rPr lang="en-US" dirty="0" err="1"/>
              <a:t>bevidsthed</a:t>
            </a:r>
            <a:r>
              <a:rPr lang="en-US" dirty="0"/>
              <a:t>.</a:t>
            </a:r>
          </a:p>
          <a:p>
            <a:endParaRPr lang="en-US" dirty="0"/>
          </a:p>
          <a:p>
            <a:r>
              <a:rPr lang="da-DK" b="1" dirty="0"/>
              <a:t>Selvbevidst AI</a:t>
            </a:r>
          </a:p>
          <a:p>
            <a:r>
              <a:rPr lang="da-DK" dirty="0"/>
              <a:t>AI med selvbevidsthed </a:t>
            </a:r>
          </a:p>
          <a:p>
            <a:r>
              <a:rPr lang="da-DK" dirty="0"/>
              <a:t>Har en følelse af “sig selv” </a:t>
            </a:r>
          </a:p>
          <a:p>
            <a:r>
              <a:rPr lang="da-DK" dirty="0"/>
              <a:t>Kan forstå både egne og andres følelser </a:t>
            </a:r>
          </a:p>
          <a:p>
            <a:r>
              <a:rPr lang="da-DK" dirty="0"/>
              <a:t>Stadiet efter </a:t>
            </a:r>
            <a:r>
              <a:rPr lang="da-DK" dirty="0" err="1"/>
              <a:t>Theory</a:t>
            </a:r>
            <a:r>
              <a:rPr lang="da-DK" dirty="0"/>
              <a:t> of Mind </a:t>
            </a:r>
          </a:p>
          <a:p>
            <a:r>
              <a:rPr lang="da-DK" dirty="0"/>
              <a:t>Et af de ultimative mål i AI-udvikling </a:t>
            </a:r>
          </a:p>
          <a:p>
            <a:r>
              <a:rPr lang="da-DK" b="1" dirty="0"/>
              <a:t>Begreb:</a:t>
            </a:r>
            <a:endParaRPr lang="da-DK" dirty="0"/>
          </a:p>
          <a:p>
            <a:r>
              <a:rPr lang="da-DK" dirty="0"/>
              <a:t>Kaldes også AI-</a:t>
            </a:r>
            <a:r>
              <a:rPr lang="da-DK" dirty="0" err="1"/>
              <a:t>singularitet</a:t>
            </a:r>
            <a:r>
              <a:rPr lang="da-DK" dirty="0"/>
              <a:t> </a:t>
            </a:r>
          </a:p>
          <a:p>
            <a:r>
              <a:rPr lang="da-DK" dirty="0"/>
              <a:t>Punkt hvor AI potentielt overgår menneskelig kontrol </a:t>
            </a:r>
          </a:p>
          <a:p>
            <a:r>
              <a:rPr lang="da-DK" b="1" dirty="0"/>
              <a:t>Status:</a:t>
            </a:r>
            <a:endParaRPr lang="da-DK" dirty="0"/>
          </a:p>
          <a:p>
            <a:r>
              <a:rPr lang="da-DK" dirty="0"/>
              <a:t>Findes ikke endnu </a:t>
            </a:r>
          </a:p>
          <a:p>
            <a:r>
              <a:rPr lang="da-DK" dirty="0"/>
              <a:t>Stadig teoretisk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10467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Hvis AI bade kan forsta andre og sig selv, bliver den meget mere end et vaerktoj. Sa kan vi begynde at tale om noget, der minder om personhood. Derfor bliver sporgsmalet om intelligens helt centralt. I dag er AI sandsynligvis ikke sa intelligent, som ordet far det til at </a:t>
            </a:r>
            <a:r>
              <a:rPr lang="en-US" dirty="0" err="1"/>
              <a:t>lyde</a:t>
            </a:r>
            <a:r>
              <a:rPr lang="en-US" dirty="0"/>
              <a:t>.</a:t>
            </a:r>
          </a:p>
          <a:p>
            <a:endParaRPr lang="en-US" dirty="0"/>
          </a:p>
          <a:p>
            <a:r>
              <a:rPr lang="da-DK" b="1" dirty="0"/>
              <a:t>Selvbevidst AI – hvorfor er den så radikal?</a:t>
            </a:r>
          </a:p>
          <a:p>
            <a:r>
              <a:rPr lang="da-DK" dirty="0"/>
              <a:t>AI vil ikke kun forstå følelser, men også have egne </a:t>
            </a:r>
          </a:p>
          <a:p>
            <a:r>
              <a:rPr lang="da-DK" dirty="0"/>
              <a:t>Kan handle selvstændigt med egen “identitet” </a:t>
            </a:r>
          </a:p>
          <a:p>
            <a:r>
              <a:rPr lang="da-DK" dirty="0"/>
              <a:t>Potentielt uden for menneskelig kontrol </a:t>
            </a:r>
          </a:p>
          <a:p>
            <a:r>
              <a:rPr lang="da-DK" b="1" dirty="0"/>
              <a:t>Perspektiv:</a:t>
            </a:r>
            <a:endParaRPr lang="da-DK" dirty="0"/>
          </a:p>
          <a:p>
            <a:r>
              <a:rPr lang="da-DK" dirty="0"/>
              <a:t>Kan revolutionere teknologi og samfund </a:t>
            </a:r>
          </a:p>
          <a:p>
            <a:r>
              <a:rPr lang="da-DK" dirty="0"/>
              <a:t>Indeholder både store muligheder og risici </a:t>
            </a:r>
          </a:p>
          <a:p>
            <a:r>
              <a:rPr lang="da-DK" b="1" dirty="0"/>
              <a:t>Etik:</a:t>
            </a:r>
            <a:endParaRPr lang="da-DK" dirty="0"/>
          </a:p>
          <a:p>
            <a:r>
              <a:rPr lang="da-DK" dirty="0"/>
              <a:t>Debat om hvorvidt vi bør skabe sansende AI </a:t>
            </a:r>
          </a:p>
          <a:p>
            <a:r>
              <a:rPr lang="da-DK" dirty="0"/>
              <a:t>Spørgsmål om ansvar og kontrol </a:t>
            </a:r>
          </a:p>
          <a:p>
            <a:r>
              <a:rPr lang="da-DK" b="1" dirty="0"/>
              <a:t>Eksempel:</a:t>
            </a:r>
            <a:endParaRPr lang="da-DK" dirty="0"/>
          </a:p>
          <a:p>
            <a:r>
              <a:rPr lang="da-DK" dirty="0"/>
              <a:t>Sophia (robot fra Hanson </a:t>
            </a:r>
            <a:r>
              <a:rPr lang="da-DK" dirty="0" err="1"/>
              <a:t>Robotics</a:t>
            </a:r>
            <a:r>
              <a:rPr lang="da-DK" dirty="0"/>
              <a:t>)</a:t>
            </a:r>
            <a:br>
              <a:rPr lang="da-DK" dirty="0"/>
            </a:br>
            <a:r>
              <a:rPr lang="da-DK" dirty="0"/>
              <a:t>→ Ikke selvbevidst, men avanceret AI</a:t>
            </a:r>
            <a:br>
              <a:rPr lang="da-DK" dirty="0"/>
            </a:br>
            <a:r>
              <a:rPr lang="da-DK" dirty="0"/>
              <a:t>→ Giver et glimt af fremtiden</a:t>
            </a:r>
            <a:br>
              <a:rPr lang="da-DK" dirty="0"/>
            </a:br>
            <a:r>
              <a:rPr lang="da-DK" dirty="0"/>
              <a:t>→ Viser potentialet – men også usikkerheden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144492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 </a:t>
            </a:r>
            <a:r>
              <a:rPr lang="en-US" dirty="0" err="1"/>
              <a:t>forlængelse</a:t>
            </a:r>
            <a:r>
              <a:rPr lang="en-US" dirty="0"/>
              <a:t> af de syv typer ligger diskussionen om world models og LLM'er. </a:t>
            </a:r>
          </a:p>
          <a:p>
            <a:r>
              <a:rPr lang="en-US" dirty="0" err="1"/>
              <a:t>En</a:t>
            </a:r>
            <a:r>
              <a:rPr lang="en-US" dirty="0"/>
              <a:t> LLM kan mange sprog og har adgang til enorm viden. </a:t>
            </a:r>
          </a:p>
          <a:p>
            <a:r>
              <a:rPr lang="en-US" dirty="0"/>
              <a:t>Men det er stadig ikke det samme som at </a:t>
            </a:r>
            <a:r>
              <a:rPr lang="en-US" dirty="0" err="1"/>
              <a:t>forstå</a:t>
            </a:r>
            <a:r>
              <a:rPr lang="en-US" baseline="0" dirty="0"/>
              <a:t> </a:t>
            </a:r>
            <a:r>
              <a:rPr lang="en-US" dirty="0" err="1"/>
              <a:t>verden</a:t>
            </a:r>
            <a:r>
              <a:rPr lang="en-US" dirty="0"/>
              <a:t>. </a:t>
            </a:r>
          </a:p>
          <a:p>
            <a:r>
              <a:rPr lang="en-US" dirty="0" err="1"/>
              <a:t>Derfor</a:t>
            </a:r>
            <a:r>
              <a:rPr lang="en-US" dirty="0"/>
              <a:t> </a:t>
            </a:r>
            <a:r>
              <a:rPr lang="en-US" dirty="0" err="1"/>
              <a:t>bliver</a:t>
            </a:r>
            <a:r>
              <a:rPr lang="en-US" dirty="0"/>
              <a:t> </a:t>
            </a:r>
            <a:r>
              <a:rPr lang="en-US" dirty="0" err="1"/>
              <a:t>grænsen</a:t>
            </a:r>
            <a:r>
              <a:rPr lang="en-US" dirty="0"/>
              <a:t> mellem viden </a:t>
            </a:r>
            <a:r>
              <a:rPr lang="en-US" dirty="0" err="1"/>
              <a:t>og</a:t>
            </a:r>
            <a:r>
              <a:rPr lang="en-US" dirty="0"/>
              <a:t> </a:t>
            </a:r>
            <a:r>
              <a:rPr lang="en-US" dirty="0" err="1"/>
              <a:t>forståelse</a:t>
            </a:r>
            <a:r>
              <a:rPr lang="en-US" dirty="0"/>
              <a:t> et vigtigt tema.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059403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7296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7417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Hvis vi skal placere nutidens systemer, sa ligger de cirka mellem Smal AI og AGI pa den filosofiske akse og mellem reaktiv maskine AI og begraenset hukommelse AI pa den mere konkrete akse. Moderne AI er meget staerk pa monstre og viden, men langt svagere pa egentlig forstaelse.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1018484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Opsamlingen er, at de tre forste typer beskriver intelligensniveauer, mens de fire sidste beskriver funktionsniveauer. 4 og 5 matcher Smal AI. 6 og 7 matcher AGI. Superintelligens star som en teoretisk horisont ovenover. Derfor kan vi ogsa sige, at dagens LLM'er ligger mellem 1 og 2 - og mellem 4 og 5.</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Her er </a:t>
            </a:r>
            <a:r>
              <a:rPr lang="en-US" dirty="0" err="1"/>
              <a:t>pointen</a:t>
            </a:r>
            <a:r>
              <a:rPr lang="en-US" dirty="0"/>
              <a:t>, at de </a:t>
            </a:r>
            <a:r>
              <a:rPr lang="en-US" dirty="0" err="1"/>
              <a:t>syv</a:t>
            </a:r>
            <a:r>
              <a:rPr lang="en-US" dirty="0"/>
              <a:t> typer </a:t>
            </a:r>
            <a:r>
              <a:rPr lang="en-US" dirty="0" err="1"/>
              <a:t>skal</a:t>
            </a:r>
            <a:r>
              <a:rPr lang="en-US" dirty="0"/>
              <a:t> </a:t>
            </a:r>
            <a:r>
              <a:rPr lang="en-US" dirty="0" err="1"/>
              <a:t>læses</a:t>
            </a:r>
            <a:r>
              <a:rPr lang="en-US" dirty="0"/>
              <a:t> </a:t>
            </a:r>
            <a:r>
              <a:rPr lang="en-US" dirty="0" err="1"/>
              <a:t>i</a:t>
            </a:r>
            <a:r>
              <a:rPr lang="en-US" dirty="0"/>
              <a:t> to </a:t>
            </a:r>
            <a:r>
              <a:rPr lang="en-US" dirty="0" err="1"/>
              <a:t>spor</a:t>
            </a:r>
            <a:r>
              <a:rPr lang="en-US"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Det </a:t>
            </a:r>
            <a:r>
              <a:rPr lang="en-US" dirty="0" err="1"/>
              <a:t>ene</a:t>
            </a:r>
            <a:r>
              <a:rPr lang="en-US" dirty="0"/>
              <a:t> </a:t>
            </a:r>
            <a:r>
              <a:rPr lang="en-US" dirty="0" err="1"/>
              <a:t>spor</a:t>
            </a:r>
            <a:r>
              <a:rPr lang="en-US" dirty="0"/>
              <a:t> handler om </a:t>
            </a:r>
            <a:r>
              <a:rPr lang="en-US" dirty="0" err="1"/>
              <a:t>niveauet</a:t>
            </a:r>
            <a:r>
              <a:rPr lang="en-US" dirty="0"/>
              <a:t> </a:t>
            </a:r>
            <a:r>
              <a:rPr lang="en-US" dirty="0" err="1"/>
              <a:t>af</a:t>
            </a:r>
            <a:r>
              <a:rPr lang="en-US" dirty="0"/>
              <a:t> </a:t>
            </a:r>
            <a:r>
              <a:rPr lang="en-US" dirty="0" err="1"/>
              <a:t>intelligens</a:t>
            </a:r>
            <a:r>
              <a:rPr lang="en-US" dirty="0"/>
              <a:t>: Smal AI, AGI </a:t>
            </a:r>
            <a:r>
              <a:rPr lang="en-US" dirty="0" err="1"/>
              <a:t>og</a:t>
            </a:r>
            <a:r>
              <a:rPr lang="en-US" dirty="0"/>
              <a:t> </a:t>
            </a:r>
            <a:r>
              <a:rPr lang="en-US" dirty="0" err="1"/>
              <a:t>superintelligens</a:t>
            </a:r>
            <a:r>
              <a:rPr lang="en-US"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Det </a:t>
            </a:r>
            <a:r>
              <a:rPr lang="en-US" dirty="0" err="1"/>
              <a:t>andet</a:t>
            </a:r>
            <a:r>
              <a:rPr lang="en-US" dirty="0"/>
              <a:t> </a:t>
            </a:r>
            <a:r>
              <a:rPr lang="en-US" dirty="0" err="1"/>
              <a:t>spor</a:t>
            </a:r>
            <a:r>
              <a:rPr lang="en-US" dirty="0"/>
              <a:t> handler om </a:t>
            </a:r>
            <a:r>
              <a:rPr lang="en-US" dirty="0" err="1"/>
              <a:t>funktion</a:t>
            </a:r>
            <a:r>
              <a:rPr lang="en-US" dirty="0"/>
              <a:t>: </a:t>
            </a:r>
            <a:r>
              <a:rPr lang="en-US" b="1" dirty="0" err="1"/>
              <a:t>reaktiv</a:t>
            </a:r>
            <a:r>
              <a:rPr lang="en-US" b="1" dirty="0"/>
              <a:t> </a:t>
            </a:r>
            <a:r>
              <a:rPr lang="en-US" b="1" dirty="0" err="1"/>
              <a:t>maskine</a:t>
            </a:r>
            <a:r>
              <a:rPr lang="en-US" b="1" dirty="0"/>
              <a:t>, </a:t>
            </a:r>
            <a:r>
              <a:rPr lang="en-US" b="1" dirty="0" err="1"/>
              <a:t>begrænset</a:t>
            </a:r>
            <a:r>
              <a:rPr lang="en-US" b="1" dirty="0"/>
              <a:t> </a:t>
            </a:r>
            <a:r>
              <a:rPr lang="en-US" b="1" dirty="0" err="1"/>
              <a:t>hukommelse</a:t>
            </a:r>
            <a:r>
              <a:rPr lang="en-US" b="1" dirty="0"/>
              <a:t>, Theory of Mind </a:t>
            </a:r>
            <a:r>
              <a:rPr lang="en-US" b="1" dirty="0" err="1"/>
              <a:t>og</a:t>
            </a:r>
            <a:r>
              <a:rPr lang="en-US" b="1" dirty="0"/>
              <a:t> </a:t>
            </a:r>
            <a:r>
              <a:rPr lang="en-US" b="1" dirty="0" err="1"/>
              <a:t>selvbevidst</a:t>
            </a:r>
            <a:r>
              <a:rPr lang="en-US" b="1" dirty="0"/>
              <a:t> AI</a:t>
            </a:r>
            <a:r>
              <a:rPr lang="en-US" dirty="0"/>
              <a:t>.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err="1"/>
              <a:t>Derfor</a:t>
            </a:r>
            <a:r>
              <a:rPr lang="en-US" dirty="0"/>
              <a:t> matcher 4 </a:t>
            </a:r>
            <a:r>
              <a:rPr lang="en-US" dirty="0" err="1"/>
              <a:t>og</a:t>
            </a:r>
            <a:r>
              <a:rPr lang="en-US" dirty="0"/>
              <a:t> 5 </a:t>
            </a:r>
            <a:r>
              <a:rPr lang="en-US" dirty="0" err="1"/>
              <a:t>i</a:t>
            </a:r>
            <a:r>
              <a:rPr lang="en-US" dirty="0"/>
              <a:t> </a:t>
            </a:r>
            <a:r>
              <a:rPr lang="en-US" dirty="0" err="1"/>
              <a:t>praksis</a:t>
            </a:r>
            <a:r>
              <a:rPr lang="en-US" dirty="0"/>
              <a:t> Smal AI, </a:t>
            </a:r>
            <a:r>
              <a:rPr lang="en-US" dirty="0" err="1"/>
              <a:t>mens</a:t>
            </a:r>
            <a:r>
              <a:rPr lang="en-US" dirty="0"/>
              <a:t> 6 </a:t>
            </a:r>
            <a:r>
              <a:rPr lang="en-US" dirty="0" err="1"/>
              <a:t>og</a:t>
            </a:r>
            <a:r>
              <a:rPr lang="en-US" dirty="0"/>
              <a:t> 7 </a:t>
            </a:r>
            <a:r>
              <a:rPr lang="en-US" dirty="0" err="1"/>
              <a:t>peger</a:t>
            </a:r>
            <a:r>
              <a:rPr lang="en-US" dirty="0"/>
              <a:t> mod AGI.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389525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91038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en-US" b="1" dirty="0"/>
          </a:p>
          <a:p>
            <a:r>
              <a:rPr lang="en-US" dirty="0"/>
              <a:t>Vi starter </a:t>
            </a:r>
            <a:r>
              <a:rPr lang="en-US" dirty="0" err="1"/>
              <a:t>i</a:t>
            </a:r>
            <a:r>
              <a:rPr lang="en-US" dirty="0"/>
              <a:t> </a:t>
            </a:r>
            <a:r>
              <a:rPr lang="en-US" dirty="0" err="1"/>
              <a:t>det</a:t>
            </a:r>
            <a:r>
              <a:rPr lang="en-US" dirty="0"/>
              <a:t> </a:t>
            </a:r>
            <a:r>
              <a:rPr lang="en-US" dirty="0" err="1"/>
              <a:t>konkrete</a:t>
            </a:r>
            <a:r>
              <a:rPr lang="en-US" dirty="0"/>
              <a:t> (</a:t>
            </a:r>
            <a:r>
              <a:rPr lang="en-US" dirty="0" err="1"/>
              <a:t>billeder</a:t>
            </a:r>
            <a:r>
              <a:rPr lang="en-US" dirty="0"/>
              <a:t>/</a:t>
            </a:r>
            <a:r>
              <a:rPr lang="en-US" dirty="0" err="1"/>
              <a:t>lyd</a:t>
            </a:r>
            <a:r>
              <a:rPr lang="en-US" dirty="0"/>
              <a:t>)</a:t>
            </a:r>
          </a:p>
          <a:p>
            <a:r>
              <a:rPr lang="en-US" dirty="0" err="1"/>
              <a:t>Så</a:t>
            </a:r>
            <a:r>
              <a:rPr lang="en-US" dirty="0"/>
              <a:t> </a:t>
            </a:r>
            <a:r>
              <a:rPr lang="en-US" dirty="0" err="1"/>
              <a:t>åbner</a:t>
            </a:r>
            <a:r>
              <a:rPr lang="en-US" dirty="0"/>
              <a:t> vi </a:t>
            </a:r>
            <a:r>
              <a:rPr lang="en-US" dirty="0" err="1"/>
              <a:t>motorhjelmen</a:t>
            </a:r>
            <a:r>
              <a:rPr lang="en-US" dirty="0"/>
              <a:t> </a:t>
            </a:r>
            <a:r>
              <a:rPr lang="en-US" dirty="0" err="1"/>
              <a:t>og</a:t>
            </a:r>
            <a:r>
              <a:rPr lang="en-US" dirty="0"/>
              <a:t> </a:t>
            </a:r>
            <a:r>
              <a:rPr lang="en-US" dirty="0" err="1"/>
              <a:t>ser</a:t>
            </a:r>
            <a:r>
              <a:rPr lang="en-US" dirty="0"/>
              <a:t> </a:t>
            </a:r>
            <a:r>
              <a:rPr lang="en-US" dirty="0" err="1"/>
              <a:t>hvordan</a:t>
            </a:r>
            <a:r>
              <a:rPr lang="en-US" dirty="0"/>
              <a:t> </a:t>
            </a:r>
            <a:r>
              <a:rPr lang="en-US" dirty="0" err="1"/>
              <a:t>det</a:t>
            </a:r>
            <a:r>
              <a:rPr lang="en-US" dirty="0"/>
              <a:t> </a:t>
            </a:r>
            <a:r>
              <a:rPr lang="en-US" dirty="0" err="1"/>
              <a:t>virker</a:t>
            </a:r>
            <a:endParaRPr lang="en-US" dirty="0"/>
          </a:p>
          <a:p>
            <a:r>
              <a:rPr lang="en-US" dirty="0" err="1"/>
              <a:t>Målet</a:t>
            </a:r>
            <a:r>
              <a:rPr lang="en-US" dirty="0"/>
              <a:t> </a:t>
            </a:r>
            <a:r>
              <a:rPr lang="en-US" dirty="0" err="1"/>
              <a:t>er</a:t>
            </a:r>
            <a:r>
              <a:rPr lang="en-US" dirty="0"/>
              <a:t> </a:t>
            </a:r>
            <a:r>
              <a:rPr lang="en-US" dirty="0" err="1"/>
              <a:t>ikke</a:t>
            </a:r>
            <a:r>
              <a:rPr lang="en-US" dirty="0"/>
              <a:t> at </a:t>
            </a:r>
            <a:r>
              <a:rPr lang="en-US" dirty="0" err="1"/>
              <a:t>kode</a:t>
            </a:r>
            <a:r>
              <a:rPr lang="en-US" dirty="0"/>
              <a:t> – men at </a:t>
            </a:r>
            <a:r>
              <a:rPr lang="en-US" dirty="0" err="1"/>
              <a:t>forstå</a:t>
            </a:r>
            <a:r>
              <a:rPr lang="en-US" dirty="0"/>
              <a:t> </a:t>
            </a:r>
            <a:r>
              <a:rPr lang="en-US" dirty="0" err="1"/>
              <a:t>mekanismerne</a:t>
            </a:r>
            <a:endParaRPr lang="en-US" dirty="0"/>
          </a:p>
          <a:p>
            <a:r>
              <a:rPr lang="en-US" dirty="0" err="1"/>
              <a:t>Det</a:t>
            </a:r>
            <a:r>
              <a:rPr lang="en-US" dirty="0"/>
              <a:t> </a:t>
            </a:r>
            <a:r>
              <a:rPr lang="en-US" dirty="0" err="1"/>
              <a:t>gør</a:t>
            </a:r>
            <a:r>
              <a:rPr lang="en-US" dirty="0"/>
              <a:t> </a:t>
            </a:r>
            <a:r>
              <a:rPr lang="en-US" dirty="0" err="1"/>
              <a:t>jer</a:t>
            </a:r>
            <a:r>
              <a:rPr lang="en-US" dirty="0"/>
              <a:t> </a:t>
            </a:r>
            <a:r>
              <a:rPr lang="en-US" dirty="0" err="1"/>
              <a:t>bedre</a:t>
            </a:r>
            <a:r>
              <a:rPr lang="en-US" dirty="0"/>
              <a:t> </a:t>
            </a:r>
            <a:r>
              <a:rPr lang="en-US" dirty="0" err="1"/>
              <a:t>til</a:t>
            </a:r>
            <a:r>
              <a:rPr lang="en-US" dirty="0"/>
              <a:t> </a:t>
            </a:r>
            <a:r>
              <a:rPr lang="en-US" dirty="0" err="1"/>
              <a:t>både</a:t>
            </a:r>
            <a:r>
              <a:rPr lang="en-US" dirty="0"/>
              <a:t> at </a:t>
            </a:r>
            <a:r>
              <a:rPr lang="en-US" dirty="0" err="1"/>
              <a:t>bruge</a:t>
            </a:r>
            <a:r>
              <a:rPr lang="en-US" dirty="0"/>
              <a:t> </a:t>
            </a:r>
            <a:r>
              <a:rPr lang="en-US" dirty="0" err="1"/>
              <a:t>og</a:t>
            </a:r>
            <a:r>
              <a:rPr lang="en-US" dirty="0"/>
              <a:t> </a:t>
            </a:r>
            <a:r>
              <a:rPr lang="en-US" dirty="0" err="1"/>
              <a:t>vurdere</a:t>
            </a:r>
            <a:r>
              <a:rPr lang="en-US" dirty="0"/>
              <a:t> AI</a:t>
            </a:r>
          </a:p>
          <a:p>
            <a:endParaRPr lang="en-US" dirty="0"/>
          </a:p>
        </p:txBody>
      </p:sp>
    </p:spTree>
    <p:extLst>
      <p:ext uri="{BB962C8B-B14F-4D97-AF65-F5344CB8AC3E}">
        <p14:creationId xmlns:p14="http://schemas.microsoft.com/office/powerpoint/2010/main" val="37077674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1452633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3417552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Hvad lagde I mærke til, da I hørte hinandens processer?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Var der noget, nogen gjorde, som I selv kunne få lyst til at prøve?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Hvilke valg havde størst betydning for det endelige billede?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Hvornår vidste I, at billedet var “godt nok”?</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“Er der andre, der har oplevet noget lignende?”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“Var der nogen, der gjorde noget helt anderledes?”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“Hvad ville I gøre anderledes næste gang?”</a:t>
            </a:r>
          </a:p>
          <a:p>
            <a:endParaRPr lang="da-DK" dirty="0"/>
          </a:p>
        </p:txBody>
      </p:sp>
    </p:spTree>
    <p:extLst>
      <p:ext uri="{BB962C8B-B14F-4D97-AF65-F5344CB8AC3E}">
        <p14:creationId xmlns:p14="http://schemas.microsoft.com/office/powerpoint/2010/main" val="37003261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2484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52024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26330222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41326765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39692370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Hvilke </a:t>
            </a:r>
            <a:r>
              <a:rPr lang="da-DK" sz="1100" b="1" i="0" u="none" strike="noStrike" cap="none" dirty="0">
                <a:solidFill>
                  <a:srgbClr val="000000"/>
                </a:solidFill>
                <a:effectLst/>
                <a:latin typeface="Arial"/>
                <a:ea typeface="Arial"/>
                <a:cs typeface="Arial"/>
                <a:sym typeface="Arial"/>
              </a:rPr>
              <a:t>valg og tilpasninger</a:t>
            </a:r>
            <a:r>
              <a:rPr lang="da-DK" sz="1100" b="0" i="0" u="none" strike="noStrike" cap="none" dirty="0">
                <a:solidFill>
                  <a:srgbClr val="000000"/>
                </a:solidFill>
                <a:effectLst/>
                <a:latin typeface="Arial"/>
                <a:ea typeface="Arial"/>
                <a:cs typeface="Arial"/>
                <a:sym typeface="Arial"/>
              </a:rPr>
              <a:t> lavede I undervejs?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da-DK" sz="1100" b="0" i="0" u="none" strike="noStrike" cap="none" dirty="0">
                <a:solidFill>
                  <a:srgbClr val="000000"/>
                </a:solidFill>
                <a:effectLst/>
                <a:latin typeface="Arial"/>
                <a:ea typeface="Arial"/>
                <a:cs typeface="Arial"/>
                <a:sym typeface="Arial"/>
              </a:rPr>
              <a:t>Hvornår besluttede I, at musikstykket var “færdigt”?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da-DK" sz="1100" b="0" i="0" u="none" strike="noStrike" cap="none" dirty="0">
              <a:solidFill>
                <a:srgbClr val="000000"/>
              </a:solidFill>
              <a:effectLst/>
              <a:latin typeface="Arial"/>
              <a:ea typeface="Arial"/>
              <a:cs typeface="Arial"/>
              <a:sym typeface="Arial"/>
            </a:endParaRPr>
          </a:p>
          <a:p>
            <a:pPr fontAlgn="t"/>
            <a:r>
              <a:rPr lang="da-DK" sz="1100" b="1" i="0" u="none" strike="noStrike" cap="none" dirty="0">
                <a:solidFill>
                  <a:srgbClr val="000000"/>
                </a:solidFill>
                <a:effectLst/>
                <a:latin typeface="Arial"/>
                <a:ea typeface="Arial"/>
                <a:cs typeface="Arial"/>
                <a:sym typeface="Arial"/>
              </a:rPr>
              <a:t>Udvalgte grupper/parer deler</a:t>
            </a:r>
            <a:endParaRPr lang="da-DK" sz="1100" b="0" i="0" u="none" strike="noStrike" cap="none" dirty="0">
              <a:solidFill>
                <a:srgbClr val="000000"/>
              </a:solidFill>
              <a:effectLst/>
              <a:latin typeface="Arial"/>
              <a:ea typeface="Arial"/>
              <a:cs typeface="Arial"/>
              <a:sym typeface="Arial"/>
            </a:endParaRPr>
          </a:p>
          <a:p>
            <a:pPr fontAlgn="t"/>
            <a:r>
              <a:rPr lang="da-DK" sz="1100" b="0" i="0" u="none" strike="noStrike" cap="none" dirty="0">
                <a:solidFill>
                  <a:srgbClr val="000000"/>
                </a:solidFill>
                <a:effectLst/>
                <a:latin typeface="Arial"/>
                <a:ea typeface="Arial"/>
                <a:cs typeface="Arial"/>
                <a:sym typeface="Arial"/>
              </a:rPr>
              <a:t>Afspil et kort uddrag af jeres musikstykke.</a:t>
            </a:r>
          </a:p>
          <a:p>
            <a:pPr fontAlgn="t"/>
            <a:r>
              <a:rPr lang="da-DK" sz="1100" b="0" i="0" u="none" strike="noStrike" cap="none" dirty="0">
                <a:solidFill>
                  <a:srgbClr val="000000"/>
                </a:solidFill>
                <a:effectLst/>
                <a:latin typeface="Arial"/>
                <a:ea typeface="Arial"/>
                <a:cs typeface="Arial"/>
                <a:sym typeface="Arial"/>
              </a:rPr>
              <a:t>Fortæl hvilken </a:t>
            </a:r>
            <a:r>
              <a:rPr lang="da-DK" sz="1100" b="1" i="0" u="none" strike="noStrike" cap="none" dirty="0">
                <a:solidFill>
                  <a:srgbClr val="000000"/>
                </a:solidFill>
                <a:effectLst/>
                <a:latin typeface="Arial"/>
                <a:ea typeface="Arial"/>
                <a:cs typeface="Arial"/>
                <a:sym typeface="Arial"/>
              </a:rPr>
              <a:t>genre og hvilket tema</a:t>
            </a:r>
            <a:r>
              <a:rPr lang="da-DK" sz="1100" b="0" i="0" u="none" strike="noStrike" cap="none" dirty="0">
                <a:solidFill>
                  <a:srgbClr val="000000"/>
                </a:solidFill>
                <a:effectLst/>
                <a:latin typeface="Arial"/>
                <a:ea typeface="Arial"/>
                <a:cs typeface="Arial"/>
                <a:sym typeface="Arial"/>
              </a:rPr>
              <a:t> I arbejdede med.</a:t>
            </a:r>
          </a:p>
          <a:p>
            <a:pPr fontAlgn="t"/>
            <a:r>
              <a:rPr lang="da-DK" sz="1100" b="1" i="0" u="none" strike="noStrike" cap="none" dirty="0">
                <a:solidFill>
                  <a:srgbClr val="000000"/>
                </a:solidFill>
                <a:effectLst/>
                <a:latin typeface="Arial"/>
                <a:ea typeface="Arial"/>
                <a:cs typeface="Arial"/>
                <a:sym typeface="Arial"/>
              </a:rPr>
              <a:t>Fokus på processen</a:t>
            </a:r>
            <a:br>
              <a:rPr lang="da-DK" sz="1100" b="0" i="0" u="none" strike="noStrike" cap="none" dirty="0">
                <a:solidFill>
                  <a:srgbClr val="000000"/>
                </a:solidFill>
                <a:effectLst/>
                <a:latin typeface="Arial"/>
                <a:ea typeface="Arial"/>
                <a:cs typeface="Arial"/>
                <a:sym typeface="Arial"/>
              </a:rPr>
            </a:br>
            <a:r>
              <a:rPr lang="da-DK" sz="1100" b="0" i="0" u="none" strike="noStrike" cap="none" dirty="0">
                <a:solidFill>
                  <a:srgbClr val="000000"/>
                </a:solidFill>
                <a:effectLst/>
                <a:latin typeface="Arial"/>
                <a:ea typeface="Arial"/>
                <a:cs typeface="Arial"/>
                <a:sym typeface="Arial"/>
              </a:rPr>
              <a:t>Klassen reflekterer sammen over:</a:t>
            </a:r>
          </a:p>
          <a:p>
            <a:pPr fontAlgn="t"/>
            <a:r>
              <a:rPr lang="da-DK" sz="1100" b="0" i="0" u="none" strike="noStrike" cap="none" dirty="0">
                <a:solidFill>
                  <a:srgbClr val="000000"/>
                </a:solidFill>
                <a:effectLst/>
                <a:latin typeface="Arial"/>
                <a:ea typeface="Arial"/>
                <a:cs typeface="Arial"/>
                <a:sym typeface="Arial"/>
              </a:rPr>
              <a:t>Hvad fungerede overraskende godt i kombinationen?</a:t>
            </a:r>
          </a:p>
          <a:p>
            <a:pPr fontAlgn="t"/>
            <a:r>
              <a:rPr lang="da-DK" sz="1100" b="0" i="0" u="none" strike="noStrike" cap="none" dirty="0">
                <a:solidFill>
                  <a:srgbClr val="000000"/>
                </a:solidFill>
                <a:effectLst/>
                <a:latin typeface="Arial"/>
                <a:ea typeface="Arial"/>
                <a:cs typeface="Arial"/>
                <a:sym typeface="Arial"/>
              </a:rPr>
              <a:t>Hvilke justeringer gjorde den største forskel?</a:t>
            </a:r>
          </a:p>
          <a:p>
            <a:pPr fontAlgn="t"/>
            <a:r>
              <a:rPr lang="da-DK" sz="1100" b="0" i="0" u="none" strike="noStrike" cap="none" dirty="0">
                <a:solidFill>
                  <a:srgbClr val="000000"/>
                </a:solidFill>
                <a:effectLst/>
                <a:latin typeface="Arial"/>
                <a:ea typeface="Arial"/>
                <a:cs typeface="Arial"/>
                <a:sym typeface="Arial"/>
              </a:rPr>
              <a:t>Hvad var den største udfordring undervejs?</a:t>
            </a:r>
          </a:p>
          <a:p>
            <a:pPr fontAlgn="t"/>
            <a:r>
              <a:rPr lang="da-DK" sz="1100" b="1" i="0" u="none" strike="noStrike" cap="none" dirty="0">
                <a:solidFill>
                  <a:srgbClr val="000000"/>
                </a:solidFill>
                <a:effectLst/>
                <a:latin typeface="Arial"/>
                <a:ea typeface="Arial"/>
                <a:cs typeface="Arial"/>
                <a:sym typeface="Arial"/>
              </a:rPr>
              <a:t>Fælles opsamling</a:t>
            </a:r>
            <a:endParaRPr lang="da-DK" sz="1100" b="0" i="0" u="none" strike="noStrike" cap="none" dirty="0">
              <a:solidFill>
                <a:srgbClr val="000000"/>
              </a:solidFill>
              <a:effectLst/>
              <a:latin typeface="Arial"/>
              <a:ea typeface="Arial"/>
              <a:cs typeface="Arial"/>
              <a:sym typeface="Arial"/>
            </a:endParaRPr>
          </a:p>
          <a:p>
            <a:pPr fontAlgn="t"/>
            <a:r>
              <a:rPr lang="da-DK" sz="1100" b="0" i="0" u="none" strike="noStrike" cap="none" dirty="0">
                <a:solidFill>
                  <a:srgbClr val="000000"/>
                </a:solidFill>
                <a:effectLst/>
                <a:latin typeface="Arial"/>
                <a:ea typeface="Arial"/>
                <a:cs typeface="Arial"/>
                <a:sym typeface="Arial"/>
              </a:rPr>
              <a:t>Hvad kan vi lære af hinandens måder at arbejde på?</a:t>
            </a:r>
          </a:p>
          <a:p>
            <a:pPr fontAlgn="t"/>
            <a:r>
              <a:rPr lang="da-DK" sz="1100" b="0" i="0" u="none" strike="noStrike" cap="none" dirty="0">
                <a:solidFill>
                  <a:srgbClr val="000000"/>
                </a:solidFill>
                <a:effectLst/>
                <a:latin typeface="Arial"/>
                <a:ea typeface="Arial"/>
                <a:cs typeface="Arial"/>
                <a:sym typeface="Arial"/>
              </a:rPr>
              <a:t>Hvad ville vi gøre anderledes næste gang?</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da-DK" sz="1100" b="0" i="0" u="none" strike="noStrike" cap="none" dirty="0">
              <a:solidFill>
                <a:srgbClr val="000000"/>
              </a:solidFill>
              <a:effectLst/>
              <a:latin typeface="Arial"/>
              <a:ea typeface="Arial"/>
              <a:cs typeface="Arial"/>
              <a:sym typeface="Arial"/>
            </a:endParaRPr>
          </a:p>
          <a:p>
            <a:endParaRPr lang="da-DK" dirty="0"/>
          </a:p>
        </p:txBody>
      </p:sp>
    </p:spTree>
    <p:extLst>
      <p:ext uri="{BB962C8B-B14F-4D97-AF65-F5344CB8AC3E}">
        <p14:creationId xmlns:p14="http://schemas.microsoft.com/office/powerpoint/2010/main" val="18673580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75408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
        <p:nvSpPr>
          <p:cNvPr id="4" name="Pladsholder til dato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D94900-C3C1-4ECC-B79E-C7EBF3017051}" type="datetime2">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 september 2026</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Pladsholder til slide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08E602-09AE-4EAE-BEF9-D5BF34221623}" type="slidenum">
              <a:rPr kumimoji="0" lang="da-DK"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da-DK"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0312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381000" y="685800"/>
            <a:ext cx="6096000" cy="3429000"/>
          </a:xfrm>
        </p:spPr>
      </p:sp>
      <p:sp>
        <p:nvSpPr>
          <p:cNvPr id="3" name="Pladsholder til noter 2"/>
          <p:cNvSpPr>
            <a:spLocks noGrp="1"/>
          </p:cNvSpPr>
          <p:nvPr>
            <p:ph type="body" idx="1"/>
          </p:nvPr>
        </p:nvSpPr>
        <p:spPr/>
        <p:txBody>
          <a:bodyPr/>
          <a:lstStyle/>
          <a:p>
            <a:endParaRPr lang="da-DK" dirty="0"/>
          </a:p>
        </p:txBody>
      </p:sp>
    </p:spTree>
    <p:extLst>
      <p:ext uri="{BB962C8B-B14F-4D97-AF65-F5344CB8AC3E}">
        <p14:creationId xmlns:p14="http://schemas.microsoft.com/office/powerpoint/2010/main" val="128879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pic>
        <p:nvPicPr>
          <p:cNvPr id="11" name="Google Shape;11;p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9144003" cy="5149976"/>
          </a:xfrm>
          <a:prstGeom prst="rect">
            <a:avLst/>
          </a:prstGeom>
          <a:noFill/>
          <a:ln>
            <a:noFill/>
          </a:ln>
        </p:spPr>
      </p:pic>
      <p:sp>
        <p:nvSpPr>
          <p:cNvPr id="12" name="Google Shape;12;p2"/>
          <p:cNvSpPr txBox="1">
            <a:spLocks noGrp="1"/>
          </p:cNvSpPr>
          <p:nvPr>
            <p:ph type="ctrTitle"/>
          </p:nvPr>
        </p:nvSpPr>
        <p:spPr>
          <a:xfrm>
            <a:off x="1164957" y="1162600"/>
            <a:ext cx="6829800" cy="2052600"/>
          </a:xfrm>
          <a:prstGeom prst="rect">
            <a:avLst/>
          </a:prstGeom>
        </p:spPr>
        <p:txBody>
          <a:bodyPr spcFirstLastPara="1" wrap="square" lIns="91425" tIns="91425" rIns="91425" bIns="91425" anchor="b" anchorCtr="0">
            <a:noAutofit/>
          </a:bodyPr>
          <a:lstStyle>
            <a:lvl1pPr lvl="0">
              <a:spcBef>
                <a:spcPts val="0"/>
              </a:spcBef>
              <a:spcAft>
                <a:spcPts val="0"/>
              </a:spcAft>
              <a:buClr>
                <a:srgbClr val="00454E"/>
              </a:buClr>
              <a:buSzPts val="4000"/>
              <a:buNone/>
              <a:defRPr sz="4000" b="1" i="1">
                <a:solidFill>
                  <a:srgbClr val="00454E"/>
                </a:solidFill>
              </a:defRPr>
            </a:lvl1pPr>
            <a:lvl2pPr lvl="1" algn="ctr">
              <a:spcBef>
                <a:spcPts val="0"/>
              </a:spcBef>
              <a:spcAft>
                <a:spcPts val="0"/>
              </a:spcAft>
              <a:buClr>
                <a:srgbClr val="00454E"/>
              </a:buClr>
              <a:buSzPts val="5200"/>
              <a:buNone/>
              <a:defRPr sz="5200">
                <a:solidFill>
                  <a:srgbClr val="00454E"/>
                </a:solidFill>
              </a:defRPr>
            </a:lvl2pPr>
            <a:lvl3pPr lvl="2" algn="ctr">
              <a:spcBef>
                <a:spcPts val="0"/>
              </a:spcBef>
              <a:spcAft>
                <a:spcPts val="0"/>
              </a:spcAft>
              <a:buClr>
                <a:srgbClr val="00454E"/>
              </a:buClr>
              <a:buSzPts val="5200"/>
              <a:buNone/>
              <a:defRPr sz="5200">
                <a:solidFill>
                  <a:srgbClr val="00454E"/>
                </a:solidFill>
              </a:defRPr>
            </a:lvl3pPr>
            <a:lvl4pPr lvl="3" algn="ctr">
              <a:spcBef>
                <a:spcPts val="0"/>
              </a:spcBef>
              <a:spcAft>
                <a:spcPts val="0"/>
              </a:spcAft>
              <a:buClr>
                <a:srgbClr val="00454E"/>
              </a:buClr>
              <a:buSzPts val="5200"/>
              <a:buNone/>
              <a:defRPr sz="5200">
                <a:solidFill>
                  <a:srgbClr val="00454E"/>
                </a:solidFill>
              </a:defRPr>
            </a:lvl4pPr>
            <a:lvl5pPr lvl="4" algn="ctr">
              <a:spcBef>
                <a:spcPts val="0"/>
              </a:spcBef>
              <a:spcAft>
                <a:spcPts val="0"/>
              </a:spcAft>
              <a:buClr>
                <a:srgbClr val="00454E"/>
              </a:buClr>
              <a:buSzPts val="5200"/>
              <a:buNone/>
              <a:defRPr sz="5200">
                <a:solidFill>
                  <a:srgbClr val="00454E"/>
                </a:solidFill>
              </a:defRPr>
            </a:lvl5pPr>
            <a:lvl6pPr lvl="5" algn="ctr">
              <a:spcBef>
                <a:spcPts val="0"/>
              </a:spcBef>
              <a:spcAft>
                <a:spcPts val="0"/>
              </a:spcAft>
              <a:buClr>
                <a:srgbClr val="00454E"/>
              </a:buClr>
              <a:buSzPts val="5200"/>
              <a:buNone/>
              <a:defRPr sz="5200">
                <a:solidFill>
                  <a:srgbClr val="00454E"/>
                </a:solidFill>
              </a:defRPr>
            </a:lvl6pPr>
            <a:lvl7pPr lvl="6" algn="ctr">
              <a:spcBef>
                <a:spcPts val="0"/>
              </a:spcBef>
              <a:spcAft>
                <a:spcPts val="0"/>
              </a:spcAft>
              <a:buClr>
                <a:srgbClr val="00454E"/>
              </a:buClr>
              <a:buSzPts val="5200"/>
              <a:buNone/>
              <a:defRPr sz="5200">
                <a:solidFill>
                  <a:srgbClr val="00454E"/>
                </a:solidFill>
              </a:defRPr>
            </a:lvl7pPr>
            <a:lvl8pPr lvl="7" algn="ctr">
              <a:spcBef>
                <a:spcPts val="0"/>
              </a:spcBef>
              <a:spcAft>
                <a:spcPts val="0"/>
              </a:spcAft>
              <a:buClr>
                <a:srgbClr val="00454E"/>
              </a:buClr>
              <a:buSzPts val="5200"/>
              <a:buNone/>
              <a:defRPr sz="5200">
                <a:solidFill>
                  <a:srgbClr val="00454E"/>
                </a:solidFill>
              </a:defRPr>
            </a:lvl8pPr>
            <a:lvl9pPr lvl="8" algn="ctr">
              <a:spcBef>
                <a:spcPts val="0"/>
              </a:spcBef>
              <a:spcAft>
                <a:spcPts val="0"/>
              </a:spcAft>
              <a:buClr>
                <a:srgbClr val="00454E"/>
              </a:buClr>
              <a:buSzPts val="5200"/>
              <a:buNone/>
              <a:defRPr sz="5200">
                <a:solidFill>
                  <a:srgbClr val="00454E"/>
                </a:solidFill>
              </a:defRPr>
            </a:lvl9pPr>
          </a:lstStyle>
          <a:p>
            <a:endParaRPr/>
          </a:p>
        </p:txBody>
      </p:sp>
      <p:sp>
        <p:nvSpPr>
          <p:cNvPr id="13" name="Google Shape;13;p2"/>
          <p:cNvSpPr txBox="1">
            <a:spLocks noGrp="1"/>
          </p:cNvSpPr>
          <p:nvPr>
            <p:ph type="subTitle" idx="1"/>
          </p:nvPr>
        </p:nvSpPr>
        <p:spPr>
          <a:xfrm>
            <a:off x="1164950" y="3252150"/>
            <a:ext cx="68298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4" name="Google Shape;14;p2"/>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15" name="Google Shape;15;p2"/>
          <p:cNvSpPr txBox="1">
            <a:spLocks noGrp="1"/>
          </p:cNvSpPr>
          <p:nvPr>
            <p:ph type="sldNum" idx="12"/>
          </p:nvPr>
        </p:nvSpPr>
        <p:spPr>
          <a:xfrm>
            <a:off x="0" y="4749900"/>
            <a:ext cx="800700" cy="393600"/>
          </a:xfrm>
          <a:prstGeom prst="rect">
            <a:avLst/>
          </a:prstGeom>
        </p:spPr>
        <p:txBody>
          <a:bodyPr spcFirstLastPara="1" wrap="square" lIns="91425" tIns="91425" rIns="91425" bIns="91425" anchor="ctr" anchorCtr="0">
            <a:noAutofit/>
          </a:bodyPr>
          <a:lstStyle>
            <a:lvl1pPr lvl="0" algn="l" rtl="0">
              <a:buNone/>
              <a:defRPr>
                <a:solidFill>
                  <a:schemeClr val="dk2"/>
                </a:solidFill>
              </a:defRPr>
            </a:lvl1pPr>
            <a:lvl2pPr lvl="1" algn="l" rtl="0">
              <a:buNone/>
              <a:defRPr>
                <a:solidFill>
                  <a:schemeClr val="dk2"/>
                </a:solidFill>
              </a:defRPr>
            </a:lvl2pPr>
            <a:lvl3pPr lvl="2" algn="l" rtl="0">
              <a:buNone/>
              <a:defRPr>
                <a:solidFill>
                  <a:schemeClr val="dk2"/>
                </a:solidFill>
              </a:defRPr>
            </a:lvl3pPr>
            <a:lvl4pPr lvl="3" algn="l" rtl="0">
              <a:buNone/>
              <a:defRPr>
                <a:solidFill>
                  <a:schemeClr val="dk2"/>
                </a:solidFill>
              </a:defRPr>
            </a:lvl4pPr>
            <a:lvl5pPr lvl="4" algn="l" rtl="0">
              <a:buNone/>
              <a:defRPr>
                <a:solidFill>
                  <a:schemeClr val="dk2"/>
                </a:solidFill>
              </a:defRPr>
            </a:lvl5pPr>
            <a:lvl6pPr lvl="5" algn="l" rtl="0">
              <a:buNone/>
              <a:defRPr>
                <a:solidFill>
                  <a:schemeClr val="dk2"/>
                </a:solidFill>
              </a:defRPr>
            </a:lvl6pPr>
            <a:lvl7pPr lvl="6" algn="l" rtl="0">
              <a:buNone/>
              <a:defRPr>
                <a:solidFill>
                  <a:schemeClr val="dk2"/>
                </a:solidFill>
              </a:defRPr>
            </a:lvl7pPr>
            <a:lvl8pPr lvl="7" algn="l" rtl="0">
              <a:buNone/>
              <a:defRPr>
                <a:solidFill>
                  <a:schemeClr val="dk2"/>
                </a:solidFill>
              </a:defRPr>
            </a:lvl8pPr>
            <a:lvl9pPr lvl="8" algn="l" rtl="0">
              <a:buNone/>
              <a:defRPr>
                <a:solidFill>
                  <a:schemeClr val="dk2"/>
                </a:solidFill>
              </a:defRPr>
            </a:lvl9pPr>
          </a:lstStyle>
          <a:p>
            <a:pPr marL="0" lvl="0" indent="0" algn="l" rtl="0">
              <a:spcBef>
                <a:spcPts val="0"/>
              </a:spcBef>
              <a:spcAft>
                <a:spcPts val="0"/>
              </a:spcAft>
              <a:buNone/>
            </a:pPr>
            <a:r>
              <a:rPr lang="da"/>
              <a:t>dd/mm/åå</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Clr>
                <a:srgbClr val="00454E"/>
              </a:buClr>
              <a:buSzPts val="4800"/>
              <a:buNone/>
              <a:defRPr sz="4800">
                <a:solidFill>
                  <a:srgbClr val="00454E"/>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42" name="Google Shape;42;p8"/>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43" name="Google Shape;43;p8"/>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lvl1pPr>
            <a:lvl2pPr lvl="1" algn="l" rtl="0">
              <a:buNone/>
              <a:defRPr/>
            </a:lvl2pPr>
            <a:lvl3pPr lvl="2" algn="l" rtl="0">
              <a:buNone/>
              <a:defRPr/>
            </a:lvl3pPr>
            <a:lvl4pPr lvl="3" algn="l" rtl="0">
              <a:buNone/>
              <a:defRPr/>
            </a:lvl4pPr>
            <a:lvl5pPr lvl="4" algn="l" rtl="0">
              <a:buNone/>
              <a:defRPr/>
            </a:lvl5pPr>
            <a:lvl6pPr lvl="5" algn="l" rtl="0">
              <a:buNone/>
              <a:defRPr/>
            </a:lvl6pPr>
            <a:lvl7pPr lvl="6" algn="l" rtl="0">
              <a:buNone/>
              <a:defRPr/>
            </a:lvl7pPr>
            <a:lvl8pPr lvl="7" algn="l" rtl="0">
              <a:buNone/>
              <a:defRPr/>
            </a:lvl8pPr>
            <a:lvl9pPr lvl="8" algn="l" rtl="0">
              <a:buNone/>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4572000" y="-125"/>
            <a:ext cx="4572000" cy="5143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454E"/>
              </a:buClr>
              <a:buSzPts val="4200"/>
              <a:buNone/>
              <a:defRPr sz="4200">
                <a:solidFill>
                  <a:srgbClr val="00454E"/>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8" name="Google Shape;48;p9"/>
          <p:cNvSpPr txBox="1">
            <a:spLocks noGrp="1"/>
          </p:cNvSpPr>
          <p:nvPr>
            <p:ph type="body" idx="2"/>
          </p:nvPr>
        </p:nvSpPr>
        <p:spPr>
          <a:xfrm>
            <a:off x="4939500" y="724075"/>
            <a:ext cx="3837000" cy="3651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dk2"/>
              </a:buClr>
              <a:buSzPts val="1800"/>
              <a:buChar char="●"/>
              <a:defRPr>
                <a:solidFill>
                  <a:schemeClr val="dk2"/>
                </a:solidFill>
              </a:defRPr>
            </a:lvl1pPr>
            <a:lvl2pPr marL="914400" lvl="1" indent="-317500">
              <a:spcBef>
                <a:spcPts val="1600"/>
              </a:spcBef>
              <a:spcAft>
                <a:spcPts val="0"/>
              </a:spcAft>
              <a:buClr>
                <a:schemeClr val="dk2"/>
              </a:buClr>
              <a:buSzPts val="1400"/>
              <a:buChar char="○"/>
              <a:defRPr>
                <a:solidFill>
                  <a:schemeClr val="dk2"/>
                </a:solidFill>
              </a:defRPr>
            </a:lvl2pPr>
            <a:lvl3pPr marL="1371600" lvl="2" indent="-317500">
              <a:spcBef>
                <a:spcPts val="1600"/>
              </a:spcBef>
              <a:spcAft>
                <a:spcPts val="0"/>
              </a:spcAft>
              <a:buClr>
                <a:schemeClr val="dk2"/>
              </a:buClr>
              <a:buSzPts val="1400"/>
              <a:buChar char="■"/>
              <a:defRPr>
                <a:solidFill>
                  <a:schemeClr val="dk2"/>
                </a:solidFill>
              </a:defRPr>
            </a:lvl3pPr>
            <a:lvl4pPr marL="1828800" lvl="3" indent="-317500">
              <a:spcBef>
                <a:spcPts val="1600"/>
              </a:spcBef>
              <a:spcAft>
                <a:spcPts val="0"/>
              </a:spcAft>
              <a:buClr>
                <a:schemeClr val="dk2"/>
              </a:buClr>
              <a:buSzPts val="1400"/>
              <a:buChar char="●"/>
              <a:defRPr>
                <a:solidFill>
                  <a:schemeClr val="dk2"/>
                </a:solidFill>
              </a:defRPr>
            </a:lvl4pPr>
            <a:lvl5pPr marL="2286000" lvl="4" indent="-317500">
              <a:spcBef>
                <a:spcPts val="1600"/>
              </a:spcBef>
              <a:spcAft>
                <a:spcPts val="0"/>
              </a:spcAft>
              <a:buClr>
                <a:schemeClr val="dk2"/>
              </a:buClr>
              <a:buSzPts val="1400"/>
              <a:buChar char="○"/>
              <a:defRPr>
                <a:solidFill>
                  <a:schemeClr val="dk2"/>
                </a:solidFill>
              </a:defRPr>
            </a:lvl5pPr>
            <a:lvl6pPr marL="2743200" lvl="5" indent="-317500">
              <a:spcBef>
                <a:spcPts val="1600"/>
              </a:spcBef>
              <a:spcAft>
                <a:spcPts val="0"/>
              </a:spcAft>
              <a:buClr>
                <a:schemeClr val="dk2"/>
              </a:buClr>
              <a:buSzPts val="1400"/>
              <a:buChar char="■"/>
              <a:defRPr>
                <a:solidFill>
                  <a:schemeClr val="dk2"/>
                </a:solidFill>
              </a:defRPr>
            </a:lvl6pPr>
            <a:lvl7pPr marL="3200400" lvl="6" indent="-317500">
              <a:spcBef>
                <a:spcPts val="1600"/>
              </a:spcBef>
              <a:spcAft>
                <a:spcPts val="0"/>
              </a:spcAft>
              <a:buClr>
                <a:schemeClr val="dk2"/>
              </a:buClr>
              <a:buSzPts val="1400"/>
              <a:buChar char="●"/>
              <a:defRPr>
                <a:solidFill>
                  <a:schemeClr val="dk2"/>
                </a:solidFill>
              </a:defRPr>
            </a:lvl7pPr>
            <a:lvl8pPr marL="3657600" lvl="7" indent="-317500">
              <a:spcBef>
                <a:spcPts val="1600"/>
              </a:spcBef>
              <a:spcAft>
                <a:spcPts val="0"/>
              </a:spcAft>
              <a:buClr>
                <a:schemeClr val="dk2"/>
              </a:buClr>
              <a:buSzPts val="1400"/>
              <a:buChar char="○"/>
              <a:defRPr>
                <a:solidFill>
                  <a:schemeClr val="dk2"/>
                </a:solidFill>
              </a:defRPr>
            </a:lvl8pPr>
            <a:lvl9pPr marL="4114800" lvl="8" indent="-317500">
              <a:spcBef>
                <a:spcPts val="1600"/>
              </a:spcBef>
              <a:spcAft>
                <a:spcPts val="1600"/>
              </a:spcAft>
              <a:buClr>
                <a:schemeClr val="dk2"/>
              </a:buClr>
              <a:buSzPts val="1400"/>
              <a:buChar char="■"/>
              <a:defRPr>
                <a:solidFill>
                  <a:schemeClr val="dk2"/>
                </a:solidFill>
              </a:defRPr>
            </a:lvl9pPr>
          </a:lstStyle>
          <a:p>
            <a:endParaRPr/>
          </a:p>
        </p:txBody>
      </p:sp>
      <p:pic>
        <p:nvPicPr>
          <p:cNvPr id="49" name="Google Shape;49;p9"/>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50" name="Google Shape;50;p9"/>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solidFill>
                  <a:srgbClr val="00454E"/>
                </a:solidFill>
              </a:defRPr>
            </a:lvl1pPr>
            <a:lvl2pPr lvl="1" algn="l" rtl="0">
              <a:buNone/>
              <a:defRPr>
                <a:solidFill>
                  <a:srgbClr val="00454E"/>
                </a:solidFill>
              </a:defRPr>
            </a:lvl2pPr>
            <a:lvl3pPr lvl="2" algn="l" rtl="0">
              <a:buNone/>
              <a:defRPr>
                <a:solidFill>
                  <a:srgbClr val="00454E"/>
                </a:solidFill>
              </a:defRPr>
            </a:lvl3pPr>
            <a:lvl4pPr lvl="3" algn="l" rtl="0">
              <a:buNone/>
              <a:defRPr>
                <a:solidFill>
                  <a:srgbClr val="00454E"/>
                </a:solidFill>
              </a:defRPr>
            </a:lvl4pPr>
            <a:lvl5pPr lvl="4" algn="l" rtl="0">
              <a:buNone/>
              <a:defRPr>
                <a:solidFill>
                  <a:srgbClr val="00454E"/>
                </a:solidFill>
              </a:defRPr>
            </a:lvl5pPr>
            <a:lvl6pPr lvl="5" algn="l" rtl="0">
              <a:buNone/>
              <a:defRPr>
                <a:solidFill>
                  <a:srgbClr val="00454E"/>
                </a:solidFill>
              </a:defRPr>
            </a:lvl6pPr>
            <a:lvl7pPr lvl="6" algn="l" rtl="0">
              <a:buNone/>
              <a:defRPr>
                <a:solidFill>
                  <a:srgbClr val="00454E"/>
                </a:solidFill>
              </a:defRPr>
            </a:lvl7pPr>
            <a:lvl8pPr lvl="7" algn="l" rtl="0">
              <a:buNone/>
              <a:defRPr>
                <a:solidFill>
                  <a:srgbClr val="00454E"/>
                </a:solidFill>
              </a:defRPr>
            </a:lvl8pPr>
            <a:lvl9pPr lvl="8" algn="l" rtl="0">
              <a:buNone/>
              <a:defRPr>
                <a:solidFill>
                  <a:srgbClr val="00454E"/>
                </a:solidFill>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rgbClr val="00454E"/>
              </a:buClr>
              <a:buSzPts val="1800"/>
              <a:buNone/>
              <a:defRPr>
                <a:solidFill>
                  <a:srgbClr val="00454E"/>
                </a:solidFill>
              </a:defRPr>
            </a:lvl1pPr>
          </a:lstStyle>
          <a:p>
            <a:endParaRPr/>
          </a:p>
        </p:txBody>
      </p:sp>
      <p:pic>
        <p:nvPicPr>
          <p:cNvPr id="53" name="Google Shape;53;p10"/>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54" name="Google Shape;54;p10"/>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solidFill>
                  <a:srgbClr val="00454E"/>
                </a:solidFill>
              </a:defRPr>
            </a:lvl1pPr>
            <a:lvl2pPr lvl="1" algn="l" rtl="0">
              <a:buNone/>
              <a:defRPr>
                <a:solidFill>
                  <a:srgbClr val="00454E"/>
                </a:solidFill>
              </a:defRPr>
            </a:lvl2pPr>
            <a:lvl3pPr lvl="2" algn="l" rtl="0">
              <a:buNone/>
              <a:defRPr>
                <a:solidFill>
                  <a:srgbClr val="00454E"/>
                </a:solidFill>
              </a:defRPr>
            </a:lvl3pPr>
            <a:lvl4pPr lvl="3" algn="l" rtl="0">
              <a:buNone/>
              <a:defRPr>
                <a:solidFill>
                  <a:srgbClr val="00454E"/>
                </a:solidFill>
              </a:defRPr>
            </a:lvl4pPr>
            <a:lvl5pPr lvl="4" algn="l" rtl="0">
              <a:buNone/>
              <a:defRPr>
                <a:solidFill>
                  <a:srgbClr val="00454E"/>
                </a:solidFill>
              </a:defRPr>
            </a:lvl5pPr>
            <a:lvl6pPr lvl="5" algn="l" rtl="0">
              <a:buNone/>
              <a:defRPr>
                <a:solidFill>
                  <a:srgbClr val="00454E"/>
                </a:solidFill>
              </a:defRPr>
            </a:lvl6pPr>
            <a:lvl7pPr lvl="6" algn="l" rtl="0">
              <a:buNone/>
              <a:defRPr>
                <a:solidFill>
                  <a:srgbClr val="00454E"/>
                </a:solidFill>
              </a:defRPr>
            </a:lvl7pPr>
            <a:lvl8pPr lvl="7" algn="l" rtl="0">
              <a:buNone/>
              <a:defRPr>
                <a:solidFill>
                  <a:srgbClr val="00454E"/>
                </a:solidFill>
              </a:defRPr>
            </a:lvl8pPr>
            <a:lvl9pPr lvl="8" algn="l" rtl="0">
              <a:buNone/>
              <a:defRPr>
                <a:solidFill>
                  <a:srgbClr val="00454E"/>
                </a:solidFill>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2"/>
        </a:solidFill>
        <a:effectLst/>
      </p:bgPr>
    </p:bg>
    <p:spTree>
      <p:nvGrpSpPr>
        <p:cNvPr id="1" name="Shape 55"/>
        <p:cNvGrpSpPr/>
        <p:nvPr/>
      </p:nvGrpSpPr>
      <p:grpSpPr>
        <a:xfrm>
          <a:off x="0" y="0"/>
          <a:ext cx="0" cy="0"/>
          <a:chOff x="0" y="0"/>
          <a:chExt cx="0" cy="0"/>
        </a:xfrm>
      </p:grpSpPr>
      <p:sp>
        <p:nvSpPr>
          <p:cNvPr id="56" name="Google Shape;5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454E"/>
              </a:buClr>
              <a:buSzPts val="12000"/>
              <a:buNone/>
              <a:defRPr sz="12000">
                <a:solidFill>
                  <a:srgbClr val="00454E"/>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7" name="Google Shape;57;p11"/>
          <p:cNvSpPr txBox="1">
            <a:spLocks noGrp="1"/>
          </p:cNvSpPr>
          <p:nvPr>
            <p:ph type="body" idx="1"/>
          </p:nvPr>
        </p:nvSpPr>
        <p:spPr>
          <a:xfrm>
            <a:off x="311700" y="3152225"/>
            <a:ext cx="8520600" cy="1224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dk2"/>
              </a:buClr>
              <a:buSzPts val="1800"/>
              <a:buChar char="●"/>
              <a:defRPr>
                <a:solidFill>
                  <a:schemeClr val="dk2"/>
                </a:solidFill>
              </a:defRPr>
            </a:lvl1pPr>
            <a:lvl2pPr marL="914400" lvl="1" indent="-317500" algn="ctr">
              <a:spcBef>
                <a:spcPts val="1600"/>
              </a:spcBef>
              <a:spcAft>
                <a:spcPts val="0"/>
              </a:spcAft>
              <a:buClr>
                <a:schemeClr val="dk2"/>
              </a:buClr>
              <a:buSzPts val="1400"/>
              <a:buChar char="○"/>
              <a:defRPr>
                <a:solidFill>
                  <a:schemeClr val="dk2"/>
                </a:solidFill>
              </a:defRPr>
            </a:lvl2pPr>
            <a:lvl3pPr marL="1371600" lvl="2" indent="-317500" algn="ctr">
              <a:spcBef>
                <a:spcPts val="1600"/>
              </a:spcBef>
              <a:spcAft>
                <a:spcPts val="0"/>
              </a:spcAft>
              <a:buClr>
                <a:schemeClr val="dk2"/>
              </a:buClr>
              <a:buSzPts val="1400"/>
              <a:buChar char="■"/>
              <a:defRPr>
                <a:solidFill>
                  <a:schemeClr val="dk2"/>
                </a:solidFill>
              </a:defRPr>
            </a:lvl3pPr>
            <a:lvl4pPr marL="1828800" lvl="3" indent="-317500" algn="ctr">
              <a:spcBef>
                <a:spcPts val="1600"/>
              </a:spcBef>
              <a:spcAft>
                <a:spcPts val="0"/>
              </a:spcAft>
              <a:buClr>
                <a:schemeClr val="dk2"/>
              </a:buClr>
              <a:buSzPts val="1400"/>
              <a:buChar char="●"/>
              <a:defRPr>
                <a:solidFill>
                  <a:schemeClr val="dk2"/>
                </a:solidFill>
              </a:defRPr>
            </a:lvl4pPr>
            <a:lvl5pPr marL="2286000" lvl="4" indent="-317500" algn="ctr">
              <a:spcBef>
                <a:spcPts val="1600"/>
              </a:spcBef>
              <a:spcAft>
                <a:spcPts val="0"/>
              </a:spcAft>
              <a:buClr>
                <a:schemeClr val="dk2"/>
              </a:buClr>
              <a:buSzPts val="1400"/>
              <a:buChar char="○"/>
              <a:defRPr>
                <a:solidFill>
                  <a:schemeClr val="dk2"/>
                </a:solidFill>
              </a:defRPr>
            </a:lvl5pPr>
            <a:lvl6pPr marL="2743200" lvl="5" indent="-317500" algn="ctr">
              <a:spcBef>
                <a:spcPts val="1600"/>
              </a:spcBef>
              <a:spcAft>
                <a:spcPts val="0"/>
              </a:spcAft>
              <a:buClr>
                <a:schemeClr val="dk2"/>
              </a:buClr>
              <a:buSzPts val="1400"/>
              <a:buChar char="■"/>
              <a:defRPr>
                <a:solidFill>
                  <a:schemeClr val="dk2"/>
                </a:solidFill>
              </a:defRPr>
            </a:lvl6pPr>
            <a:lvl7pPr marL="3200400" lvl="6" indent="-317500" algn="ctr">
              <a:spcBef>
                <a:spcPts val="1600"/>
              </a:spcBef>
              <a:spcAft>
                <a:spcPts val="0"/>
              </a:spcAft>
              <a:buClr>
                <a:schemeClr val="dk2"/>
              </a:buClr>
              <a:buSzPts val="1400"/>
              <a:buChar char="●"/>
              <a:defRPr>
                <a:solidFill>
                  <a:schemeClr val="dk2"/>
                </a:solidFill>
              </a:defRPr>
            </a:lvl7pPr>
            <a:lvl8pPr marL="3657600" lvl="7" indent="-317500" algn="ctr">
              <a:spcBef>
                <a:spcPts val="1600"/>
              </a:spcBef>
              <a:spcAft>
                <a:spcPts val="0"/>
              </a:spcAft>
              <a:buClr>
                <a:schemeClr val="dk2"/>
              </a:buClr>
              <a:buSzPts val="1400"/>
              <a:buChar char="○"/>
              <a:defRPr>
                <a:solidFill>
                  <a:schemeClr val="dk2"/>
                </a:solidFill>
              </a:defRPr>
            </a:lvl8pPr>
            <a:lvl9pPr marL="4114800" lvl="8" indent="-317500" algn="ctr">
              <a:spcBef>
                <a:spcPts val="1600"/>
              </a:spcBef>
              <a:spcAft>
                <a:spcPts val="1600"/>
              </a:spcAft>
              <a:buClr>
                <a:schemeClr val="dk2"/>
              </a:buClr>
              <a:buSzPts val="1400"/>
              <a:buChar char="■"/>
              <a:defRPr>
                <a:solidFill>
                  <a:schemeClr val="dk2"/>
                </a:solidFill>
              </a:defRPr>
            </a:lvl9pPr>
          </a:lstStyle>
          <a:p>
            <a:endParaRPr/>
          </a:p>
        </p:txBody>
      </p:sp>
      <p:pic>
        <p:nvPicPr>
          <p:cNvPr id="58" name="Google Shape;58;p11"/>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59" name="Google Shape;59;p11"/>
          <p:cNvSpPr txBox="1">
            <a:spLocks noGrp="1"/>
          </p:cNvSpPr>
          <p:nvPr>
            <p:ph type="sldNum" idx="12"/>
          </p:nvPr>
        </p:nvSpPr>
        <p:spPr>
          <a:xfrm>
            <a:off x="8" y="4673692"/>
            <a:ext cx="548700" cy="393600"/>
          </a:xfrm>
          <a:prstGeom prst="rect">
            <a:avLst/>
          </a:prstGeom>
        </p:spPr>
        <p:txBody>
          <a:bodyPr spcFirstLastPara="1" wrap="square" lIns="91425" tIns="91425" rIns="91425" bIns="91425" anchor="ctr" anchorCtr="0">
            <a:noAutofit/>
          </a:bodyPr>
          <a:lstStyle>
            <a:lvl1pPr lvl="0" algn="l" rtl="0">
              <a:buNone/>
              <a:defRPr/>
            </a:lvl1pPr>
            <a:lvl2pPr lvl="1" algn="l" rtl="0">
              <a:buNone/>
              <a:defRPr/>
            </a:lvl2pPr>
            <a:lvl3pPr lvl="2" algn="l" rtl="0">
              <a:buNone/>
              <a:defRPr/>
            </a:lvl3pPr>
            <a:lvl4pPr lvl="3" algn="l" rtl="0">
              <a:buNone/>
              <a:defRPr/>
            </a:lvl4pPr>
            <a:lvl5pPr lvl="4" algn="l" rtl="0">
              <a:buNone/>
              <a:defRPr/>
            </a:lvl5pPr>
            <a:lvl6pPr lvl="5" algn="l" rtl="0">
              <a:buNone/>
              <a:defRPr/>
            </a:lvl6pPr>
            <a:lvl7pPr lvl="6" algn="l" rtl="0">
              <a:buNone/>
              <a:defRPr/>
            </a:lvl7pPr>
            <a:lvl8pPr lvl="7" algn="l" rtl="0">
              <a:buNone/>
              <a:defRPr/>
            </a:lvl8pPr>
            <a:lvl9pPr lvl="8" algn="l" rtl="0">
              <a:buNone/>
              <a:defRPr/>
            </a:lvl9pPr>
          </a:lstStyle>
          <a:p>
            <a:pPr marL="0" lvl="0" indent="0" algn="l" rtl="0">
              <a:spcBef>
                <a:spcPts val="0"/>
              </a:spcBef>
              <a:spcAft>
                <a:spcPts val="0"/>
              </a:spcAft>
              <a:buNone/>
            </a:pPr>
            <a:fld id="{00000000-1234-1234-1234-123412341234}" type="slidenum">
              <a:rPr lang="da"/>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A6333A-CB4B-4A2A-850C-1800ED16F2A3}"/>
              </a:ext>
            </a:extLst>
          </p:cNvPr>
          <p:cNvSpPr>
            <a:spLocks noGrp="1"/>
          </p:cNvSpPr>
          <p:nvPr>
            <p:ph type="title"/>
          </p:nvPr>
        </p:nvSpPr>
        <p:spPr/>
        <p:txBody>
          <a:bodyPr/>
          <a:lstStyle/>
          <a:p>
            <a:r>
              <a:rPr lang="da-DK"/>
              <a:t>Klik for at redigere i master</a:t>
            </a:r>
            <a:endParaRPr lang="da-DK" dirty="0"/>
          </a:p>
        </p:txBody>
      </p:sp>
      <p:sp>
        <p:nvSpPr>
          <p:cNvPr id="3" name="Pladsholder til indhold 2">
            <a:extLst>
              <a:ext uri="{FF2B5EF4-FFF2-40B4-BE49-F238E27FC236}">
                <a16:creationId xmlns:a16="http://schemas.microsoft.com/office/drawing/2014/main" id="{DE84ED51-CBEF-4882-BC50-B496E1895551}"/>
              </a:ext>
            </a:extLst>
          </p:cNvPr>
          <p:cNvSpPr>
            <a:spLocks noGrp="1"/>
          </p:cNvSpPr>
          <p:nvPr>
            <p:ph idx="1"/>
          </p:nvPr>
        </p:nvSpPr>
        <p:spPr>
          <a:xfrm>
            <a:off x="628650" y="1369220"/>
            <a:ext cx="7886700" cy="2979896"/>
          </a:xfrm>
        </p:spPr>
        <p:txBody>
          <a:bodyPr/>
          <a:lstStyle/>
          <a:p>
            <a:pPr lvl="0"/>
            <a:r>
              <a:rPr lang="da-DK"/>
              <a:t>Klik for at redigere i master</a:t>
            </a:r>
          </a:p>
          <a:p>
            <a:pPr lvl="1"/>
            <a:r>
              <a:rPr lang="da-DK"/>
              <a:t>Andet niveau</a:t>
            </a:r>
          </a:p>
          <a:p>
            <a:pPr lvl="2"/>
            <a:r>
              <a:rPr lang="da-DK"/>
              <a:t>Tredje niveau</a:t>
            </a:r>
          </a:p>
          <a:p>
            <a:pPr lvl="3"/>
            <a:r>
              <a:rPr lang="da-DK"/>
              <a:t>Fjerde niveau</a:t>
            </a:r>
          </a:p>
          <a:p>
            <a:pPr lvl="4"/>
            <a:r>
              <a:rPr lang="da-DK"/>
              <a:t>Femte niveau</a:t>
            </a:r>
            <a:endParaRPr lang="da-DK" dirty="0"/>
          </a:p>
        </p:txBody>
      </p:sp>
      <p:sp>
        <p:nvSpPr>
          <p:cNvPr id="14" name="Pladsholder til dato 13">
            <a:extLst>
              <a:ext uri="{FF2B5EF4-FFF2-40B4-BE49-F238E27FC236}">
                <a16:creationId xmlns:a16="http://schemas.microsoft.com/office/drawing/2014/main" id="{B6F0B235-A6CA-47A3-A778-B35B6EE5829D}"/>
              </a:ext>
            </a:extLst>
          </p:cNvPr>
          <p:cNvSpPr>
            <a:spLocks noGrp="1"/>
          </p:cNvSpPr>
          <p:nvPr>
            <p:ph type="dt" sz="half" idx="10"/>
          </p:nvPr>
        </p:nvSpPr>
        <p:spPr/>
        <p:txBody>
          <a:bodyPr/>
          <a:lstStyle/>
          <a:p>
            <a:endParaRPr lang="da-DK" dirty="0"/>
          </a:p>
        </p:txBody>
      </p:sp>
      <p:sp>
        <p:nvSpPr>
          <p:cNvPr id="15" name="Pladsholder til slidenummer 14">
            <a:extLst>
              <a:ext uri="{FF2B5EF4-FFF2-40B4-BE49-F238E27FC236}">
                <a16:creationId xmlns:a16="http://schemas.microsoft.com/office/drawing/2014/main" id="{7B522528-73E6-4365-A2E9-4C875FFFD511}"/>
              </a:ext>
            </a:extLst>
          </p:cNvPr>
          <p:cNvSpPr>
            <a:spLocks noGrp="1"/>
          </p:cNvSpPr>
          <p:nvPr>
            <p:ph type="sldNum" sz="quarter" idx="11"/>
          </p:nvPr>
        </p:nvSpPr>
        <p:spPr/>
        <p:txBody>
          <a:bodyPr/>
          <a:lstStyle/>
          <a:p>
            <a:fld id="{5747CDE5-0717-48E4-9385-7C842E50026E}" type="slidenum">
              <a:rPr lang="da-DK" smtClean="0"/>
              <a:pPr/>
              <a:t>‹nr.›</a:t>
            </a:fld>
            <a:endParaRPr lang="da-DK" dirty="0"/>
          </a:p>
        </p:txBody>
      </p:sp>
    </p:spTree>
    <p:extLst>
      <p:ext uri="{BB962C8B-B14F-4D97-AF65-F5344CB8AC3E}">
        <p14:creationId xmlns:p14="http://schemas.microsoft.com/office/powerpoint/2010/main" val="171137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tekst/billede slide">
    <p:bg>
      <p:bgPr>
        <a:solidFill>
          <a:srgbClr val="CAE4E4"/>
        </a:solidFill>
        <a:effectLst/>
      </p:bgPr>
    </p:bg>
    <p:spTree>
      <p:nvGrpSpPr>
        <p:cNvPr id="1" name=""/>
        <p:cNvGrpSpPr/>
        <p:nvPr/>
      </p:nvGrpSpPr>
      <p:grpSpPr>
        <a:xfrm>
          <a:off x="0" y="0"/>
          <a:ext cx="0" cy="0"/>
          <a:chOff x="0" y="0"/>
          <a:chExt cx="0" cy="0"/>
        </a:xfrm>
      </p:grpSpPr>
      <p:sp>
        <p:nvSpPr>
          <p:cNvPr id="146" name="Rektangel 5"/>
          <p:cNvSpPr/>
          <p:nvPr/>
        </p:nvSpPr>
        <p:spPr>
          <a:xfrm>
            <a:off x="0" y="0"/>
            <a:ext cx="9143010" cy="51424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67500" tIns="33750" rIns="67500" bIns="33750" anchor="ctr">
            <a:noAutofit/>
          </a:bodyPr>
          <a:lstStyle/>
          <a:p>
            <a:pPr algn="ctr" defTabSz="685800">
              <a:lnSpc>
                <a:spcPct val="100000"/>
              </a:lnSpc>
            </a:pPr>
            <a:endParaRPr lang="da-DK" sz="1350" b="0" u="none" strike="noStrike">
              <a:solidFill>
                <a:schemeClr val="lt1"/>
              </a:solidFill>
              <a:effectLst/>
              <a:uFillTx/>
              <a:latin typeface="Calibri"/>
            </a:endParaRPr>
          </a:p>
        </p:txBody>
      </p:sp>
      <p:pic>
        <p:nvPicPr>
          <p:cNvPr id="147" name="Grafik 7"/>
          <p:cNvPicPr/>
          <p:nvPr/>
        </p:nvPicPr>
        <p:blipFill>
          <a:blip>
            <a:extLst>
              <a:ext uri="{96DAC541-7B7A-43D3-8B79-37D633B846F1}">
                <asvg:svgBlip xmlns:asvg="http://schemas.microsoft.com/office/drawing/2016/SVG/main" r:embed="rId2"/>
              </a:ext>
            </a:extLst>
          </a:blip>
          <a:stretch/>
        </p:blipFill>
        <p:spPr>
          <a:xfrm>
            <a:off x="7999560" y="4216320"/>
            <a:ext cx="702000" cy="515970"/>
          </a:xfrm>
          <a:prstGeom prst="rect">
            <a:avLst/>
          </a:prstGeom>
          <a:noFill/>
          <a:ln w="0">
            <a:noFill/>
          </a:ln>
        </p:spPr>
      </p:pic>
      <p:sp>
        <p:nvSpPr>
          <p:cNvPr id="148" name="Pladsholder til dato 3"/>
          <p:cNvSpPr/>
          <p:nvPr/>
        </p:nvSpPr>
        <p:spPr>
          <a:xfrm>
            <a:off x="628560" y="4534650"/>
            <a:ext cx="507600" cy="272700"/>
          </a:xfrm>
          <a:prstGeom prst="rect">
            <a:avLst/>
          </a:prstGeom>
          <a:noFill/>
          <a:ln w="0">
            <a:noFill/>
          </a:ln>
        </p:spPr>
        <p:style>
          <a:lnRef idx="0">
            <a:scrgbClr r="0" g="0" b="0"/>
          </a:lnRef>
          <a:fillRef idx="0">
            <a:scrgbClr r="0" g="0" b="0"/>
          </a:fillRef>
          <a:effectRef idx="0">
            <a:scrgbClr r="0" g="0" b="0"/>
          </a:effectRef>
          <a:fontRef idx="minor"/>
        </p:style>
        <p:txBody>
          <a:bodyPr lIns="67500" tIns="33750" rIns="67500" bIns="33750" anchor="ctr">
            <a:noAutofit/>
          </a:bodyPr>
          <a:lstStyle/>
          <a:p>
            <a:pPr defTabSz="685800">
              <a:lnSpc>
                <a:spcPct val="100000"/>
              </a:lnSpc>
            </a:pPr>
            <a:fld id="{2D6177F5-9CDF-417C-97A1-88880570486A}" type="slidenum">
              <a:rPr lang="da-DK" sz="900" b="0" u="none" strike="noStrike">
                <a:solidFill>
                  <a:srgbClr val="00454E"/>
                </a:solidFill>
                <a:effectLst/>
                <a:uFillTx/>
                <a:latin typeface="Calibri"/>
              </a:rPr>
              <a:pPr defTabSz="685800">
                <a:lnSpc>
                  <a:spcPct val="100000"/>
                </a:lnSpc>
              </a:pPr>
              <a:t>‹nr.›</a:t>
            </a:fld>
            <a:endParaRPr lang="da-DK" sz="900" b="0" u="none" strike="noStrike">
              <a:solidFill>
                <a:srgbClr val="000000"/>
              </a:solidFill>
              <a:effectLst/>
              <a:uFillTx/>
              <a:latin typeface="Arial"/>
            </a:endParaRPr>
          </a:p>
        </p:txBody>
      </p:sp>
      <p:pic>
        <p:nvPicPr>
          <p:cNvPr id="149" name="Billede 2" descr="Et billede, der indeholder cirkel&#10;&#10;Automatisk genereret beskrivelse"/>
          <p:cNvPicPr/>
          <p:nvPr/>
        </p:nvPicPr>
        <p:blipFill>
          <a:blip r:embed="rId3">
            <a:alphaModFix amt="20000"/>
          </a:blip>
          <a:stretch/>
        </p:blipFill>
        <p:spPr>
          <a:xfrm>
            <a:off x="-588330" y="-773010"/>
            <a:ext cx="3514320" cy="3514320"/>
          </a:xfrm>
          <a:prstGeom prst="rect">
            <a:avLst/>
          </a:prstGeom>
          <a:noFill/>
          <a:ln w="0">
            <a:noFill/>
          </a:ln>
        </p:spPr>
      </p:pic>
      <p:sp>
        <p:nvSpPr>
          <p:cNvPr id="150" name="PlaceHolder 1"/>
          <p:cNvSpPr>
            <a:spLocks noGrp="1"/>
          </p:cNvSpPr>
          <p:nvPr>
            <p:ph type="title"/>
          </p:nvPr>
        </p:nvSpPr>
        <p:spPr>
          <a:xfrm>
            <a:off x="628560" y="685800"/>
            <a:ext cx="7885620" cy="826470"/>
          </a:xfrm>
          <a:prstGeom prst="rect">
            <a:avLst/>
          </a:prstGeom>
          <a:noFill/>
          <a:ln w="0">
            <a:noFill/>
          </a:ln>
        </p:spPr>
        <p:txBody>
          <a:bodyPr lIns="91440" tIns="45720" rIns="91440" bIns="45720" anchor="t">
            <a:noAutofit/>
          </a:bodyPr>
          <a:lstStyle>
            <a:lvl1pPr indent="0" defTabSz="685800">
              <a:lnSpc>
                <a:spcPct val="90000"/>
              </a:lnSpc>
              <a:buNone/>
              <a:tabLst>
                <a:tab pos="0" algn="l"/>
              </a:tabLst>
              <a:defRPr/>
            </a:lvl1pPr>
          </a:lstStyle>
          <a:p>
            <a:pPr indent="0" defTabSz="914400">
              <a:lnSpc>
                <a:spcPct val="90000"/>
              </a:lnSpc>
              <a:buNone/>
              <a:tabLst>
                <a:tab pos="0" algn="l"/>
              </a:tabLst>
            </a:pPr>
            <a:r>
              <a:rPr lang="da-DK" sz="3000" b="1" i="1" u="none" strike="noStrike">
                <a:solidFill>
                  <a:srgbClr val="00454E"/>
                </a:solidFill>
                <a:effectLst/>
                <a:uFillTx/>
                <a:latin typeface="Proxima Nova Alt Rg"/>
              </a:rPr>
              <a:t>Klik for at redigere titeltypografien i masteren</a:t>
            </a:r>
            <a:endParaRPr lang="da-DK" sz="3000" b="0" u="none" strike="noStrike">
              <a:solidFill>
                <a:srgbClr val="000000"/>
              </a:solidFill>
              <a:effectLst/>
              <a:uFillTx/>
              <a:latin typeface="Arial"/>
            </a:endParaRPr>
          </a:p>
        </p:txBody>
      </p:sp>
      <p:sp>
        <p:nvSpPr>
          <p:cNvPr id="151" name="PlaceHolder 2"/>
          <p:cNvSpPr>
            <a:spLocks noGrp="1"/>
          </p:cNvSpPr>
          <p:nvPr>
            <p:ph type="body"/>
          </p:nvPr>
        </p:nvSpPr>
        <p:spPr>
          <a:xfrm>
            <a:off x="628560" y="1693170"/>
            <a:ext cx="7885620" cy="2383290"/>
          </a:xfrm>
          <a:prstGeom prst="rect">
            <a:avLst/>
          </a:prstGeom>
          <a:noFill/>
          <a:ln w="0">
            <a:noFill/>
          </a:ln>
        </p:spPr>
        <p:txBody>
          <a:bodyPr lIns="91440" tIns="45720" rIns="91440" bIns="45720" anchor="t">
            <a:normAutofit/>
          </a:bodyPr>
          <a:lstStyle>
            <a:lvl1pPr marL="171450" indent="-171450" defTabSz="685800">
              <a:lnSpc>
                <a:spcPct val="90000"/>
              </a:lnSpc>
              <a:spcBef>
                <a:spcPts val="751"/>
              </a:spcBef>
              <a:buClr>
                <a:srgbClr val="00454E"/>
              </a:buClr>
              <a:buFont typeface="Arial"/>
              <a:buChar char="•"/>
              <a:defRPr/>
            </a:lvl1pPr>
          </a:lstStyle>
          <a:p>
            <a:pPr marL="228600" indent="-228600" defTabSz="914400">
              <a:lnSpc>
                <a:spcPct val="90000"/>
              </a:lnSpc>
              <a:spcBef>
                <a:spcPts val="1001"/>
              </a:spcBef>
              <a:buClr>
                <a:srgbClr val="00454E"/>
              </a:buClr>
              <a:buFont typeface="Arial"/>
              <a:buChar char="•"/>
            </a:pPr>
            <a:r>
              <a:rPr lang="da-DK" sz="1500" b="0" u="none" strike="noStrike">
                <a:solidFill>
                  <a:srgbClr val="00454E"/>
                </a:solidFill>
                <a:effectLst/>
                <a:uFillTx/>
                <a:latin typeface="Proxima Nova Alt Rg"/>
              </a:rPr>
              <a:t>Klik for at indsætte en illustration</a:t>
            </a:r>
            <a:endParaRPr lang="da-DK" sz="1500" b="0" u="none" strike="noStrike">
              <a:solidFill>
                <a:srgbClr val="000000"/>
              </a:solidFill>
              <a:effectLst/>
              <a:uFillTx/>
              <a:latin typeface="Arial"/>
            </a:endParaRPr>
          </a:p>
        </p:txBody>
      </p:sp>
    </p:spTree>
    <p:extLst>
      <p:ext uri="{BB962C8B-B14F-4D97-AF65-F5344CB8AC3E}">
        <p14:creationId xmlns:p14="http://schemas.microsoft.com/office/powerpoint/2010/main" val="1659505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638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00454E"/>
              </a:buClr>
              <a:buSzPts val="2800"/>
              <a:buNone/>
              <a:defRPr sz="2800">
                <a:solidFill>
                  <a:srgbClr val="00454E"/>
                </a:solidFill>
              </a:defRPr>
            </a:lvl1pPr>
            <a:lvl2pPr lvl="1">
              <a:spcBef>
                <a:spcPts val="0"/>
              </a:spcBef>
              <a:spcAft>
                <a:spcPts val="0"/>
              </a:spcAft>
              <a:buClr>
                <a:srgbClr val="00454E"/>
              </a:buClr>
              <a:buSzPts val="2800"/>
              <a:buNone/>
              <a:defRPr sz="2800">
                <a:solidFill>
                  <a:srgbClr val="00454E"/>
                </a:solidFill>
              </a:defRPr>
            </a:lvl2pPr>
            <a:lvl3pPr lvl="2">
              <a:spcBef>
                <a:spcPts val="0"/>
              </a:spcBef>
              <a:spcAft>
                <a:spcPts val="0"/>
              </a:spcAft>
              <a:buClr>
                <a:srgbClr val="00454E"/>
              </a:buClr>
              <a:buSzPts val="2800"/>
              <a:buNone/>
              <a:defRPr sz="2800">
                <a:solidFill>
                  <a:srgbClr val="00454E"/>
                </a:solidFill>
              </a:defRPr>
            </a:lvl3pPr>
            <a:lvl4pPr lvl="3">
              <a:spcBef>
                <a:spcPts val="0"/>
              </a:spcBef>
              <a:spcAft>
                <a:spcPts val="0"/>
              </a:spcAft>
              <a:buClr>
                <a:srgbClr val="00454E"/>
              </a:buClr>
              <a:buSzPts val="2800"/>
              <a:buNone/>
              <a:defRPr sz="2800">
                <a:solidFill>
                  <a:srgbClr val="00454E"/>
                </a:solidFill>
              </a:defRPr>
            </a:lvl4pPr>
            <a:lvl5pPr lvl="4">
              <a:spcBef>
                <a:spcPts val="0"/>
              </a:spcBef>
              <a:spcAft>
                <a:spcPts val="0"/>
              </a:spcAft>
              <a:buClr>
                <a:srgbClr val="00454E"/>
              </a:buClr>
              <a:buSzPts val="2800"/>
              <a:buNone/>
              <a:defRPr sz="2800">
                <a:solidFill>
                  <a:srgbClr val="00454E"/>
                </a:solidFill>
              </a:defRPr>
            </a:lvl5pPr>
            <a:lvl6pPr lvl="5">
              <a:spcBef>
                <a:spcPts val="0"/>
              </a:spcBef>
              <a:spcAft>
                <a:spcPts val="0"/>
              </a:spcAft>
              <a:buClr>
                <a:srgbClr val="00454E"/>
              </a:buClr>
              <a:buSzPts val="2800"/>
              <a:buNone/>
              <a:defRPr sz="2800">
                <a:solidFill>
                  <a:srgbClr val="00454E"/>
                </a:solidFill>
              </a:defRPr>
            </a:lvl6pPr>
            <a:lvl7pPr lvl="6">
              <a:spcBef>
                <a:spcPts val="0"/>
              </a:spcBef>
              <a:spcAft>
                <a:spcPts val="0"/>
              </a:spcAft>
              <a:buClr>
                <a:srgbClr val="00454E"/>
              </a:buClr>
              <a:buSzPts val="2800"/>
              <a:buNone/>
              <a:defRPr sz="2800">
                <a:solidFill>
                  <a:srgbClr val="00454E"/>
                </a:solidFill>
              </a:defRPr>
            </a:lvl7pPr>
            <a:lvl8pPr lvl="7">
              <a:spcBef>
                <a:spcPts val="0"/>
              </a:spcBef>
              <a:spcAft>
                <a:spcPts val="0"/>
              </a:spcAft>
              <a:buClr>
                <a:srgbClr val="00454E"/>
              </a:buClr>
              <a:buSzPts val="2800"/>
              <a:buNone/>
              <a:defRPr sz="2800">
                <a:solidFill>
                  <a:srgbClr val="00454E"/>
                </a:solidFill>
              </a:defRPr>
            </a:lvl8pPr>
            <a:lvl9pPr lvl="8">
              <a:spcBef>
                <a:spcPts val="0"/>
              </a:spcBef>
              <a:spcAft>
                <a:spcPts val="0"/>
              </a:spcAft>
              <a:buClr>
                <a:srgbClr val="00454E"/>
              </a:buClr>
              <a:buSzPts val="2800"/>
              <a:buNone/>
              <a:defRPr sz="2800">
                <a:solidFill>
                  <a:srgbClr val="00454E"/>
                </a:solidFill>
              </a:defRPr>
            </a:lvl9pPr>
          </a:lstStyle>
          <a:p>
            <a:endParaRPr/>
          </a:p>
        </p:txBody>
      </p:sp>
      <p:sp>
        <p:nvSpPr>
          <p:cNvPr id="7" name="Google Shape;7;p1"/>
          <p:cNvSpPr txBox="1">
            <a:spLocks noGrp="1"/>
          </p:cNvSpPr>
          <p:nvPr>
            <p:ph type="body" idx="1"/>
          </p:nvPr>
        </p:nvSpPr>
        <p:spPr>
          <a:xfrm>
            <a:off x="311700" y="1152475"/>
            <a:ext cx="8520600" cy="32235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pic>
        <p:nvPicPr>
          <p:cNvPr id="8" name="Google Shape;8;p1"/>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7118125" y="4447825"/>
            <a:ext cx="1568675" cy="467075"/>
          </a:xfrm>
          <a:prstGeom prst="rect">
            <a:avLst/>
          </a:prstGeom>
          <a:noFill/>
          <a:ln>
            <a:noFill/>
          </a:ln>
        </p:spPr>
      </p:pic>
      <p:sp>
        <p:nvSpPr>
          <p:cNvPr id="9" name="Google Shape;9;p1"/>
          <p:cNvSpPr txBox="1">
            <a:spLocks noGrp="1"/>
          </p:cNvSpPr>
          <p:nvPr>
            <p:ph type="sldNum" idx="12"/>
          </p:nvPr>
        </p:nvSpPr>
        <p:spPr>
          <a:xfrm>
            <a:off x="8" y="4673692"/>
            <a:ext cx="548700" cy="393600"/>
          </a:xfrm>
          <a:prstGeom prst="rect">
            <a:avLst/>
          </a:prstGeom>
          <a:noFill/>
          <a:ln>
            <a:noFill/>
          </a:ln>
        </p:spPr>
        <p:txBody>
          <a:bodyPr spcFirstLastPara="1" wrap="square" lIns="91425" tIns="91425" rIns="91425" bIns="91425" anchor="ctr" anchorCtr="0">
            <a:noAutofit/>
          </a:bodyPr>
          <a:lstStyle>
            <a:lvl1pPr lvl="0" algn="l" rtl="0">
              <a:buNone/>
              <a:defRPr sz="1000">
                <a:solidFill>
                  <a:schemeClr val="dk2"/>
                </a:solidFill>
              </a:defRPr>
            </a:lvl1pPr>
            <a:lvl2pPr lvl="1" algn="l" rtl="0">
              <a:buNone/>
              <a:defRPr sz="1000">
                <a:solidFill>
                  <a:schemeClr val="dk2"/>
                </a:solidFill>
              </a:defRPr>
            </a:lvl2pPr>
            <a:lvl3pPr lvl="2" algn="l" rtl="0">
              <a:buNone/>
              <a:defRPr sz="1000">
                <a:solidFill>
                  <a:schemeClr val="dk2"/>
                </a:solidFill>
              </a:defRPr>
            </a:lvl3pPr>
            <a:lvl4pPr lvl="3" algn="l" rtl="0">
              <a:buNone/>
              <a:defRPr sz="1000">
                <a:solidFill>
                  <a:schemeClr val="dk2"/>
                </a:solidFill>
              </a:defRPr>
            </a:lvl4pPr>
            <a:lvl5pPr lvl="4" algn="l" rtl="0">
              <a:buNone/>
              <a:defRPr sz="1000">
                <a:solidFill>
                  <a:schemeClr val="dk2"/>
                </a:solidFill>
              </a:defRPr>
            </a:lvl5pPr>
            <a:lvl6pPr lvl="5" algn="l" rtl="0">
              <a:buNone/>
              <a:defRPr sz="1000">
                <a:solidFill>
                  <a:schemeClr val="dk2"/>
                </a:solidFill>
              </a:defRPr>
            </a:lvl6pPr>
            <a:lvl7pPr lvl="6" algn="l" rtl="0">
              <a:buNone/>
              <a:defRPr sz="1000">
                <a:solidFill>
                  <a:schemeClr val="dk2"/>
                </a:solidFill>
              </a:defRPr>
            </a:lvl7pPr>
            <a:lvl8pPr lvl="7" algn="l" rtl="0">
              <a:buNone/>
              <a:defRPr sz="1000">
                <a:solidFill>
                  <a:schemeClr val="dk2"/>
                </a:solidFill>
              </a:defRPr>
            </a:lvl8pPr>
            <a:lvl9pPr lvl="8" algn="l" rtl="0">
              <a:buNone/>
              <a:defRPr sz="1000">
                <a:solidFill>
                  <a:schemeClr val="dk2"/>
                </a:solidFill>
              </a:defRPr>
            </a:lvl9pPr>
          </a:lstStyle>
          <a:p>
            <a:pPr marL="0" lvl="0" indent="0" algn="l" rtl="0">
              <a:spcBef>
                <a:spcPts val="0"/>
              </a:spcBef>
              <a:spcAft>
                <a:spcPts val="0"/>
              </a:spcAft>
              <a:buNone/>
            </a:pPr>
            <a:fld id="{00000000-1234-1234-1234-123412341234}" type="slidenum">
              <a:rPr lang="da"/>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6" r:id="rId4"/>
    <p:sldLayoutId id="2147483657" r:id="rId5"/>
    <p:sldLayoutId id="2147483661" r:id="rId6"/>
    <p:sldLayoutId id="2147483663" r:id="rId7"/>
    <p:sldLayoutId id="2147483664"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hyperlink" Target="https://bbycroft.net/llm"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trackingai.org/home"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633C29-E4B4-5A42-8899-30A7F2B5E286}"/>
              </a:ext>
            </a:extLst>
          </p:cNvPr>
          <p:cNvSpPr>
            <a:spLocks noGrp="1"/>
          </p:cNvSpPr>
          <p:nvPr>
            <p:ph type="ctrTitle"/>
          </p:nvPr>
        </p:nvSpPr>
        <p:spPr>
          <a:xfrm>
            <a:off x="1056187" y="2108233"/>
            <a:ext cx="7536270" cy="871854"/>
          </a:xfrm>
        </p:spPr>
        <p:txBody>
          <a:bodyPr/>
          <a:lstStyle/>
          <a:p>
            <a:r>
              <a:rPr lang="da-DK" sz="4400" dirty="0"/>
              <a:t>AI i praksis</a:t>
            </a:r>
            <a:br>
              <a:rPr lang="da-DK" dirty="0"/>
            </a:br>
            <a:r>
              <a:rPr lang="da-DK" dirty="0">
                <a:solidFill>
                  <a:srgbClr val="498E8C"/>
                </a:solidFill>
              </a:rPr>
              <a:t>- </a:t>
            </a:r>
            <a:r>
              <a:rPr lang="da-DK" sz="3600" dirty="0">
                <a:solidFill>
                  <a:srgbClr val="498E8C"/>
                </a:solidFill>
              </a:rPr>
              <a:t>Praktisk brug og sund skepsis</a:t>
            </a:r>
          </a:p>
        </p:txBody>
      </p:sp>
      <p:sp>
        <p:nvSpPr>
          <p:cNvPr id="3" name="Undertitel 2">
            <a:extLst>
              <a:ext uri="{FF2B5EF4-FFF2-40B4-BE49-F238E27FC236}">
                <a16:creationId xmlns:a16="http://schemas.microsoft.com/office/drawing/2014/main" id="{240D8856-6628-0645-B612-8F670679791B}"/>
              </a:ext>
            </a:extLst>
          </p:cNvPr>
          <p:cNvSpPr>
            <a:spLocks noGrp="1"/>
          </p:cNvSpPr>
          <p:nvPr>
            <p:ph type="subTitle" idx="1"/>
          </p:nvPr>
        </p:nvSpPr>
        <p:spPr>
          <a:xfrm>
            <a:off x="1056187" y="3580552"/>
            <a:ext cx="6829800" cy="792600"/>
          </a:xfrm>
        </p:spPr>
        <p:txBody>
          <a:bodyPr/>
          <a:lstStyle/>
          <a:p>
            <a:r>
              <a:rPr lang="da-DK" sz="1400" dirty="0">
                <a:solidFill>
                  <a:schemeClr val="bg2"/>
                </a:solidFill>
              </a:rPr>
              <a:t>Dato 31. August 2026</a:t>
            </a:r>
          </a:p>
        </p:txBody>
      </p:sp>
    </p:spTree>
    <p:extLst>
      <p:ext uri="{BB962C8B-B14F-4D97-AF65-F5344CB8AC3E}">
        <p14:creationId xmlns:p14="http://schemas.microsoft.com/office/powerpoint/2010/main" val="3105748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156458-6BD4-DDAE-B76A-2EAB47CEDA3E}"/>
              </a:ext>
            </a:extLst>
          </p:cNvPr>
          <p:cNvSpPr txBox="1">
            <a:spLocks/>
          </p:cNvSpPr>
          <p:nvPr/>
        </p:nvSpPr>
        <p:spPr>
          <a:xfrm>
            <a:off x="4965900" y="-5138"/>
            <a:ext cx="4018612" cy="1020546"/>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da-DK" sz="1350" b="1" dirty="0"/>
          </a:p>
        </p:txBody>
      </p:sp>
      <p:sp>
        <p:nvSpPr>
          <p:cNvPr id="3" name="Titel 1">
            <a:extLst>
              <a:ext uri="{FF2B5EF4-FFF2-40B4-BE49-F238E27FC236}">
                <a16:creationId xmlns:a16="http://schemas.microsoft.com/office/drawing/2014/main" id="{DD837D38-7BB0-7BF6-B771-FA6372A7CD7A}"/>
              </a:ext>
            </a:extLst>
          </p:cNvPr>
          <p:cNvSpPr txBox="1">
            <a:spLocks/>
          </p:cNvSpPr>
          <p:nvPr/>
        </p:nvSpPr>
        <p:spPr>
          <a:xfrm>
            <a:off x="453553" y="368330"/>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sz="3000" dirty="0">
                <a:solidFill>
                  <a:schemeClr val="bg2"/>
                </a:solidFill>
              </a:rPr>
              <a:t>Opsamling</a:t>
            </a:r>
          </a:p>
        </p:txBody>
      </p:sp>
      <p:sp>
        <p:nvSpPr>
          <p:cNvPr id="4" name="Tekstfelt 3">
            <a:extLst>
              <a:ext uri="{FF2B5EF4-FFF2-40B4-BE49-F238E27FC236}">
                <a16:creationId xmlns:a16="http://schemas.microsoft.com/office/drawing/2014/main" id="{67E94FFA-01CB-B5BE-F717-14EAB0C512B2}"/>
              </a:ext>
            </a:extLst>
          </p:cNvPr>
          <p:cNvSpPr txBox="1"/>
          <p:nvPr/>
        </p:nvSpPr>
        <p:spPr>
          <a:xfrm>
            <a:off x="453553" y="1443955"/>
            <a:ext cx="6815927" cy="1483098"/>
          </a:xfrm>
          <a:prstGeom prst="rect">
            <a:avLst/>
          </a:prstGeom>
          <a:noFill/>
        </p:spPr>
        <p:txBody>
          <a:bodyPr wrap="square">
            <a:spAutoFit/>
          </a:bodyPr>
          <a:lstStyle/>
          <a:p>
            <a:pPr fontAlgn="t">
              <a:lnSpc>
                <a:spcPts val="1500"/>
              </a:lnSpc>
              <a:buNone/>
            </a:pPr>
            <a:r>
              <a:rPr lang="da-DK" sz="2400" b="1" dirty="0">
                <a:solidFill>
                  <a:schemeClr val="bg2"/>
                </a:solidFill>
                <a:latin typeface="Segoe UI" panose="020B0502040204020203" pitchFamily="34" charset="0"/>
              </a:rPr>
              <a:t>Refleksion fra sidst</a:t>
            </a:r>
          </a:p>
          <a:p>
            <a:pPr fontAlgn="t">
              <a:lnSpc>
                <a:spcPts val="1500"/>
              </a:lnSpc>
              <a:buNone/>
            </a:pPr>
            <a:endParaRPr lang="da-DK" sz="2400" b="1" dirty="0">
              <a:solidFill>
                <a:schemeClr val="bg2"/>
              </a:solidFill>
              <a:latin typeface="Segoe UI" panose="020B0502040204020203" pitchFamily="34" charset="0"/>
            </a:endParaRPr>
          </a:p>
          <a:p>
            <a:pPr marL="342900" indent="-342900" fontAlgn="t">
              <a:lnSpc>
                <a:spcPts val="1500"/>
              </a:lnSpc>
              <a:buFont typeface="Arial" panose="020B0604020202020204" pitchFamily="34" charset="0"/>
              <a:buChar char="•"/>
            </a:pPr>
            <a:r>
              <a:rPr lang="da-DK" sz="2400" dirty="0">
                <a:solidFill>
                  <a:schemeClr val="bg2"/>
                </a:solidFill>
                <a:latin typeface="Segoe UI" panose="020B0502040204020203" pitchFamily="34" charset="0"/>
              </a:rPr>
              <a:t>Hvad tog I med jer fra sidste gang?</a:t>
            </a:r>
          </a:p>
          <a:p>
            <a:pPr fontAlgn="t">
              <a:lnSpc>
                <a:spcPts val="1500"/>
              </a:lnSpc>
            </a:pPr>
            <a:endParaRPr lang="da-DK" sz="2400" dirty="0">
              <a:solidFill>
                <a:schemeClr val="bg2"/>
              </a:solidFill>
              <a:latin typeface="Segoe UI" panose="020B0502040204020203" pitchFamily="34" charset="0"/>
            </a:endParaRPr>
          </a:p>
          <a:p>
            <a:pPr marL="342900" indent="-342900" fontAlgn="t">
              <a:lnSpc>
                <a:spcPts val="1500"/>
              </a:lnSpc>
              <a:buFont typeface="Arial" panose="020B0604020202020204" pitchFamily="34" charset="0"/>
              <a:buChar char="•"/>
            </a:pPr>
            <a:r>
              <a:rPr lang="da-DK" sz="2400" dirty="0">
                <a:solidFill>
                  <a:schemeClr val="bg2"/>
                </a:solidFill>
                <a:latin typeface="Segoe UI" panose="020B0502040204020203" pitchFamily="34" charset="0"/>
              </a:rPr>
              <a:t>Hvad har I tænkt over siden da?</a:t>
            </a:r>
          </a:p>
          <a:p>
            <a:pPr fontAlgn="t">
              <a:lnSpc>
                <a:spcPts val="1500"/>
              </a:lnSpc>
            </a:pPr>
            <a:endParaRPr lang="da-DK" sz="2400" dirty="0">
              <a:solidFill>
                <a:schemeClr val="bg2"/>
              </a:solidFill>
              <a:latin typeface="Segoe UI" panose="020B0502040204020203" pitchFamily="34" charset="0"/>
            </a:endParaRPr>
          </a:p>
          <a:p>
            <a:pPr marL="342900" indent="-342900" fontAlgn="t">
              <a:lnSpc>
                <a:spcPts val="1500"/>
              </a:lnSpc>
              <a:buFont typeface="Arial" panose="020B0604020202020204" pitchFamily="34" charset="0"/>
              <a:buChar char="•"/>
            </a:pPr>
            <a:r>
              <a:rPr lang="da-DK" sz="2400" dirty="0">
                <a:solidFill>
                  <a:schemeClr val="bg2"/>
                </a:solidFill>
                <a:latin typeface="Segoe UI" panose="020B0502040204020203" pitchFamily="34" charset="0"/>
              </a:rPr>
              <a:t>Er der nogle spørgsmål, der er dukket op?</a:t>
            </a:r>
          </a:p>
        </p:txBody>
      </p:sp>
    </p:spTree>
    <p:extLst>
      <p:ext uri="{BB962C8B-B14F-4D97-AF65-F5344CB8AC3E}">
        <p14:creationId xmlns:p14="http://schemas.microsoft.com/office/powerpoint/2010/main" val="287306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628560" y="685800"/>
            <a:ext cx="7885890" cy="826740"/>
          </a:xfrm>
          <a:prstGeom prst="rect">
            <a:avLst/>
          </a:prstGeom>
          <a:noFill/>
          <a:ln w="0">
            <a:noFill/>
          </a:ln>
        </p:spPr>
        <p:txBody>
          <a:bodyPr spcFirstLastPara="1" wrap="square" lIns="68580" tIns="34290" rIns="68580" bIns="34290" anchor="t" anchorCtr="0">
            <a:noAutofit/>
          </a:bodyPr>
          <a:lstStyle/>
          <a:p>
            <a:r>
              <a:rPr lang="da-DK" sz="3000" b="1" i="1">
                <a:latin typeface="Proxima Nova Alt Rg"/>
              </a:rPr>
              <a:t>Prompt elementer: De 7 byggeblokke</a:t>
            </a:r>
            <a:br>
              <a:rPr sz="3000"/>
            </a:br>
            <a:r>
              <a:rPr lang="da-DK" sz="3000" b="1">
                <a:latin typeface="Proxima Nova Alt Rg"/>
              </a:rPr>
              <a:t>Oversigt</a:t>
            </a:r>
            <a:endParaRPr lang="da-DK" sz="3000">
              <a:solidFill>
                <a:srgbClr val="000000"/>
              </a:solidFill>
            </a:endParaRPr>
          </a:p>
        </p:txBody>
      </p:sp>
      <p:sp>
        <p:nvSpPr>
          <p:cNvPr id="439" name="PlaceHolder 2"/>
          <p:cNvSpPr>
            <a:spLocks noGrp="1"/>
          </p:cNvSpPr>
          <p:nvPr>
            <p:ph/>
          </p:nvPr>
        </p:nvSpPr>
        <p:spPr>
          <a:xfrm>
            <a:off x="628560" y="1693170"/>
            <a:ext cx="7885890" cy="2383560"/>
          </a:xfrm>
          <a:prstGeom prst="rect">
            <a:avLst/>
          </a:prstGeom>
          <a:noFill/>
          <a:ln w="0">
            <a:noFill/>
          </a:ln>
        </p:spPr>
        <p:txBody>
          <a:bodyPr spcFirstLastPara="1" wrap="square" lIns="68580" tIns="34290" rIns="68580" bIns="34290" anchor="t" anchorCtr="0">
            <a:normAutofit lnSpcReduction="10000"/>
          </a:bodyPr>
          <a:lstStyle/>
          <a:p>
            <a:pPr marL="342900" indent="-342900">
              <a:spcBef>
                <a:spcPts val="751"/>
              </a:spcBef>
              <a:buFont typeface="Calibri Light"/>
              <a:buAutoNum type="arabicPeriod"/>
            </a:pPr>
            <a:r>
              <a:rPr lang="da-DK" sz="1800" dirty="0">
                <a:latin typeface="Proxima Nova Alt Rg"/>
              </a:rPr>
              <a:t>Opgave</a:t>
            </a:r>
            <a:endParaRPr lang="da-DK" sz="1800" dirty="0">
              <a:solidFill>
                <a:srgbClr val="000000"/>
              </a:solidFill>
            </a:endParaRPr>
          </a:p>
          <a:p>
            <a:pPr marL="342900" indent="-342900">
              <a:spcBef>
                <a:spcPts val="751"/>
              </a:spcBef>
              <a:buFont typeface="Calibri Light"/>
              <a:buAutoNum type="arabicPeriod"/>
            </a:pPr>
            <a:r>
              <a:rPr lang="da-DK" sz="1800" dirty="0">
                <a:latin typeface="Proxima Nova Alt Rg"/>
              </a:rPr>
              <a:t>Rolle</a:t>
            </a:r>
            <a:endParaRPr lang="da-DK" sz="1800" dirty="0">
              <a:solidFill>
                <a:srgbClr val="000000"/>
              </a:solidFill>
            </a:endParaRPr>
          </a:p>
          <a:p>
            <a:pPr marL="342900" indent="-342900">
              <a:spcBef>
                <a:spcPts val="751"/>
              </a:spcBef>
              <a:buFont typeface="Calibri Light"/>
              <a:buAutoNum type="arabicPeriod"/>
            </a:pPr>
            <a:r>
              <a:rPr lang="da-DK" sz="1800" dirty="0">
                <a:latin typeface="Proxima Nova Alt Rg"/>
              </a:rPr>
              <a:t>Format</a:t>
            </a:r>
            <a:endParaRPr lang="da-DK" sz="1800" dirty="0">
              <a:solidFill>
                <a:srgbClr val="000000"/>
              </a:solidFill>
            </a:endParaRPr>
          </a:p>
          <a:p>
            <a:pPr marL="342900" indent="-342900">
              <a:spcBef>
                <a:spcPts val="751"/>
              </a:spcBef>
              <a:buFont typeface="Calibri Light"/>
              <a:buAutoNum type="arabicPeriod"/>
            </a:pPr>
            <a:r>
              <a:rPr lang="da-DK" sz="1800" dirty="0">
                <a:latin typeface="Proxima Nova Alt Rg"/>
              </a:rPr>
              <a:t>Kontekst</a:t>
            </a:r>
            <a:endParaRPr lang="da-DK" sz="1800" dirty="0">
              <a:solidFill>
                <a:srgbClr val="000000"/>
              </a:solidFill>
            </a:endParaRPr>
          </a:p>
          <a:p>
            <a:pPr marL="342900" indent="-342900">
              <a:spcBef>
                <a:spcPts val="751"/>
              </a:spcBef>
              <a:buFont typeface="Calibri Light"/>
              <a:buAutoNum type="arabicPeriod"/>
            </a:pPr>
            <a:r>
              <a:rPr lang="da-DK" sz="1800" dirty="0">
                <a:latin typeface="Proxima Nova Alt Rg"/>
              </a:rPr>
              <a:t>Begrænsning</a:t>
            </a:r>
            <a:endParaRPr lang="da-DK" sz="1800" dirty="0">
              <a:solidFill>
                <a:srgbClr val="000000"/>
              </a:solidFill>
            </a:endParaRPr>
          </a:p>
          <a:p>
            <a:pPr marL="342900" indent="-342900">
              <a:spcBef>
                <a:spcPts val="751"/>
              </a:spcBef>
              <a:buFont typeface="Calibri Light"/>
              <a:buAutoNum type="arabicPeriod"/>
            </a:pPr>
            <a:r>
              <a:rPr lang="da-DK" sz="1800" dirty="0">
                <a:latin typeface="Proxima Nova Alt Rg"/>
              </a:rPr>
              <a:t>Eksempler</a:t>
            </a:r>
            <a:endParaRPr lang="da-DK" sz="1800" dirty="0">
              <a:solidFill>
                <a:srgbClr val="000000"/>
              </a:solidFill>
            </a:endParaRPr>
          </a:p>
          <a:p>
            <a:pPr marL="342900" indent="-342900">
              <a:spcBef>
                <a:spcPts val="751"/>
              </a:spcBef>
              <a:buFont typeface="Calibri Light"/>
              <a:buAutoNum type="arabicPeriod"/>
            </a:pPr>
            <a:r>
              <a:rPr lang="da-DK" sz="1800" dirty="0">
                <a:latin typeface="Proxima Nova Alt Rg"/>
              </a:rPr>
              <a:t>Data</a:t>
            </a:r>
            <a:endParaRPr lang="da-DK" sz="1800" dirty="0">
              <a:solidFill>
                <a:srgbClr val="000000"/>
              </a:solidFill>
            </a:endParaRPr>
          </a:p>
        </p:txBody>
      </p:sp>
    </p:spTree>
    <p:extLst>
      <p:ext uri="{BB962C8B-B14F-4D97-AF65-F5344CB8AC3E}">
        <p14:creationId xmlns:p14="http://schemas.microsoft.com/office/powerpoint/2010/main" val="2881844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628560" y="685800"/>
            <a:ext cx="7885890" cy="826740"/>
          </a:xfrm>
          <a:prstGeom prst="rect">
            <a:avLst/>
          </a:prstGeom>
          <a:noFill/>
          <a:ln w="0">
            <a:noFill/>
          </a:ln>
        </p:spPr>
        <p:txBody>
          <a:bodyPr spcFirstLastPara="1" wrap="square" lIns="68580" tIns="34290" rIns="68580" bIns="34290" anchor="t" anchorCtr="0">
            <a:noAutofit/>
          </a:bodyPr>
          <a:lstStyle/>
          <a:p>
            <a:r>
              <a:rPr lang="da-DK" sz="3000" b="1" i="1">
                <a:latin typeface="Proxima Nova Alt Rg"/>
              </a:rPr>
              <a:t>Prompt elementer: De 7 byggeblokke</a:t>
            </a:r>
            <a:br>
              <a:rPr sz="3000"/>
            </a:br>
            <a:r>
              <a:rPr lang="da-DK" sz="3000" b="1">
                <a:latin typeface="Proxima Nova Alt Rg"/>
              </a:rPr>
              <a:t>Hvad er der i en bedre prompt?</a:t>
            </a:r>
            <a:endParaRPr lang="da-DK" sz="3000">
              <a:solidFill>
                <a:srgbClr val="000000"/>
              </a:solidFill>
            </a:endParaRPr>
          </a:p>
        </p:txBody>
      </p:sp>
      <p:sp>
        <p:nvSpPr>
          <p:cNvPr id="429" name="PlaceHolder 2"/>
          <p:cNvSpPr>
            <a:spLocks noGrp="1"/>
          </p:cNvSpPr>
          <p:nvPr>
            <p:ph/>
          </p:nvPr>
        </p:nvSpPr>
        <p:spPr>
          <a:xfrm>
            <a:off x="628560" y="1693170"/>
            <a:ext cx="7885890" cy="2383560"/>
          </a:xfrm>
          <a:prstGeom prst="rect">
            <a:avLst/>
          </a:prstGeom>
          <a:noFill/>
          <a:ln w="0">
            <a:noFill/>
          </a:ln>
        </p:spPr>
        <p:txBody>
          <a:bodyPr spcFirstLastPara="1" wrap="square" lIns="68580" tIns="34290" rIns="68580" bIns="34290" anchor="t" anchorCtr="0">
            <a:normAutofit/>
          </a:bodyPr>
          <a:lstStyle/>
          <a:p>
            <a:pPr marL="171450" indent="-171450">
              <a:spcBef>
                <a:spcPts val="751"/>
              </a:spcBef>
              <a:buClr>
                <a:srgbClr val="000000"/>
              </a:buClr>
              <a:buFont typeface="Arial"/>
              <a:buChar char="•"/>
            </a:pPr>
            <a:r>
              <a:rPr lang="da-DK" sz="1800" b="1">
                <a:solidFill>
                  <a:schemeClr val="dk1"/>
                </a:solidFill>
                <a:latin typeface="Proxima Nova Alt Rg"/>
              </a:rPr>
              <a:t>Man laver bedre prompts ved at forstå, hvad der er gavnligt at inkludere.</a:t>
            </a:r>
            <a:r>
              <a:rPr lang="da-DK" sz="1800">
                <a:solidFill>
                  <a:schemeClr val="dk1"/>
                </a:solidFill>
                <a:latin typeface="Proxima Nova Alt Rg"/>
              </a:rPr>
              <a:t> Derfor er der heller ikke en bestemt liste med ting, der altid bør være i en prompt.</a:t>
            </a:r>
            <a:endParaRPr lang="da-DK" sz="1800">
              <a:solidFill>
                <a:srgbClr val="000000"/>
              </a:solidFill>
            </a:endParaRPr>
          </a:p>
        </p:txBody>
      </p:sp>
    </p:spTree>
    <p:extLst>
      <p:ext uri="{BB962C8B-B14F-4D97-AF65-F5344CB8AC3E}">
        <p14:creationId xmlns:p14="http://schemas.microsoft.com/office/powerpoint/2010/main" val="2251498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3E78D-4964-6900-0506-ADE41F97E65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A71137F-EFCF-0081-C266-5B0680AF95E6}"/>
              </a:ext>
            </a:extLst>
          </p:cNvPr>
          <p:cNvSpPr txBox="1">
            <a:spLocks/>
          </p:cNvSpPr>
          <p:nvPr/>
        </p:nvSpPr>
        <p:spPr>
          <a:xfrm>
            <a:off x="4965900" y="-5138"/>
            <a:ext cx="4018612" cy="1020546"/>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da-DK" sz="1350" b="1" dirty="0"/>
          </a:p>
        </p:txBody>
      </p:sp>
      <p:sp>
        <p:nvSpPr>
          <p:cNvPr id="5" name="Text 2">
            <a:extLst>
              <a:ext uri="{FF2B5EF4-FFF2-40B4-BE49-F238E27FC236}">
                <a16:creationId xmlns:a16="http://schemas.microsoft.com/office/drawing/2014/main" id="{DFFF97D9-F45F-0139-B7B6-EDE314837948}"/>
              </a:ext>
            </a:extLst>
          </p:cNvPr>
          <p:cNvSpPr/>
          <p:nvPr/>
        </p:nvSpPr>
        <p:spPr>
          <a:xfrm>
            <a:off x="475144" y="2275542"/>
            <a:ext cx="4096226" cy="2023110"/>
          </a:xfrm>
          <a:prstGeom prst="rect">
            <a:avLst/>
          </a:prstGeom>
          <a:noFill/>
          <a:ln/>
        </p:spPr>
        <p:txBody>
          <a:bodyPr wrap="square" lIns="0" tIns="0" rIns="0" bIns="0" rtlCol="0" anchor="ctr">
            <a:normAutofit/>
          </a:bodyPr>
          <a:lstStyle/>
          <a:p>
            <a:pPr>
              <a:lnSpc>
                <a:spcPct val="105000"/>
              </a:lnSpc>
            </a:pPr>
            <a:r>
              <a:rPr lang="en-US" sz="1600" dirty="0">
                <a:solidFill>
                  <a:srgbClr val="111111"/>
                </a:solidFill>
                <a:latin typeface="Arial" pitchFamily="34" charset="0"/>
                <a:ea typeface="Arial" pitchFamily="34" charset="-122"/>
                <a:cs typeface="Arial" pitchFamily="34" charset="-120"/>
              </a:rPr>
              <a:t>1. Smal AI - meget specifikke handlinger
2. Kunstig generel intelligens (AGI) - menneskeligt niveau
3. Kunstig superintelligens - overgar mennesker</a:t>
            </a:r>
            <a:endParaRPr lang="en-US" sz="1600" dirty="0"/>
          </a:p>
        </p:txBody>
      </p:sp>
      <p:sp>
        <p:nvSpPr>
          <p:cNvPr id="6" name="Text 3">
            <a:extLst>
              <a:ext uri="{FF2B5EF4-FFF2-40B4-BE49-F238E27FC236}">
                <a16:creationId xmlns:a16="http://schemas.microsoft.com/office/drawing/2014/main" id="{B772E0CB-F95D-2E25-AEF2-506E776998D1}"/>
              </a:ext>
            </a:extLst>
          </p:cNvPr>
          <p:cNvSpPr/>
          <p:nvPr/>
        </p:nvSpPr>
        <p:spPr>
          <a:xfrm>
            <a:off x="4533900" y="2434590"/>
            <a:ext cx="4610100" cy="2023110"/>
          </a:xfrm>
          <a:prstGeom prst="rect">
            <a:avLst/>
          </a:prstGeom>
          <a:noFill/>
          <a:ln/>
        </p:spPr>
        <p:txBody>
          <a:bodyPr wrap="square" lIns="0" tIns="0" rIns="0" bIns="0" rtlCol="0" anchor="ctr">
            <a:normAutofit/>
          </a:bodyPr>
          <a:lstStyle/>
          <a:p>
            <a:pPr>
              <a:lnSpc>
                <a:spcPct val="105000"/>
              </a:lnSpc>
            </a:pPr>
            <a:r>
              <a:rPr lang="en-US" sz="1600" dirty="0">
                <a:solidFill>
                  <a:srgbClr val="111111"/>
                </a:solidFill>
                <a:latin typeface="Arial" pitchFamily="34" charset="0"/>
                <a:ea typeface="Arial" pitchFamily="34" charset="-122"/>
                <a:cs typeface="Arial" pitchFamily="34" charset="-120"/>
              </a:rPr>
              <a:t>4. Reaktiv maskine AI - reagerer i realtid uden hukommelse
5. </a:t>
            </a:r>
            <a:r>
              <a:rPr lang="en-US" sz="1600" dirty="0" err="1">
                <a:solidFill>
                  <a:srgbClr val="111111"/>
                </a:solidFill>
                <a:latin typeface="Arial" pitchFamily="34" charset="0"/>
                <a:ea typeface="Arial" pitchFamily="34" charset="-122"/>
                <a:cs typeface="Arial" pitchFamily="34" charset="-120"/>
              </a:rPr>
              <a:t>Begrænset</a:t>
            </a:r>
            <a:r>
              <a:rPr lang="en-US" sz="1600" dirty="0">
                <a:solidFill>
                  <a:srgbClr val="111111"/>
                </a:solidFill>
                <a:latin typeface="Arial" pitchFamily="34" charset="0"/>
                <a:ea typeface="Arial" pitchFamily="34" charset="-122"/>
                <a:cs typeface="Arial" pitchFamily="34" charset="-120"/>
              </a:rPr>
              <a:t> hukommelse AI - bruger data og erfaringer
6. Theory of Mind - forstar mentale tilstande
7. Selvbevidst AI - har en folese </a:t>
            </a:r>
            <a:r>
              <a:rPr lang="en-US" sz="1600" dirty="0" err="1">
                <a:solidFill>
                  <a:srgbClr val="111111"/>
                </a:solidFill>
                <a:latin typeface="Arial" pitchFamily="34" charset="0"/>
                <a:ea typeface="Arial" pitchFamily="34" charset="-122"/>
                <a:cs typeface="Arial" pitchFamily="34" charset="-120"/>
              </a:rPr>
              <a:t>af</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selv</a:t>
            </a:r>
            <a:endParaRPr lang="en-US" sz="1600" dirty="0"/>
          </a:p>
        </p:txBody>
      </p:sp>
      <p:sp>
        <p:nvSpPr>
          <p:cNvPr id="7" name="PlaceHolder 2">
            <a:extLst>
              <a:ext uri="{FF2B5EF4-FFF2-40B4-BE49-F238E27FC236}">
                <a16:creationId xmlns:a16="http://schemas.microsoft.com/office/drawing/2014/main" id="{E45432B8-4BE1-DFF9-9484-BA9D7038CBBE}"/>
              </a:ext>
            </a:extLst>
          </p:cNvPr>
          <p:cNvSpPr txBox="1">
            <a:spLocks/>
          </p:cNvSpPr>
          <p:nvPr/>
        </p:nvSpPr>
        <p:spPr>
          <a:xfrm>
            <a:off x="591090" y="1400184"/>
            <a:ext cx="7885620" cy="2739420"/>
          </a:xfrm>
          <a:prstGeom prst="rect">
            <a:avLst/>
          </a:prstGeom>
          <a:noFill/>
          <a:ln w="0">
            <a:noFill/>
          </a:ln>
        </p:spPr>
        <p:txBody>
          <a:bodyPr spcFirstLastPara="1" wrap="square" lIns="68580" tIns="34290" rIns="68580" bIns="3429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751"/>
              </a:spcBef>
              <a:buFont typeface="Arial"/>
              <a:buChar char="•"/>
            </a:pPr>
            <a:r>
              <a:rPr lang="da-DK" sz="1800" dirty="0">
                <a:latin typeface="Proxima Nova Alt Rg"/>
              </a:rPr>
              <a:t>Der er grundlæggende syv typer AI, hvilket er med til at definere hvad vi kan forvente af teknologien.</a:t>
            </a:r>
            <a:endParaRPr lang="da-DK" sz="1800" dirty="0"/>
          </a:p>
          <a:p>
            <a:pPr marL="972000" lvl="2" indent="-216000" defTabSz="685800">
              <a:lnSpc>
                <a:spcPct val="90000"/>
              </a:lnSpc>
              <a:spcBef>
                <a:spcPts val="638"/>
              </a:spcBef>
              <a:buSzPct val="45000"/>
              <a:buFont typeface="Wingdings" charset="2"/>
              <a:buChar char=""/>
            </a:pPr>
            <a:r>
              <a:rPr lang="da-DK" sz="1600" dirty="0">
                <a:ea typeface="Noto Sans CJK SC"/>
              </a:rPr>
              <a:t>Det er ikke direkte syv trin efter hinanden, men de tre første sammen og de fire sidste  sammen med forskellige vinkler. </a:t>
            </a:r>
            <a:endParaRPr lang="da-DK" sz="1600" dirty="0"/>
          </a:p>
        </p:txBody>
      </p:sp>
      <p:sp>
        <p:nvSpPr>
          <p:cNvPr id="8" name="PlaceHolder 1">
            <a:extLst>
              <a:ext uri="{FF2B5EF4-FFF2-40B4-BE49-F238E27FC236}">
                <a16:creationId xmlns:a16="http://schemas.microsoft.com/office/drawing/2014/main" id="{267C7F71-0B02-80EA-DF77-911347D73E3F}"/>
              </a:ext>
            </a:extLst>
          </p:cNvPr>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solidFill>
                  <a:schemeClr val="accent1"/>
                </a:solidFill>
                <a:latin typeface="Proxima Nova Alt Rg"/>
              </a:rPr>
              <a:t>Typer af AI</a:t>
            </a:r>
            <a:endParaRPr lang="da-DK" sz="3000" dirty="0">
              <a:solidFill>
                <a:schemeClr val="accent1"/>
              </a:solidFill>
            </a:endParaRPr>
          </a:p>
        </p:txBody>
      </p:sp>
    </p:spTree>
    <p:extLst>
      <p:ext uri="{BB962C8B-B14F-4D97-AF65-F5344CB8AC3E}">
        <p14:creationId xmlns:p14="http://schemas.microsoft.com/office/powerpoint/2010/main" val="174914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42924" y="1512270"/>
            <a:ext cx="5726430"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"Small AI" eller smal AI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Automatiserer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små</a:t>
            </a:r>
            <a:r>
              <a:rPr lang="en-US" sz="1650" dirty="0">
                <a:solidFill>
                  <a:srgbClr val="111111"/>
                </a:solidFill>
                <a:latin typeface="Arial" pitchFamily="34" charset="0"/>
                <a:ea typeface="Arial" pitchFamily="34" charset="-122"/>
                <a:cs typeface="Arial" pitchFamily="34" charset="-120"/>
              </a:rPr>
              <a:t>, specifikke handlinger</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Ude af stand til at </a:t>
            </a:r>
            <a:r>
              <a:rPr lang="en-US" sz="1650" dirty="0" err="1">
                <a:solidFill>
                  <a:srgbClr val="111111"/>
                </a:solidFill>
                <a:latin typeface="Arial" pitchFamily="34" charset="0"/>
                <a:ea typeface="Arial" pitchFamily="34" charset="-122"/>
                <a:cs typeface="Arial" pitchFamily="34" charset="-120"/>
              </a:rPr>
              <a:t>lære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selvstændigt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En maskine, der handler autonomt, kan under en blod definition kaldes AI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Forstår</a:t>
            </a:r>
            <a:r>
              <a:rPr lang="en-US" sz="1650" dirty="0">
                <a:solidFill>
                  <a:srgbClr val="111111"/>
                </a:solidFill>
                <a:latin typeface="Arial" pitchFamily="34" charset="0"/>
                <a:ea typeface="Arial" pitchFamily="34" charset="-122"/>
                <a:cs typeface="Arial" pitchFamily="34" charset="-120"/>
              </a:rPr>
              <a:t> enkelte ting, men ikke verden</a:t>
            </a:r>
            <a:endParaRPr lang="en-US" sz="1650" dirty="0"/>
          </a:p>
        </p:txBody>
      </p:sp>
      <p:sp>
        <p:nvSpPr>
          <p:cNvPr id="5"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1. Smal AI – Hvad er det?</a:t>
            </a:r>
            <a:endParaRPr lang="da-DK" sz="3000" dirty="0"/>
          </a:p>
        </p:txBody>
      </p:sp>
    </p:spTree>
    <p:extLst>
      <p:ext uri="{BB962C8B-B14F-4D97-AF65-F5344CB8AC3E}">
        <p14:creationId xmlns:p14="http://schemas.microsoft.com/office/powerpoint/2010/main" val="445684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illed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8458" y="0"/>
            <a:ext cx="6427083" cy="5143500"/>
          </a:xfrm>
          <a:prstGeom prst="rect">
            <a:avLst/>
          </a:prstGeom>
        </p:spPr>
      </p:pic>
      <p:pic>
        <p:nvPicPr>
          <p:cNvPr id="3" name="Picture 2" descr="Horisontal.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279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53719" y="1902233"/>
            <a:ext cx="5726430" cy="3394710"/>
          </a:xfrm>
          <a:prstGeom prst="rect">
            <a:avLst/>
          </a:prstGeom>
          <a:noFill/>
          <a:ln/>
        </p:spPr>
        <p:txBody>
          <a:bodyPr wrap="square" lIns="0" tIns="0" rIns="0" bIns="0" rtlCol="0" anchor="t">
            <a:normAutofit/>
          </a:bodyPr>
          <a:lstStyle/>
          <a:p>
            <a:pPr>
              <a:lnSpc>
                <a:spcPct val="102000"/>
              </a:lnSpc>
            </a:pPr>
            <a:r>
              <a:rPr lang="en-US" sz="1600" dirty="0">
                <a:solidFill>
                  <a:srgbClr val="111111"/>
                </a:solidFill>
                <a:latin typeface="Arial" pitchFamily="34" charset="0"/>
                <a:ea typeface="Arial" pitchFamily="34" charset="-122"/>
                <a:cs typeface="Arial" pitchFamily="34" charset="-120"/>
              </a:rPr>
              <a:t>• Spamfiltre og e-mail-sortering</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Maskinen</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udfører</a:t>
            </a:r>
            <a:r>
              <a:rPr lang="en-US" sz="1600" dirty="0">
                <a:solidFill>
                  <a:srgbClr val="111111"/>
                </a:solidFill>
                <a:latin typeface="Arial" pitchFamily="34" charset="0"/>
                <a:ea typeface="Arial" pitchFamily="34" charset="-122"/>
                <a:cs typeface="Arial" pitchFamily="34" charset="-120"/>
              </a:rPr>
              <a:t> noget automatisk</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Designet </a:t>
            </a:r>
            <a:r>
              <a:rPr lang="en-US" sz="1600" dirty="0" err="1">
                <a:solidFill>
                  <a:srgbClr val="111111"/>
                </a:solidFill>
                <a:latin typeface="Arial" pitchFamily="34" charset="0"/>
                <a:ea typeface="Arial" pitchFamily="34" charset="-122"/>
                <a:cs typeface="Arial" pitchFamily="34" charset="-120"/>
              </a:rPr>
              <a:t>til</a:t>
            </a:r>
            <a:r>
              <a:rPr lang="en-US" sz="1600" dirty="0">
                <a:solidFill>
                  <a:srgbClr val="111111"/>
                </a:solidFill>
                <a:latin typeface="Arial" pitchFamily="34" charset="0"/>
                <a:ea typeface="Arial" pitchFamily="34" charset="-122"/>
                <a:cs typeface="Arial" pitchFamily="34" charset="-120"/>
              </a:rPr>
              <a:t> at </a:t>
            </a:r>
            <a:r>
              <a:rPr lang="en-US" sz="1600" dirty="0" err="1">
                <a:solidFill>
                  <a:srgbClr val="111111"/>
                </a:solidFill>
                <a:latin typeface="Arial" pitchFamily="34" charset="0"/>
                <a:ea typeface="Arial" pitchFamily="34" charset="-122"/>
                <a:cs typeface="Arial" pitchFamily="34" charset="-120"/>
              </a:rPr>
              <a:t>udføre</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en</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afgrænset</a:t>
            </a:r>
            <a:r>
              <a:rPr lang="en-US" sz="1600" dirty="0">
                <a:solidFill>
                  <a:srgbClr val="111111"/>
                </a:solidFill>
                <a:latin typeface="Arial" pitchFamily="34" charset="0"/>
                <a:ea typeface="Arial" pitchFamily="34" charset="-122"/>
                <a:cs typeface="Arial" pitchFamily="34" charset="-120"/>
              </a:rPr>
              <a:t> handling</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Kan </a:t>
            </a:r>
            <a:r>
              <a:rPr lang="en-US" sz="1600" dirty="0" err="1">
                <a:solidFill>
                  <a:srgbClr val="111111"/>
                </a:solidFill>
                <a:latin typeface="Arial" pitchFamily="34" charset="0"/>
                <a:ea typeface="Arial" pitchFamily="34" charset="-122"/>
                <a:cs typeface="Arial" pitchFamily="34" charset="-120"/>
              </a:rPr>
              <a:t>ikke</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lære</a:t>
            </a:r>
            <a:r>
              <a:rPr lang="en-US" sz="1600" dirty="0">
                <a:solidFill>
                  <a:srgbClr val="111111"/>
                </a:solidFill>
                <a:latin typeface="Arial" pitchFamily="34" charset="0"/>
                <a:ea typeface="Arial" pitchFamily="34" charset="-122"/>
                <a:cs typeface="Arial" pitchFamily="34" charset="-120"/>
              </a:rPr>
              <a:t> selvstaendigt</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Forstar ikke kontekst eller helhed</a:t>
            </a:r>
            <a:endParaRPr lang="en-US" sz="160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1. Smal AI – Eksempler og begrænsninger</a:t>
            </a:r>
            <a:endParaRPr lang="da-DK" sz="3000" dirty="0"/>
          </a:p>
        </p:txBody>
      </p:sp>
    </p:spTree>
    <p:extLst>
      <p:ext uri="{BB962C8B-B14F-4D97-AF65-F5344CB8AC3E}">
        <p14:creationId xmlns:p14="http://schemas.microsoft.com/office/powerpoint/2010/main" val="3273224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992124" y="1512270"/>
            <a:ext cx="7707376"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AI designet til at </a:t>
            </a:r>
            <a:r>
              <a:rPr lang="en-US" sz="1650" dirty="0" err="1">
                <a:solidFill>
                  <a:srgbClr val="111111"/>
                </a:solidFill>
                <a:latin typeface="Arial" pitchFamily="34" charset="0"/>
                <a:ea typeface="Arial" pitchFamily="34" charset="-122"/>
                <a:cs typeface="Arial" pitchFamily="34" charset="-120"/>
              </a:rPr>
              <a:t>lære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tænke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præstere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på</a:t>
            </a:r>
            <a:r>
              <a:rPr lang="en-US" sz="1650" dirty="0">
                <a:solidFill>
                  <a:srgbClr val="111111"/>
                </a:solidFill>
                <a:latin typeface="Arial" pitchFamily="34" charset="0"/>
                <a:ea typeface="Arial" pitchFamily="34" charset="-122"/>
                <a:cs typeface="Arial" pitchFamily="34" charset="-120"/>
              </a:rPr>
              <a:t> samme niveau som mennesker</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Visionen er en AI </a:t>
            </a:r>
            <a:r>
              <a:rPr lang="en-US" sz="1650" dirty="0" err="1">
                <a:solidFill>
                  <a:srgbClr val="111111"/>
                </a:solidFill>
                <a:latin typeface="Arial" pitchFamily="34" charset="0"/>
                <a:ea typeface="Arial" pitchFamily="34" charset="-122"/>
                <a:cs typeface="Arial" pitchFamily="34" charset="-120"/>
              </a:rPr>
              <a:t>på</a:t>
            </a:r>
            <a:r>
              <a:rPr lang="en-US" sz="1650" dirty="0">
                <a:solidFill>
                  <a:srgbClr val="111111"/>
                </a:solidFill>
                <a:latin typeface="Arial" pitchFamily="34" charset="0"/>
                <a:ea typeface="Arial" pitchFamily="34" charset="-122"/>
                <a:cs typeface="Arial" pitchFamily="34" charset="-120"/>
              </a:rPr>
              <a:t> niveau med et menneske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Den skal </a:t>
            </a:r>
            <a:r>
              <a:rPr lang="en-US" sz="1650" dirty="0" err="1">
                <a:solidFill>
                  <a:srgbClr val="111111"/>
                </a:solidFill>
                <a:latin typeface="Arial" pitchFamily="34" charset="0"/>
                <a:ea typeface="Arial" pitchFamily="34" charset="-122"/>
                <a:cs typeface="Arial" pitchFamily="34" charset="-120"/>
              </a:rPr>
              <a:t>kunne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løse</a:t>
            </a:r>
            <a:r>
              <a:rPr lang="en-US" sz="1650" dirty="0">
                <a:solidFill>
                  <a:srgbClr val="111111"/>
                </a:solidFill>
                <a:latin typeface="Arial" pitchFamily="34" charset="0"/>
                <a:ea typeface="Arial" pitchFamily="34" charset="-122"/>
                <a:cs typeface="Arial" pitchFamily="34" charset="-120"/>
              </a:rPr>
              <a:t> mange forskellige typer opgaver</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u="sng" dirty="0">
                <a:solidFill>
                  <a:srgbClr val="111111"/>
                </a:solidFill>
                <a:latin typeface="Arial" pitchFamily="34" charset="0"/>
                <a:ea typeface="Arial" pitchFamily="34" charset="-122"/>
                <a:cs typeface="Arial" pitchFamily="34" charset="-120"/>
              </a:rPr>
              <a:t>AGI findes ikke endnu</a:t>
            </a:r>
            <a:endParaRPr lang="en-US" sz="1650" u="sng"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2. Kunstig generel intelligens (AGI)</a:t>
            </a:r>
            <a:endParaRPr lang="da-DK" sz="3000" dirty="0"/>
          </a:p>
        </p:txBody>
      </p:sp>
    </p:spTree>
    <p:extLst>
      <p:ext uri="{BB962C8B-B14F-4D97-AF65-F5344CB8AC3E}">
        <p14:creationId xmlns:p14="http://schemas.microsoft.com/office/powerpoint/2010/main" val="263413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illed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8458" y="0"/>
            <a:ext cx="6427083" cy="5143500"/>
          </a:xfrm>
          <a:prstGeom prst="rect">
            <a:avLst/>
          </a:prstGeom>
        </p:spPr>
      </p:pic>
      <p:pic>
        <p:nvPicPr>
          <p:cNvPr id="3" name="Picture 2" descr="Horisontal.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02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30224" y="1512270"/>
            <a:ext cx="6818376"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Nutidige modeller har adgang til enormt meget viden, fx via internettet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Men viden er ikke det samme som intelligens</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Vi er et sted imellem Smal AI og AGI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Det </a:t>
            </a:r>
            <a:r>
              <a:rPr lang="en-US" sz="1650" dirty="0" err="1">
                <a:solidFill>
                  <a:srgbClr val="111111"/>
                </a:solidFill>
                <a:latin typeface="Arial" pitchFamily="34" charset="0"/>
                <a:ea typeface="Arial" pitchFamily="34" charset="-122"/>
                <a:cs typeface="Arial" pitchFamily="34" charset="-120"/>
              </a:rPr>
              <a:t>rejser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spørgsmålet</a:t>
            </a:r>
            <a:r>
              <a:rPr lang="en-US" sz="1650" dirty="0">
                <a:solidFill>
                  <a:srgbClr val="111111"/>
                </a:solidFill>
                <a:latin typeface="Arial" pitchFamily="34" charset="0"/>
                <a:ea typeface="Arial" pitchFamily="34" charset="-122"/>
                <a:cs typeface="Arial" pitchFamily="34" charset="-120"/>
              </a:rPr>
              <a:t>: Hvad er </a:t>
            </a:r>
            <a:r>
              <a:rPr lang="en-US" sz="1650" dirty="0" err="1">
                <a:solidFill>
                  <a:srgbClr val="111111"/>
                </a:solidFill>
                <a:latin typeface="Arial" pitchFamily="34" charset="0"/>
                <a:ea typeface="Arial" pitchFamily="34" charset="-122"/>
                <a:cs typeface="Arial" pitchFamily="34" charset="-120"/>
              </a:rPr>
              <a:t>intelligens</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egentlig</a:t>
            </a:r>
            <a:r>
              <a:rPr lang="en-US" sz="1650" dirty="0">
                <a:solidFill>
                  <a:srgbClr val="111111"/>
                </a:solidFill>
                <a:latin typeface="Arial" pitchFamily="34" charset="0"/>
                <a:ea typeface="Arial" pitchFamily="34" charset="-122"/>
                <a:cs typeface="Arial" pitchFamily="34" charset="-120"/>
              </a:rPr>
              <a:t>?</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2. AGI – Hvorfor er den svær at opnå?</a:t>
            </a:r>
            <a:endParaRPr lang="da-DK" sz="3000" dirty="0"/>
          </a:p>
        </p:txBody>
      </p:sp>
    </p:spTree>
    <p:extLst>
      <p:ext uri="{BB962C8B-B14F-4D97-AF65-F5344CB8AC3E}">
        <p14:creationId xmlns:p14="http://schemas.microsoft.com/office/powerpoint/2010/main" val="1020679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28560" y="1512270"/>
            <a:ext cx="5726430" cy="3394710"/>
          </a:xfrm>
          <a:prstGeom prst="rect">
            <a:avLst/>
          </a:prstGeom>
          <a:noFill/>
          <a:ln/>
        </p:spPr>
        <p:txBody>
          <a:bodyPr wrap="square" lIns="0" tIns="0" rIns="0" bIns="0" rtlCol="0" anchor="t">
            <a:normAutofit/>
          </a:bodyPr>
          <a:lstStyle/>
          <a:p>
            <a:pPr>
              <a:lnSpc>
                <a:spcPct val="102000"/>
              </a:lnSpc>
            </a:pPr>
            <a:r>
              <a:rPr lang="en-US" sz="1600" dirty="0">
                <a:solidFill>
                  <a:srgbClr val="111111"/>
                </a:solidFill>
                <a:latin typeface="Arial" pitchFamily="34" charset="0"/>
                <a:ea typeface="Arial" pitchFamily="34" charset="-122"/>
                <a:cs typeface="Arial" pitchFamily="34" charset="-120"/>
              </a:rPr>
              <a:t>• AI, der </a:t>
            </a:r>
            <a:r>
              <a:rPr lang="en-US" sz="1600" dirty="0" err="1">
                <a:solidFill>
                  <a:srgbClr val="111111"/>
                </a:solidFill>
                <a:latin typeface="Arial" pitchFamily="34" charset="0"/>
                <a:ea typeface="Arial" pitchFamily="34" charset="-122"/>
                <a:cs typeface="Arial" pitchFamily="34" charset="-120"/>
              </a:rPr>
              <a:t>kan</a:t>
            </a:r>
            <a:r>
              <a:rPr lang="en-US" sz="1600" dirty="0">
                <a:solidFill>
                  <a:srgbClr val="111111"/>
                </a:solidFill>
                <a:latin typeface="Arial" pitchFamily="34" charset="0"/>
                <a:ea typeface="Arial" pitchFamily="34" charset="-122"/>
                <a:cs typeface="Arial" pitchFamily="34" charset="-120"/>
              </a:rPr>
              <a:t> </a:t>
            </a:r>
            <a:r>
              <a:rPr lang="en-US" sz="1600" dirty="0" err="1">
                <a:solidFill>
                  <a:srgbClr val="111111"/>
                </a:solidFill>
                <a:latin typeface="Arial" pitchFamily="34" charset="0"/>
                <a:ea typeface="Arial" pitchFamily="34" charset="-122"/>
                <a:cs typeface="Arial" pitchFamily="34" charset="-120"/>
              </a:rPr>
              <a:t>overgå</a:t>
            </a:r>
            <a:r>
              <a:rPr lang="en-US" sz="1600" dirty="0">
                <a:solidFill>
                  <a:srgbClr val="111111"/>
                </a:solidFill>
                <a:latin typeface="Arial" pitchFamily="34" charset="0"/>
                <a:ea typeface="Arial" pitchFamily="34" charset="-122"/>
                <a:cs typeface="Arial" pitchFamily="34" charset="-120"/>
              </a:rPr>
              <a:t> menneskers viden og evner</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Ikke kun pa enkeltydelser, men generelt</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Typisk placeret i science fiction og fremtidsscenarier</a:t>
            </a:r>
            <a:endParaRPr lang="en-US" sz="1600" dirty="0"/>
          </a:p>
          <a:p>
            <a:pPr>
              <a:lnSpc>
                <a:spcPct val="102000"/>
              </a:lnSpc>
            </a:pPr>
            <a:endParaRPr lang="en-US" sz="1600" dirty="0"/>
          </a:p>
          <a:p>
            <a:pPr>
              <a:lnSpc>
                <a:spcPct val="102000"/>
              </a:lnSpc>
            </a:pPr>
            <a:r>
              <a:rPr lang="en-US" sz="1600" dirty="0">
                <a:solidFill>
                  <a:srgbClr val="111111"/>
                </a:solidFill>
                <a:latin typeface="Arial" pitchFamily="34" charset="0"/>
                <a:ea typeface="Arial" pitchFamily="34" charset="-122"/>
                <a:cs typeface="Arial" pitchFamily="34" charset="-120"/>
              </a:rPr>
              <a:t>• Et hypotetisk niveau over AGI</a:t>
            </a:r>
            <a:endParaRPr lang="en-US" sz="160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3. Kunstig superintelligens</a:t>
            </a:r>
            <a:endParaRPr lang="da-DK" sz="3000" dirty="0"/>
          </a:p>
        </p:txBody>
      </p:sp>
    </p:spTree>
    <p:extLst>
      <p:ext uri="{BB962C8B-B14F-4D97-AF65-F5344CB8AC3E}">
        <p14:creationId xmlns:p14="http://schemas.microsoft.com/office/powerpoint/2010/main" val="3215809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lede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8458" y="0"/>
            <a:ext cx="6427083" cy="5143500"/>
          </a:xfrm>
          <a:prstGeom prst="rect">
            <a:avLst/>
          </a:prstGeom>
        </p:spPr>
      </p:pic>
      <p:pic>
        <p:nvPicPr>
          <p:cNvPr id="10" name="Picture 2" descr="Horisontal.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239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42924" y="1931370"/>
            <a:ext cx="5726430"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ChatGPT ligger ikke her</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ChatGPT ligger ca. mellem 1 og 2</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Altsa mellem Smal AI og AGI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Superintelligens er stadig hypotetisk</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3. Superintelligens ift. </a:t>
            </a:r>
            <a:r>
              <a:rPr lang="da-DK" sz="3000" b="1" i="1" dirty="0" err="1">
                <a:latin typeface="Proxima Nova Alt Rg"/>
              </a:rPr>
              <a:t>ChatGPT</a:t>
            </a:r>
            <a:endParaRPr lang="da-DK" sz="3000" b="1" i="1" dirty="0">
              <a:latin typeface="Proxima Nova Alt Rg"/>
            </a:endParaRPr>
          </a:p>
          <a:p>
            <a:r>
              <a:rPr lang="da-DK" sz="3000" b="1" i="1" dirty="0">
                <a:latin typeface="Proxima Nova Alt Rg"/>
              </a:rPr>
              <a:t>- sat i perspektiv</a:t>
            </a:r>
            <a:endParaRPr lang="da-DK" sz="3000" dirty="0"/>
          </a:p>
        </p:txBody>
      </p:sp>
    </p:spTree>
    <p:extLst>
      <p:ext uri="{BB962C8B-B14F-4D97-AF65-F5344CB8AC3E}">
        <p14:creationId xmlns:p14="http://schemas.microsoft.com/office/powerpoint/2010/main" val="3960146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55624" y="1512270"/>
            <a:ext cx="5726430" cy="3394710"/>
          </a:xfrm>
          <a:prstGeom prst="rect">
            <a:avLst/>
          </a:prstGeom>
          <a:noFill/>
          <a:ln/>
        </p:spPr>
        <p:txBody>
          <a:bodyPr wrap="square" lIns="0" tIns="0" rIns="0" bIns="0" rtlCol="0" anchor="t">
            <a:normAutofit/>
          </a:bodyPr>
          <a:lstStyle/>
          <a:p>
            <a:pPr marL="285750" indent="-285750">
              <a:lnSpc>
                <a:spcPct val="102000"/>
              </a:lnSpc>
              <a:buFont typeface="Arial" panose="020B0604020202020204" pitchFamily="34" charset="0"/>
              <a:buChar char="•"/>
            </a:pPr>
            <a:r>
              <a:rPr lang="en-US" sz="1650" dirty="0" err="1">
                <a:solidFill>
                  <a:srgbClr val="111111"/>
                </a:solidFill>
                <a:latin typeface="Arial" pitchFamily="34" charset="0"/>
                <a:ea typeface="Arial" pitchFamily="34" charset="-122"/>
                <a:cs typeface="Arial" pitchFamily="34" charset="-120"/>
              </a:rPr>
              <a:t>Kan</a:t>
            </a:r>
            <a:r>
              <a:rPr lang="en-US" sz="1650" dirty="0">
                <a:solidFill>
                  <a:srgbClr val="111111"/>
                </a:solidFill>
                <a:latin typeface="Arial" pitchFamily="34" charset="0"/>
                <a:ea typeface="Arial" pitchFamily="34" charset="-122"/>
                <a:cs typeface="Arial" pitchFamily="34" charset="-120"/>
              </a:rPr>
              <a:t> reagere pa ekstern stimuli i realtid</a:t>
            </a:r>
            <a:endParaRPr lang="en-US" sz="1650" dirty="0"/>
          </a:p>
          <a:p>
            <a:pPr marL="285750" indent="-285750">
              <a:lnSpc>
                <a:spcPct val="102000"/>
              </a:lnSpc>
              <a:buFont typeface="Arial" panose="020B0604020202020204" pitchFamily="34" charset="0"/>
              <a:buChar char="•"/>
            </a:pPr>
            <a:endParaRPr lang="en-US" sz="1650" dirty="0">
              <a:solidFill>
                <a:srgbClr val="111111"/>
              </a:solidFill>
              <a:latin typeface="Arial" pitchFamily="34" charset="0"/>
              <a:ea typeface="Arial" pitchFamily="34" charset="-122"/>
              <a:cs typeface="Arial" pitchFamily="34" charset="-120"/>
            </a:endParaRPr>
          </a:p>
          <a:p>
            <a:pPr marL="285750" indent="-285750">
              <a:lnSpc>
                <a:spcPct val="102000"/>
              </a:lnSpc>
              <a:buFont typeface="Arial" panose="020B0604020202020204" pitchFamily="34" charset="0"/>
              <a:buChar char="•"/>
            </a:pPr>
            <a:r>
              <a:rPr lang="en-US" sz="1650" dirty="0" err="1">
                <a:solidFill>
                  <a:srgbClr val="111111"/>
                </a:solidFill>
                <a:latin typeface="Arial" pitchFamily="34" charset="0"/>
                <a:ea typeface="Arial" pitchFamily="34" charset="-122"/>
                <a:cs typeface="Arial" pitchFamily="34" charset="-120"/>
              </a:rPr>
              <a:t>Ude</a:t>
            </a:r>
            <a:r>
              <a:rPr lang="en-US" sz="1650" dirty="0">
                <a:solidFill>
                  <a:srgbClr val="111111"/>
                </a:solidFill>
                <a:latin typeface="Arial" pitchFamily="34" charset="0"/>
                <a:ea typeface="Arial" pitchFamily="34" charset="-122"/>
                <a:cs typeface="Arial" pitchFamily="34" charset="-120"/>
              </a:rPr>
              <a:t> af stand til at opbygge hukommelse</a:t>
            </a:r>
            <a:endParaRPr lang="en-US" sz="1650" dirty="0"/>
          </a:p>
          <a:p>
            <a:pPr marL="285750" indent="-285750">
              <a:lnSpc>
                <a:spcPct val="102000"/>
              </a:lnSpc>
              <a:buFont typeface="Arial" panose="020B0604020202020204" pitchFamily="34" charset="0"/>
              <a:buChar char="•"/>
            </a:pPr>
            <a:endParaRPr lang="en-US" sz="1650" dirty="0"/>
          </a:p>
          <a:p>
            <a:pPr marL="285750" indent="-285750">
              <a:lnSpc>
                <a:spcPct val="102000"/>
              </a:lnSpc>
              <a:buFont typeface="Arial" panose="020B0604020202020204" pitchFamily="34" charset="0"/>
              <a:buChar char="•"/>
            </a:pPr>
            <a:r>
              <a:rPr lang="en-US" sz="1650" dirty="0" err="1">
                <a:solidFill>
                  <a:srgbClr val="111111"/>
                </a:solidFill>
                <a:latin typeface="Arial" pitchFamily="34" charset="0"/>
                <a:ea typeface="Arial" pitchFamily="34" charset="-122"/>
                <a:cs typeface="Arial" pitchFamily="34" charset="-120"/>
              </a:rPr>
              <a:t>Gemmer</a:t>
            </a:r>
            <a:r>
              <a:rPr lang="en-US" sz="1650" dirty="0">
                <a:solidFill>
                  <a:srgbClr val="111111"/>
                </a:solidFill>
                <a:latin typeface="Arial" pitchFamily="34" charset="0"/>
                <a:ea typeface="Arial" pitchFamily="34" charset="-122"/>
                <a:cs typeface="Arial" pitchFamily="34" charset="-120"/>
              </a:rPr>
              <a:t> ikke information til fremtiden</a:t>
            </a:r>
            <a:endParaRPr lang="en-US" sz="1650" dirty="0"/>
          </a:p>
          <a:p>
            <a:pPr marL="285750" indent="-285750">
              <a:lnSpc>
                <a:spcPct val="102000"/>
              </a:lnSpc>
              <a:buFont typeface="Arial" panose="020B0604020202020204" pitchFamily="34" charset="0"/>
              <a:buChar char="•"/>
            </a:pPr>
            <a:endParaRPr lang="en-US" sz="1650" dirty="0"/>
          </a:p>
          <a:p>
            <a:pPr marL="285750" indent="-285750">
              <a:lnSpc>
                <a:spcPct val="102000"/>
              </a:lnSpc>
              <a:buFont typeface="Arial" panose="020B0604020202020204" pitchFamily="34" charset="0"/>
              <a:buChar char="•"/>
            </a:pPr>
            <a:r>
              <a:rPr lang="en-US" sz="1650" dirty="0" err="1">
                <a:solidFill>
                  <a:srgbClr val="111111"/>
                </a:solidFill>
                <a:latin typeface="Arial" pitchFamily="34" charset="0"/>
                <a:ea typeface="Arial" pitchFamily="34" charset="-122"/>
                <a:cs typeface="Arial" pitchFamily="34" charset="-120"/>
              </a:rPr>
              <a:t>Hvis</a:t>
            </a:r>
            <a:r>
              <a:rPr lang="en-US" sz="1650" dirty="0">
                <a:solidFill>
                  <a:srgbClr val="111111"/>
                </a:solidFill>
                <a:latin typeface="Arial" pitchFamily="34" charset="0"/>
                <a:ea typeface="Arial" pitchFamily="34" charset="-122"/>
                <a:cs typeface="Arial" pitchFamily="34" charset="-120"/>
              </a:rPr>
              <a:t> det her sker, </a:t>
            </a:r>
            <a:r>
              <a:rPr lang="en-US" sz="1650" dirty="0" err="1">
                <a:solidFill>
                  <a:srgbClr val="111111"/>
                </a:solidFill>
                <a:latin typeface="Arial" pitchFamily="34" charset="0"/>
                <a:ea typeface="Arial" pitchFamily="34" charset="-122"/>
                <a:cs typeface="Arial" pitchFamily="34" charset="-120"/>
              </a:rPr>
              <a:t>sa</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gør</a:t>
            </a:r>
            <a:r>
              <a:rPr lang="en-US" sz="1650" dirty="0">
                <a:solidFill>
                  <a:srgbClr val="111111"/>
                </a:solidFill>
                <a:latin typeface="Arial" pitchFamily="34" charset="0"/>
                <a:ea typeface="Arial" pitchFamily="34" charset="-122"/>
                <a:cs typeface="Arial" pitchFamily="34" charset="-120"/>
              </a:rPr>
              <a:t> den </a:t>
            </a:r>
            <a:r>
              <a:rPr lang="en-US" sz="1650" dirty="0" err="1">
                <a:solidFill>
                  <a:srgbClr val="111111"/>
                </a:solidFill>
                <a:latin typeface="Arial" pitchFamily="34" charset="0"/>
                <a:ea typeface="Arial" pitchFamily="34" charset="-122"/>
                <a:cs typeface="Arial" pitchFamily="34" charset="-120"/>
              </a:rPr>
              <a:t>det</a:t>
            </a:r>
            <a:r>
              <a:rPr lang="en-US" sz="1650" dirty="0">
                <a:solidFill>
                  <a:srgbClr val="111111"/>
                </a:solidFill>
                <a:latin typeface="Arial" pitchFamily="34" charset="0"/>
                <a:ea typeface="Arial" pitchFamily="34" charset="-122"/>
                <a:cs typeface="Arial" pitchFamily="34" charset="-120"/>
              </a:rPr>
              <a:t> her</a:t>
            </a:r>
          </a:p>
          <a:p>
            <a:pPr marL="285750" lvl="1" indent="-285750">
              <a:lnSpc>
                <a:spcPct val="102000"/>
              </a:lnSpc>
              <a:buFont typeface="Arial" panose="020B0604020202020204" pitchFamily="34" charset="0"/>
              <a:buChar char="•"/>
            </a:pPr>
            <a:endParaRPr lang="en-US" sz="1650" dirty="0">
              <a:solidFill>
                <a:srgbClr val="111111"/>
              </a:solidFill>
              <a:latin typeface="Arial" pitchFamily="34" charset="0"/>
              <a:cs typeface="Arial" pitchFamily="34" charset="-120"/>
            </a:endParaRPr>
          </a:p>
          <a:p>
            <a:pPr marL="285750" lvl="1" indent="-285750">
              <a:lnSpc>
                <a:spcPct val="102000"/>
              </a:lnSpc>
              <a:buFont typeface="Arial" panose="020B0604020202020204" pitchFamily="34" charset="0"/>
              <a:buChar char="•"/>
            </a:pPr>
            <a:r>
              <a:rPr lang="en-US" sz="1650" dirty="0" err="1">
                <a:solidFill>
                  <a:srgbClr val="111111"/>
                </a:solidFill>
                <a:latin typeface="Arial" pitchFamily="34" charset="0"/>
                <a:cs typeface="Arial" pitchFamily="34" charset="-120"/>
              </a:rPr>
              <a:t>Hvis</a:t>
            </a:r>
            <a:r>
              <a:rPr lang="en-US" sz="1650" dirty="0">
                <a:solidFill>
                  <a:srgbClr val="111111"/>
                </a:solidFill>
                <a:latin typeface="Arial" pitchFamily="34" charset="0"/>
                <a:cs typeface="Arial" pitchFamily="34" charset="-120"/>
              </a:rPr>
              <a:t> A + B = C, </a:t>
            </a:r>
            <a:r>
              <a:rPr lang="en-US" sz="1650" dirty="0" err="1">
                <a:solidFill>
                  <a:srgbClr val="111111"/>
                </a:solidFill>
                <a:latin typeface="Arial" pitchFamily="34" charset="0"/>
                <a:cs typeface="Arial" pitchFamily="34" charset="-120"/>
              </a:rPr>
              <a:t>udfør</a:t>
            </a:r>
            <a:r>
              <a:rPr lang="en-US" sz="1650" dirty="0">
                <a:solidFill>
                  <a:srgbClr val="111111"/>
                </a:solidFill>
                <a:latin typeface="Arial" pitchFamily="34" charset="0"/>
                <a:cs typeface="Arial" pitchFamily="34" charset="-120"/>
              </a:rPr>
              <a:t> handling D</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4. Reaktiv maskine AI</a:t>
            </a:r>
            <a:endParaRPr lang="da-DK" sz="3000" dirty="0"/>
          </a:p>
        </p:txBody>
      </p:sp>
    </p:spTree>
    <p:extLst>
      <p:ext uri="{BB962C8B-B14F-4D97-AF65-F5344CB8AC3E}">
        <p14:creationId xmlns:p14="http://schemas.microsoft.com/office/powerpoint/2010/main" val="4058852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42924" y="1512270"/>
            <a:ext cx="6513576"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Spamfiltre er en reaktiv maskine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Vi </a:t>
            </a:r>
            <a:r>
              <a:rPr lang="en-US" sz="1650" dirty="0" err="1">
                <a:solidFill>
                  <a:srgbClr val="111111"/>
                </a:solidFill>
                <a:latin typeface="Arial" pitchFamily="34" charset="0"/>
                <a:ea typeface="Arial" pitchFamily="34" charset="-122"/>
                <a:cs typeface="Arial" pitchFamily="34" charset="-120"/>
              </a:rPr>
              <a:t>hjælper</a:t>
            </a:r>
            <a:r>
              <a:rPr lang="en-US" sz="1650" dirty="0">
                <a:solidFill>
                  <a:srgbClr val="111111"/>
                </a:solidFill>
                <a:latin typeface="Arial" pitchFamily="34" charset="0"/>
                <a:ea typeface="Arial" pitchFamily="34" charset="-122"/>
                <a:cs typeface="Arial" pitchFamily="34" charset="-120"/>
              </a:rPr>
              <a:t> den med at </a:t>
            </a:r>
            <a:r>
              <a:rPr lang="en-US" sz="1650" dirty="0" err="1">
                <a:solidFill>
                  <a:srgbClr val="111111"/>
                </a:solidFill>
                <a:latin typeface="Arial" pitchFamily="34" charset="0"/>
                <a:ea typeface="Arial" pitchFamily="34" charset="-122"/>
                <a:cs typeface="Arial" pitchFamily="34" charset="-120"/>
              </a:rPr>
              <a:t>lære</a:t>
            </a:r>
            <a:r>
              <a:rPr lang="en-US" sz="1650" dirty="0">
                <a:solidFill>
                  <a:srgbClr val="111111"/>
                </a:solidFill>
                <a:latin typeface="Arial" pitchFamily="34" charset="0"/>
                <a:ea typeface="Arial" pitchFamily="34" charset="-122"/>
                <a:cs typeface="Arial" pitchFamily="34" charset="-120"/>
              </a:rPr>
              <a:t>; den bygger ikke selv hukommelse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Robotstovsugere kan mappe et rum, men finder ikke ny viden</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Ret "dum", men enormt praktisk</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Grundlaget for meget moderne teknologi</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4. Reaktiv maskine AI - hverdagsnytte</a:t>
            </a:r>
            <a:endParaRPr lang="da-DK" sz="3000" dirty="0"/>
          </a:p>
        </p:txBody>
      </p:sp>
    </p:spTree>
    <p:extLst>
      <p:ext uri="{BB962C8B-B14F-4D97-AF65-F5344CB8AC3E}">
        <p14:creationId xmlns:p14="http://schemas.microsoft.com/office/powerpoint/2010/main" val="2107820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17524" y="1512270"/>
            <a:ext cx="5726430"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Kan det samme som reaktiv AI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Men bruger tidligere data i sine valg</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Samler information over tid</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Lærer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mønstre</a:t>
            </a:r>
            <a:r>
              <a:rPr lang="en-US" sz="1650" dirty="0">
                <a:solidFill>
                  <a:srgbClr val="111111"/>
                </a:solidFill>
                <a:latin typeface="Arial" pitchFamily="34" charset="0"/>
                <a:ea typeface="Arial" pitchFamily="34" charset="-122"/>
                <a:cs typeface="Arial" pitchFamily="34" charset="-120"/>
              </a:rPr>
              <a:t> om brugere og situationer</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5. Begrænset hukommelse AI</a:t>
            </a:r>
            <a:endParaRPr lang="da-DK" sz="3000" dirty="0"/>
          </a:p>
        </p:txBody>
      </p:sp>
      <p:sp>
        <p:nvSpPr>
          <p:cNvPr id="5" name="Text 1"/>
          <p:cNvSpPr/>
          <p:nvPr/>
        </p:nvSpPr>
        <p:spPr>
          <a:xfrm>
            <a:off x="5548862" y="1707700"/>
            <a:ext cx="2965318" cy="1262080"/>
          </a:xfrm>
          <a:prstGeom prst="rect">
            <a:avLst/>
          </a:prstGeom>
          <a:noFill/>
          <a:ln/>
        </p:spPr>
        <p:txBody>
          <a:bodyPr wrap="square" lIns="0" tIns="0" rIns="0" bIns="0" rtlCol="0" anchor="t">
            <a:normAutofit/>
          </a:bodyPr>
          <a:lstStyle/>
          <a:p>
            <a:pPr>
              <a:lnSpc>
                <a:spcPct val="102000"/>
              </a:lnSpc>
            </a:pPr>
            <a:r>
              <a:rPr lang="en-US" sz="2000" dirty="0" err="1">
                <a:solidFill>
                  <a:srgbClr val="111111"/>
                </a:solidFill>
                <a:latin typeface="Arial" pitchFamily="34" charset="0"/>
                <a:ea typeface="Arial" pitchFamily="34" charset="-122"/>
                <a:cs typeface="Arial" pitchFamily="34" charset="-120"/>
              </a:rPr>
              <a:t>Kan</a:t>
            </a:r>
            <a:r>
              <a:rPr lang="en-US" sz="2000" dirty="0">
                <a:solidFill>
                  <a:srgbClr val="111111"/>
                </a:solidFill>
                <a:latin typeface="Arial" pitchFamily="34" charset="0"/>
                <a:ea typeface="Arial" pitchFamily="34" charset="-122"/>
                <a:cs typeface="Arial" pitchFamily="34" charset="-120"/>
              </a:rPr>
              <a:t> du </a:t>
            </a:r>
            <a:r>
              <a:rPr lang="en-US" sz="2000" dirty="0" err="1">
                <a:solidFill>
                  <a:srgbClr val="111111"/>
                </a:solidFill>
                <a:latin typeface="Arial" pitchFamily="34" charset="0"/>
                <a:ea typeface="Arial" pitchFamily="34" charset="-122"/>
                <a:cs typeface="Arial" pitchFamily="34" charset="-120"/>
              </a:rPr>
              <a:t>komme</a:t>
            </a:r>
            <a:r>
              <a:rPr lang="en-US" sz="2000" dirty="0">
                <a:solidFill>
                  <a:srgbClr val="111111"/>
                </a:solidFill>
                <a:latin typeface="Arial" pitchFamily="34" charset="0"/>
                <a:ea typeface="Arial" pitchFamily="34" charset="-122"/>
                <a:cs typeface="Arial" pitchFamily="34" charset="-120"/>
              </a:rPr>
              <a:t> med et </a:t>
            </a:r>
            <a:r>
              <a:rPr lang="en-US" sz="2000" dirty="0" err="1">
                <a:solidFill>
                  <a:srgbClr val="111111"/>
                </a:solidFill>
                <a:latin typeface="Arial" pitchFamily="34" charset="0"/>
                <a:ea typeface="Arial" pitchFamily="34" charset="-122"/>
                <a:cs typeface="Arial" pitchFamily="34" charset="-120"/>
              </a:rPr>
              <a:t>eksempel</a:t>
            </a:r>
            <a:r>
              <a:rPr lang="en-US" sz="2000" dirty="0">
                <a:solidFill>
                  <a:srgbClr val="111111"/>
                </a:solidFill>
                <a:latin typeface="Arial" pitchFamily="34" charset="0"/>
                <a:ea typeface="Arial" pitchFamily="34" charset="-122"/>
                <a:cs typeface="Arial" pitchFamily="34" charset="-120"/>
              </a:rPr>
              <a:t> </a:t>
            </a:r>
            <a:r>
              <a:rPr lang="en-US" sz="2000" dirty="0" err="1">
                <a:solidFill>
                  <a:srgbClr val="111111"/>
                </a:solidFill>
                <a:latin typeface="Arial" pitchFamily="34" charset="0"/>
                <a:ea typeface="Arial" pitchFamily="34" charset="-122"/>
                <a:cs typeface="Arial" pitchFamily="34" charset="-120"/>
              </a:rPr>
              <a:t>på</a:t>
            </a:r>
            <a:r>
              <a:rPr lang="en-US" sz="2000" dirty="0">
                <a:solidFill>
                  <a:srgbClr val="111111"/>
                </a:solidFill>
                <a:latin typeface="Arial" pitchFamily="34" charset="0"/>
                <a:ea typeface="Arial" pitchFamily="34" charset="-122"/>
                <a:cs typeface="Arial" pitchFamily="34" charset="-120"/>
              </a:rPr>
              <a:t> </a:t>
            </a:r>
            <a:r>
              <a:rPr lang="en-US" sz="2000" dirty="0" err="1">
                <a:solidFill>
                  <a:srgbClr val="111111"/>
                </a:solidFill>
                <a:latin typeface="Arial" pitchFamily="34" charset="0"/>
                <a:ea typeface="Arial" pitchFamily="34" charset="-122"/>
                <a:cs typeface="Arial" pitchFamily="34" charset="-120"/>
              </a:rPr>
              <a:t>begrænset</a:t>
            </a:r>
            <a:r>
              <a:rPr lang="en-US" sz="2000" dirty="0">
                <a:solidFill>
                  <a:srgbClr val="111111"/>
                </a:solidFill>
                <a:latin typeface="Arial" pitchFamily="34" charset="0"/>
                <a:ea typeface="Arial" pitchFamily="34" charset="-122"/>
                <a:cs typeface="Arial" pitchFamily="34" charset="-120"/>
              </a:rPr>
              <a:t> </a:t>
            </a:r>
            <a:r>
              <a:rPr lang="en-US" sz="2000" dirty="0" err="1">
                <a:solidFill>
                  <a:srgbClr val="111111"/>
                </a:solidFill>
                <a:latin typeface="Arial" pitchFamily="34" charset="0"/>
                <a:ea typeface="Arial" pitchFamily="34" charset="-122"/>
                <a:cs typeface="Arial" pitchFamily="34" charset="-120"/>
              </a:rPr>
              <a:t>hukommelse</a:t>
            </a:r>
            <a:r>
              <a:rPr lang="en-US" sz="2000" dirty="0">
                <a:solidFill>
                  <a:srgbClr val="111111"/>
                </a:solidFill>
                <a:latin typeface="Arial" pitchFamily="34" charset="0"/>
                <a:ea typeface="Arial" pitchFamily="34" charset="-122"/>
                <a:cs typeface="Arial" pitchFamily="34" charset="-120"/>
              </a:rPr>
              <a:t> AI </a:t>
            </a:r>
            <a:r>
              <a:rPr lang="en-US" sz="2000" dirty="0" err="1">
                <a:solidFill>
                  <a:srgbClr val="111111"/>
                </a:solidFill>
                <a:latin typeface="Arial" pitchFamily="34" charset="0"/>
                <a:ea typeface="Arial" pitchFamily="34" charset="-122"/>
                <a:cs typeface="Arial" pitchFamily="34" charset="-120"/>
              </a:rPr>
              <a:t>fra</a:t>
            </a:r>
            <a:r>
              <a:rPr lang="en-US" sz="2000" dirty="0">
                <a:solidFill>
                  <a:srgbClr val="111111"/>
                </a:solidFill>
                <a:latin typeface="Arial" pitchFamily="34" charset="0"/>
                <a:ea typeface="Arial" pitchFamily="34" charset="-122"/>
                <a:cs typeface="Arial" pitchFamily="34" charset="-120"/>
              </a:rPr>
              <a:t> din </a:t>
            </a:r>
            <a:r>
              <a:rPr lang="en-US" sz="2000" dirty="0" err="1">
                <a:solidFill>
                  <a:srgbClr val="111111"/>
                </a:solidFill>
                <a:latin typeface="Arial" pitchFamily="34" charset="0"/>
                <a:ea typeface="Arial" pitchFamily="34" charset="-122"/>
                <a:cs typeface="Arial" pitchFamily="34" charset="-120"/>
              </a:rPr>
              <a:t>hverdag</a:t>
            </a:r>
            <a:r>
              <a:rPr lang="en-US" sz="2000" dirty="0">
                <a:solidFill>
                  <a:srgbClr val="111111"/>
                </a:solidFill>
                <a:latin typeface="Arial" pitchFamily="34" charset="0"/>
                <a:ea typeface="Arial" pitchFamily="34" charset="-122"/>
                <a:cs typeface="Arial" pitchFamily="34" charset="-120"/>
              </a:rPr>
              <a:t>?</a:t>
            </a:r>
            <a:endParaRPr lang="en-US" sz="2000" dirty="0"/>
          </a:p>
        </p:txBody>
      </p:sp>
    </p:spTree>
    <p:extLst>
      <p:ext uri="{BB962C8B-B14F-4D97-AF65-F5344CB8AC3E}">
        <p14:creationId xmlns:p14="http://schemas.microsoft.com/office/powerpoint/2010/main" val="323507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42924" y="1842470"/>
            <a:ext cx="8101076" cy="257713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Netflix anbefalingsmotor</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"Du har set krimi i 30 timer -&gt; mere krimi"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"Du stoppede efter 10 minutter -&gt; </a:t>
            </a:r>
            <a:r>
              <a:rPr lang="en-US" sz="1650" dirty="0" err="1">
                <a:solidFill>
                  <a:srgbClr val="111111"/>
                </a:solidFill>
                <a:latin typeface="Arial" pitchFamily="34" charset="0"/>
                <a:ea typeface="Arial" pitchFamily="34" charset="-122"/>
                <a:cs typeface="Arial" pitchFamily="34" charset="-120"/>
              </a:rPr>
              <a:t>måske</a:t>
            </a:r>
            <a:r>
              <a:rPr lang="en-US" sz="1650" dirty="0">
                <a:solidFill>
                  <a:srgbClr val="111111"/>
                </a:solidFill>
                <a:latin typeface="Arial" pitchFamily="34" charset="0"/>
                <a:ea typeface="Arial" pitchFamily="34" charset="-122"/>
                <a:cs typeface="Arial" pitchFamily="34" charset="-120"/>
              </a:rPr>
              <a:t> var der en skuespiller, du ikke kunne lide"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AI samler data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lærer</a:t>
            </a:r>
            <a:r>
              <a:rPr lang="en-US" sz="1650" dirty="0">
                <a:solidFill>
                  <a:srgbClr val="111111"/>
                </a:solidFill>
                <a:latin typeface="Arial" pitchFamily="34" charset="0"/>
                <a:ea typeface="Arial" pitchFamily="34" charset="-122"/>
                <a:cs typeface="Arial" pitchFamily="34" charset="-120"/>
              </a:rPr>
              <a:t> os at kende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I dag er vi ca. mellem reaktiv maskine AI og begraenset hukommelse AI</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5. Begrænset hukommelse AI – flere eksempler</a:t>
            </a:r>
            <a:endParaRPr lang="da-DK" sz="3000" dirty="0"/>
          </a:p>
        </p:txBody>
      </p:sp>
    </p:spTree>
    <p:extLst>
      <p:ext uri="{BB962C8B-B14F-4D97-AF65-F5344CB8AC3E}">
        <p14:creationId xmlns:p14="http://schemas.microsoft.com/office/powerpoint/2010/main" val="1544131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30224" y="1512270"/>
            <a:ext cx="7008876" cy="200563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Et begreb fra psykologien</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Handler om </a:t>
            </a:r>
            <a:r>
              <a:rPr lang="en-US" sz="1650" dirty="0" err="1">
                <a:solidFill>
                  <a:srgbClr val="111111"/>
                </a:solidFill>
                <a:latin typeface="Arial" pitchFamily="34" charset="0"/>
                <a:ea typeface="Arial" pitchFamily="34" charset="-122"/>
                <a:cs typeface="Arial" pitchFamily="34" charset="-120"/>
              </a:rPr>
              <a:t>helhedsforstålse</a:t>
            </a:r>
            <a:r>
              <a:rPr lang="en-US" sz="1650" dirty="0">
                <a:solidFill>
                  <a:srgbClr val="111111"/>
                </a:solidFill>
                <a:latin typeface="Arial" pitchFamily="34" charset="0"/>
                <a:ea typeface="Arial" pitchFamily="34" charset="-122"/>
                <a:cs typeface="Arial" pitchFamily="34" charset="-120"/>
              </a:rPr>
              <a:t> af menneskers mentale tilstande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Begynder at </a:t>
            </a:r>
            <a:r>
              <a:rPr lang="en-US" sz="1650" dirty="0" err="1">
                <a:solidFill>
                  <a:srgbClr val="111111"/>
                </a:solidFill>
                <a:latin typeface="Arial" pitchFamily="34" charset="0"/>
                <a:ea typeface="Arial" pitchFamily="34" charset="-122"/>
                <a:cs typeface="Arial" pitchFamily="34" charset="-120"/>
              </a:rPr>
              <a:t>bryde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grænsen</a:t>
            </a:r>
            <a:r>
              <a:rPr lang="en-US" sz="1650" dirty="0">
                <a:solidFill>
                  <a:srgbClr val="111111"/>
                </a:solidFill>
                <a:latin typeface="Arial" pitchFamily="34" charset="0"/>
                <a:ea typeface="Arial" pitchFamily="34" charset="-122"/>
                <a:cs typeface="Arial" pitchFamily="34" charset="-120"/>
              </a:rPr>
              <a:t> for Smal AI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Mere end </a:t>
            </a:r>
            <a:r>
              <a:rPr lang="en-US" sz="1650" dirty="0" err="1">
                <a:solidFill>
                  <a:srgbClr val="111111"/>
                </a:solidFill>
                <a:latin typeface="Arial" pitchFamily="34" charset="0"/>
                <a:ea typeface="Arial" pitchFamily="34" charset="-122"/>
                <a:cs typeface="Arial" pitchFamily="34" charset="-120"/>
              </a:rPr>
              <a:t>ren</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mønster-genkendelse</a:t>
            </a:r>
            <a:endParaRPr lang="en-US" sz="1650" dirty="0"/>
          </a:p>
        </p:txBody>
      </p:sp>
      <p:sp>
        <p:nvSpPr>
          <p:cNvPr id="5"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6. </a:t>
            </a:r>
            <a:r>
              <a:rPr lang="da-DK" sz="3000" b="1" i="1" dirty="0" err="1">
                <a:latin typeface="Proxima Nova Alt Rg"/>
              </a:rPr>
              <a:t>Theory</a:t>
            </a:r>
            <a:r>
              <a:rPr lang="da-DK" sz="3000" b="1" i="1" dirty="0">
                <a:latin typeface="Proxima Nova Alt Rg"/>
              </a:rPr>
              <a:t> of Mind</a:t>
            </a:r>
            <a:endParaRPr lang="da-DK" sz="3000" dirty="0"/>
          </a:p>
        </p:txBody>
      </p:sp>
    </p:spTree>
    <p:extLst>
      <p:ext uri="{BB962C8B-B14F-4D97-AF65-F5344CB8AC3E}">
        <p14:creationId xmlns:p14="http://schemas.microsoft.com/office/powerpoint/2010/main" val="419669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106424" y="1910080"/>
            <a:ext cx="5726430"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AI </a:t>
            </a:r>
            <a:r>
              <a:rPr lang="en-US" sz="1650" dirty="0" err="1">
                <a:solidFill>
                  <a:srgbClr val="111111"/>
                </a:solidFill>
                <a:latin typeface="Arial" pitchFamily="34" charset="0"/>
                <a:ea typeface="Arial" pitchFamily="34" charset="-122"/>
                <a:cs typeface="Arial" pitchFamily="34" charset="-120"/>
              </a:rPr>
              <a:t>kan</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måske</a:t>
            </a:r>
            <a:r>
              <a:rPr lang="en-US" sz="1650" dirty="0">
                <a:solidFill>
                  <a:srgbClr val="111111"/>
                </a:solidFill>
                <a:latin typeface="Arial" pitchFamily="34" charset="0"/>
                <a:ea typeface="Arial" pitchFamily="34" charset="-122"/>
                <a:cs typeface="Arial" pitchFamily="34" charset="-120"/>
              </a:rPr>
              <a:t> se, at du er ked af det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Fx via kamera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mønster-genkendelse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Men den </a:t>
            </a:r>
            <a:r>
              <a:rPr lang="en-US" sz="1650" dirty="0" err="1">
                <a:solidFill>
                  <a:srgbClr val="111111"/>
                </a:solidFill>
                <a:latin typeface="Arial" pitchFamily="34" charset="0"/>
                <a:ea typeface="Arial" pitchFamily="34" charset="-122"/>
                <a:cs typeface="Arial" pitchFamily="34" charset="-120"/>
              </a:rPr>
              <a:t>forstår</a:t>
            </a:r>
            <a:r>
              <a:rPr lang="en-US" sz="1650" dirty="0">
                <a:solidFill>
                  <a:srgbClr val="111111"/>
                </a:solidFill>
                <a:latin typeface="Arial" pitchFamily="34" charset="0"/>
                <a:ea typeface="Arial" pitchFamily="34" charset="-122"/>
                <a:cs typeface="Arial" pitchFamily="34" charset="-120"/>
              </a:rPr>
              <a:t> ikke, hvad det vil sige at vaere ked af det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Der er vi ikke endnu</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AI </a:t>
            </a:r>
            <a:r>
              <a:rPr lang="en-US" sz="1650" dirty="0" err="1">
                <a:solidFill>
                  <a:srgbClr val="111111"/>
                </a:solidFill>
                <a:latin typeface="Arial" pitchFamily="34" charset="0"/>
                <a:ea typeface="Arial" pitchFamily="34" charset="-122"/>
                <a:cs typeface="Arial" pitchFamily="34" charset="-120"/>
              </a:rPr>
              <a:t>forstår</a:t>
            </a:r>
            <a:r>
              <a:rPr lang="en-US" sz="1650" dirty="0">
                <a:solidFill>
                  <a:srgbClr val="111111"/>
                </a:solidFill>
                <a:latin typeface="Arial" pitchFamily="34" charset="0"/>
                <a:ea typeface="Arial" pitchFamily="34" charset="-122"/>
                <a:cs typeface="Arial" pitchFamily="34" charset="-120"/>
              </a:rPr>
              <a:t> ikke </a:t>
            </a:r>
            <a:r>
              <a:rPr lang="en-US" sz="1650" dirty="0" err="1">
                <a:solidFill>
                  <a:srgbClr val="111111"/>
                </a:solidFill>
                <a:latin typeface="Arial" pitchFamily="34" charset="0"/>
                <a:ea typeface="Arial" pitchFamily="34" charset="-122"/>
                <a:cs typeface="Arial" pitchFamily="34" charset="-120"/>
              </a:rPr>
              <a:t>menneskelige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føleser</a:t>
            </a:r>
            <a:r>
              <a:rPr lang="en-US" sz="1650" dirty="0">
                <a:solidFill>
                  <a:srgbClr val="111111"/>
                </a:solidFill>
                <a:latin typeface="Arial" pitchFamily="34" charset="0"/>
                <a:ea typeface="Arial" pitchFamily="34" charset="-122"/>
                <a:cs typeface="Arial" pitchFamily="34" charset="-120"/>
              </a:rPr>
              <a:t> - endnu</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6. </a:t>
            </a:r>
            <a:r>
              <a:rPr lang="da-DK" sz="3000" b="1" i="1" dirty="0" err="1">
                <a:latin typeface="Proxima Nova Alt Rg"/>
              </a:rPr>
              <a:t>Theory</a:t>
            </a:r>
            <a:r>
              <a:rPr lang="da-DK" sz="3000" b="1" i="1" dirty="0">
                <a:latin typeface="Proxima Nova Alt Rg"/>
              </a:rPr>
              <a:t> of Mind – Følelser kontra mønstre</a:t>
            </a:r>
            <a:endParaRPr lang="da-DK" sz="3000" dirty="0"/>
          </a:p>
        </p:txBody>
      </p:sp>
    </p:spTree>
    <p:extLst>
      <p:ext uri="{BB962C8B-B14F-4D97-AF65-F5344CB8AC3E}">
        <p14:creationId xmlns:p14="http://schemas.microsoft.com/office/powerpoint/2010/main" val="1994757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42924" y="1512270"/>
            <a:ext cx="5726430"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Kan genkende </a:t>
            </a:r>
            <a:r>
              <a:rPr lang="en-US" sz="1650" dirty="0" err="1">
                <a:solidFill>
                  <a:srgbClr val="111111"/>
                </a:solidFill>
                <a:latin typeface="Arial" pitchFamily="34" charset="0"/>
                <a:ea typeface="Arial" pitchFamily="34" charset="-122"/>
                <a:cs typeface="Arial" pitchFamily="34" charset="-120"/>
              </a:rPr>
              <a:t>andres</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føleser</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Har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også</a:t>
            </a:r>
            <a:r>
              <a:rPr lang="en-US" sz="1650" dirty="0">
                <a:solidFill>
                  <a:srgbClr val="111111"/>
                </a:solidFill>
                <a:latin typeface="Arial" pitchFamily="34" charset="0"/>
                <a:ea typeface="Arial" pitchFamily="34" charset="-122"/>
                <a:cs typeface="Arial" pitchFamily="34" charset="-120"/>
              </a:rPr>
              <a:t> en fornemmelse af sig </a:t>
            </a:r>
            <a:r>
              <a:rPr lang="en-US" sz="1650" dirty="0" err="1">
                <a:solidFill>
                  <a:srgbClr val="111111"/>
                </a:solidFill>
                <a:latin typeface="Arial" pitchFamily="34" charset="0"/>
                <a:ea typeface="Arial" pitchFamily="34" charset="-122"/>
                <a:cs typeface="Arial" pitchFamily="34" charset="-120"/>
              </a:rPr>
              <a:t>selv</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selvbevidsthed</a:t>
            </a:r>
            <a:r>
              <a:rPr lang="en-US" sz="1650" dirty="0">
                <a:solidFill>
                  <a:srgbClr val="111111"/>
                </a:solidFill>
                <a:latin typeface="Arial" pitchFamily="34" charset="0"/>
                <a:ea typeface="Arial" pitchFamily="34" charset="-122"/>
                <a:cs typeface="Arial" pitchFamily="34" charset="-120"/>
              </a:rPr>
              <a: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Kombinerer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selvforstålse</a:t>
            </a:r>
            <a:r>
              <a:rPr lang="en-US" sz="1650" dirty="0">
                <a:solidFill>
                  <a:srgbClr val="111111"/>
                </a:solidFill>
                <a:latin typeface="Arial" pitchFamily="34" charset="0"/>
                <a:ea typeface="Arial" pitchFamily="34" charset="-122"/>
                <a:cs typeface="Arial" pitchFamily="34" charset="-120"/>
              </a:rPr>
              <a:t> med menneskelig intelligens</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Den sidste fase af AI</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7. Selvbevidst AI</a:t>
            </a:r>
            <a:endParaRPr lang="da-DK" sz="3000" dirty="0"/>
          </a:p>
        </p:txBody>
      </p:sp>
    </p:spTree>
    <p:extLst>
      <p:ext uri="{BB962C8B-B14F-4D97-AF65-F5344CB8AC3E}">
        <p14:creationId xmlns:p14="http://schemas.microsoft.com/office/powerpoint/2010/main" val="900000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55624" y="1800306"/>
            <a:ext cx="7123176" cy="2047794"/>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Hvis AI </a:t>
            </a:r>
            <a:r>
              <a:rPr lang="en-US" sz="1650" dirty="0" err="1">
                <a:solidFill>
                  <a:srgbClr val="111111"/>
                </a:solidFill>
                <a:latin typeface="Arial" pitchFamily="34" charset="0"/>
                <a:ea typeface="Arial" pitchFamily="34" charset="-122"/>
                <a:cs typeface="Arial" pitchFamily="34" charset="-120"/>
              </a:rPr>
              <a:t>forstår</a:t>
            </a:r>
            <a:r>
              <a:rPr lang="en-US" sz="1650" dirty="0">
                <a:solidFill>
                  <a:srgbClr val="111111"/>
                </a:solidFill>
                <a:latin typeface="Arial" pitchFamily="34" charset="0"/>
                <a:ea typeface="Arial" pitchFamily="34" charset="-122"/>
                <a:cs typeface="Arial" pitchFamily="34" charset="-120"/>
              </a:rPr>
              <a:t> andre og sig selv, </a:t>
            </a:r>
            <a:r>
              <a:rPr lang="en-US" sz="1650" dirty="0" err="1">
                <a:solidFill>
                  <a:srgbClr val="111111"/>
                </a:solidFill>
                <a:latin typeface="Arial" pitchFamily="34" charset="0"/>
                <a:ea typeface="Arial" pitchFamily="34" charset="-122"/>
                <a:cs typeface="Arial" pitchFamily="34" charset="-120"/>
              </a:rPr>
              <a:t>ligner</a:t>
            </a:r>
            <a:r>
              <a:rPr lang="en-US" sz="1650" dirty="0">
                <a:solidFill>
                  <a:srgbClr val="111111"/>
                </a:solidFill>
                <a:latin typeface="Arial" pitchFamily="34" charset="0"/>
                <a:ea typeface="Arial" pitchFamily="34" charset="-122"/>
                <a:cs typeface="Arial" pitchFamily="34" charset="-120"/>
              </a:rPr>
              <a:t> den </a:t>
            </a:r>
            <a:r>
              <a:rPr lang="en-US" sz="1650" dirty="0" err="1">
                <a:solidFill>
                  <a:srgbClr val="111111"/>
                </a:solidFill>
                <a:latin typeface="Arial" pitchFamily="34" charset="0"/>
                <a:ea typeface="Arial" pitchFamily="34" charset="-122"/>
                <a:cs typeface="Arial" pitchFamily="34" charset="-120"/>
              </a:rPr>
              <a:t>så</a:t>
            </a:r>
            <a:r>
              <a:rPr lang="en-US" sz="1650" dirty="0">
                <a:solidFill>
                  <a:srgbClr val="111111"/>
                </a:solidFill>
                <a:latin typeface="Arial" pitchFamily="34" charset="0"/>
                <a:ea typeface="Arial" pitchFamily="34" charset="-122"/>
                <a:cs typeface="Arial" pitchFamily="34" charset="-120"/>
              </a:rPr>
              <a:t> et </a:t>
            </a:r>
            <a:r>
              <a:rPr lang="en-US" sz="1650" dirty="0" err="1">
                <a:solidFill>
                  <a:srgbClr val="111111"/>
                </a:solidFill>
                <a:latin typeface="Arial" pitchFamily="34" charset="0"/>
                <a:ea typeface="Arial" pitchFamily="34" charset="-122"/>
                <a:cs typeface="Arial" pitchFamily="34" charset="-120"/>
              </a:rPr>
              <a:t>menneske</a:t>
            </a:r>
            <a:r>
              <a:rPr lang="en-US" sz="1650" dirty="0">
                <a:solidFill>
                  <a:srgbClr val="111111"/>
                </a:solidFill>
                <a:latin typeface="Arial" pitchFamily="34" charset="0"/>
                <a:ea typeface="Arial" pitchFamily="34" charset="-122"/>
                <a:cs typeface="Arial" pitchFamily="34" charset="-120"/>
              </a:rPr>
              <a: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Eller </a:t>
            </a:r>
            <a:r>
              <a:rPr lang="en-US" sz="1650" dirty="0" err="1">
                <a:solidFill>
                  <a:srgbClr val="111111"/>
                </a:solidFill>
                <a:latin typeface="Arial" pitchFamily="34" charset="0"/>
                <a:ea typeface="Arial" pitchFamily="34" charset="-122"/>
                <a:cs typeface="Arial" pitchFamily="34" charset="-120"/>
              </a:rPr>
              <a:t>er</a:t>
            </a:r>
            <a:r>
              <a:rPr lang="en-US" sz="1650" dirty="0">
                <a:solidFill>
                  <a:srgbClr val="111111"/>
                </a:solidFill>
                <a:latin typeface="Arial" pitchFamily="34" charset="0"/>
                <a:ea typeface="Arial" pitchFamily="34" charset="-122"/>
                <a:cs typeface="Arial" pitchFamily="34" charset="-120"/>
              </a:rPr>
              <a:t> den </a:t>
            </a:r>
            <a:r>
              <a:rPr lang="en-US" sz="1650" dirty="0" err="1">
                <a:solidFill>
                  <a:srgbClr val="111111"/>
                </a:solidFill>
                <a:latin typeface="Arial" pitchFamily="34" charset="0"/>
                <a:ea typeface="Arial" pitchFamily="34" charset="-122"/>
                <a:cs typeface="Arial" pitchFamily="34" charset="-120"/>
              </a:rPr>
              <a:t>reelt</a:t>
            </a:r>
            <a:r>
              <a:rPr lang="en-US" sz="1650" dirty="0">
                <a:solidFill>
                  <a:srgbClr val="111111"/>
                </a:solidFill>
                <a:latin typeface="Arial" pitchFamily="34" charset="0"/>
                <a:ea typeface="Arial" pitchFamily="34" charset="-122"/>
                <a:cs typeface="Arial" pitchFamily="34" charset="-120"/>
              </a:rPr>
              <a:t> - </a:t>
            </a:r>
            <a:r>
              <a:rPr lang="en-US" sz="1650" dirty="0" err="1">
                <a:solidFill>
                  <a:srgbClr val="111111"/>
                </a:solidFill>
                <a:latin typeface="Arial" pitchFamily="34" charset="0"/>
                <a:ea typeface="Arial" pitchFamily="34" charset="-122"/>
                <a:cs typeface="Arial" pitchFamily="34" charset="-120"/>
              </a:rPr>
              <a:t>måske</a:t>
            </a:r>
            <a:r>
              <a:rPr lang="en-US" sz="1650" dirty="0">
                <a:solidFill>
                  <a:srgbClr val="111111"/>
                </a:solidFill>
                <a:latin typeface="Arial" pitchFamily="34" charset="0"/>
                <a:ea typeface="Arial" pitchFamily="34" charset="-122"/>
                <a:cs typeface="Arial" pitchFamily="34" charset="-120"/>
              </a:rPr>
              <a:t> – et </a:t>
            </a:r>
            <a:r>
              <a:rPr lang="en-US" sz="1650" dirty="0" err="1">
                <a:solidFill>
                  <a:srgbClr val="111111"/>
                </a:solidFill>
                <a:latin typeface="Arial" pitchFamily="34" charset="0"/>
                <a:ea typeface="Arial" pitchFamily="34" charset="-122"/>
                <a:cs typeface="Arial" pitchFamily="34" charset="-120"/>
              </a:rPr>
              <a:t>menneske</a:t>
            </a:r>
            <a:r>
              <a:rPr lang="en-US" sz="1650" dirty="0">
                <a:solidFill>
                  <a:srgbClr val="111111"/>
                </a:solidFill>
                <a:latin typeface="Arial" pitchFamily="34" charset="0"/>
                <a:ea typeface="Arial" pitchFamily="34" charset="-122"/>
                <a:cs typeface="Arial" pitchFamily="34" charset="-120"/>
              </a:rPr>
              <a: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Hvad</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er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intelligens</a:t>
            </a:r>
            <a:r>
              <a:rPr lang="en-US" sz="1650" dirty="0">
                <a:solidFill>
                  <a:srgbClr val="111111"/>
                </a:solidFill>
                <a:latin typeface="Arial" pitchFamily="34" charset="0"/>
                <a:ea typeface="Arial" pitchFamily="34" charset="-122"/>
                <a:cs typeface="Arial" pitchFamily="34" charset="-120"/>
              </a:rPr>
              <a:t>?</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Pt. er AI nok </a:t>
            </a:r>
            <a:r>
              <a:rPr lang="en-US" sz="1650" dirty="0" err="1">
                <a:solidFill>
                  <a:srgbClr val="111111"/>
                </a:solidFill>
                <a:latin typeface="Arial" pitchFamily="34" charset="0"/>
                <a:ea typeface="Arial" pitchFamily="34" charset="-122"/>
                <a:cs typeface="Arial" pitchFamily="34" charset="-120"/>
              </a:rPr>
              <a:t>ikke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så</a:t>
            </a:r>
            <a:r>
              <a:rPr lang="en-US" sz="1650" dirty="0">
                <a:solidFill>
                  <a:srgbClr val="111111"/>
                </a:solidFill>
                <a:latin typeface="Arial" pitchFamily="34" charset="0"/>
                <a:ea typeface="Arial" pitchFamily="34" charset="-122"/>
                <a:cs typeface="Arial" pitchFamily="34" charset="-120"/>
              </a:rPr>
              <a:t> intelligent, som vi mange </a:t>
            </a:r>
            <a:r>
              <a:rPr lang="en-US" sz="1650" dirty="0" err="1">
                <a:solidFill>
                  <a:srgbClr val="111111"/>
                </a:solidFill>
                <a:latin typeface="Arial" pitchFamily="34" charset="0"/>
                <a:ea typeface="Arial" pitchFamily="34" charset="-122"/>
                <a:cs typeface="Arial" pitchFamily="34" charset="-120"/>
              </a:rPr>
              <a:t>tror</a:t>
            </a:r>
            <a:r>
              <a:rPr lang="en-US" sz="1650" dirty="0">
                <a:solidFill>
                  <a:srgbClr val="111111"/>
                </a:solidFill>
                <a:latin typeface="Arial" pitchFamily="34" charset="0"/>
                <a:ea typeface="Arial" pitchFamily="34" charset="-122"/>
                <a:cs typeface="Arial" pitchFamily="34" charset="-120"/>
              </a:rPr>
              <a:t> - </a:t>
            </a:r>
            <a:r>
              <a:rPr lang="en-US" sz="1650" dirty="0" err="1">
                <a:solidFill>
                  <a:srgbClr val="111111"/>
                </a:solidFill>
                <a:latin typeface="Arial" pitchFamily="34" charset="0"/>
                <a:ea typeface="Arial" pitchFamily="34" charset="-122"/>
                <a:cs typeface="Arial" pitchFamily="34" charset="-120"/>
              </a:rPr>
              <a:t>heldigvis</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7. Selvbevidst AI – hvorfor er den så radikal?</a:t>
            </a:r>
            <a:endParaRPr lang="da-DK" sz="3000" dirty="0"/>
          </a:p>
        </p:txBody>
      </p:sp>
    </p:spTree>
    <p:extLst>
      <p:ext uri="{BB962C8B-B14F-4D97-AF65-F5344CB8AC3E}">
        <p14:creationId xmlns:p14="http://schemas.microsoft.com/office/powerpoint/2010/main" val="1663888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246124" y="1512270"/>
            <a:ext cx="5726430" cy="339471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Næste</a:t>
            </a:r>
            <a:r>
              <a:rPr lang="en-US" sz="1650" dirty="0">
                <a:solidFill>
                  <a:srgbClr val="111111"/>
                </a:solidFill>
                <a:latin typeface="Arial" pitchFamily="34" charset="0"/>
                <a:ea typeface="Arial" pitchFamily="34" charset="-122"/>
                <a:cs typeface="Arial" pitchFamily="34" charset="-120"/>
              </a:rPr>
              <a:t> hype: "world models"</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Ideen er at </a:t>
            </a:r>
            <a:r>
              <a:rPr lang="en-US" sz="1650" dirty="0" err="1">
                <a:solidFill>
                  <a:srgbClr val="111111"/>
                </a:solidFill>
                <a:latin typeface="Arial" pitchFamily="34" charset="0"/>
                <a:ea typeface="Arial" pitchFamily="34" charset="-122"/>
                <a:cs typeface="Arial" pitchFamily="34" charset="-120"/>
              </a:rPr>
              <a:t>lære</a:t>
            </a:r>
            <a:r>
              <a:rPr lang="en-US" sz="1650" dirty="0">
                <a:solidFill>
                  <a:srgbClr val="111111"/>
                </a:solidFill>
                <a:latin typeface="Arial" pitchFamily="34" charset="0"/>
                <a:ea typeface="Arial" pitchFamily="34" charset="-122"/>
                <a:cs typeface="Arial" pitchFamily="34" charset="-120"/>
              </a:rPr>
              <a:t> AI at forholde sig til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forstå</a:t>
            </a:r>
            <a:r>
              <a:rPr lang="en-US" sz="1650" dirty="0">
                <a:solidFill>
                  <a:srgbClr val="111111"/>
                </a:solidFill>
                <a:latin typeface="Arial" pitchFamily="34" charset="0"/>
                <a:ea typeface="Arial" pitchFamily="34" charset="-122"/>
                <a:cs typeface="Arial" pitchFamily="34" charset="-120"/>
              </a:rPr>
              <a:t> verden</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LLM = Large Language Model</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En LLM </a:t>
            </a:r>
            <a:r>
              <a:rPr lang="en-US" sz="1650" dirty="0" err="1">
                <a:solidFill>
                  <a:srgbClr val="111111"/>
                </a:solidFill>
                <a:latin typeface="Arial" pitchFamily="34" charset="0"/>
                <a:ea typeface="Arial" pitchFamily="34" charset="-122"/>
                <a:cs typeface="Arial" pitchFamily="34" charset="-120"/>
              </a:rPr>
              <a:t>har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kæmpe</a:t>
            </a:r>
            <a:r>
              <a:rPr lang="en-US" sz="1650" dirty="0">
                <a:solidFill>
                  <a:srgbClr val="111111"/>
                </a:solidFill>
                <a:latin typeface="Arial" pitchFamily="34" charset="0"/>
                <a:ea typeface="Arial" pitchFamily="34" charset="-122"/>
                <a:cs typeface="Arial" pitchFamily="34" charset="-120"/>
              </a:rPr>
              <a:t> viden, men </a:t>
            </a:r>
            <a:r>
              <a:rPr lang="en-US" sz="1650" dirty="0" err="1">
                <a:solidFill>
                  <a:srgbClr val="111111"/>
                </a:solidFill>
                <a:latin typeface="Arial" pitchFamily="34" charset="0"/>
                <a:ea typeface="Arial" pitchFamily="34" charset="-122"/>
                <a:cs typeface="Arial" pitchFamily="34" charset="-120"/>
              </a:rPr>
              <a:t>ikke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nødvendigvis</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kæmpe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forståelse</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Hvor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går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grænsen</a:t>
            </a:r>
            <a:r>
              <a:rPr lang="en-US" sz="1650" dirty="0">
                <a:solidFill>
                  <a:srgbClr val="111111"/>
                </a:solidFill>
                <a:latin typeface="Arial" pitchFamily="34" charset="0"/>
                <a:ea typeface="Arial" pitchFamily="34" charset="-122"/>
                <a:cs typeface="Arial" pitchFamily="34" charset="-120"/>
              </a:rPr>
              <a:t> mellem viden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forståelse</a:t>
            </a:r>
            <a:r>
              <a:rPr lang="en-US" sz="1650" dirty="0">
                <a:solidFill>
                  <a:srgbClr val="111111"/>
                </a:solidFill>
                <a:latin typeface="Arial" pitchFamily="34" charset="0"/>
                <a:ea typeface="Arial" pitchFamily="34" charset="-122"/>
                <a:cs typeface="Arial" pitchFamily="34" charset="-120"/>
              </a:rPr>
              <a:t>?</a:t>
            </a:r>
            <a:endParaRPr lang="en-US" sz="1650" dirty="0"/>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LLM, World Models og forståelse</a:t>
            </a:r>
            <a:endParaRPr lang="da-DK" sz="3000" dirty="0"/>
          </a:p>
        </p:txBody>
      </p:sp>
    </p:spTree>
    <p:extLst>
      <p:ext uri="{BB962C8B-B14F-4D97-AF65-F5344CB8AC3E}">
        <p14:creationId xmlns:p14="http://schemas.microsoft.com/office/powerpoint/2010/main" val="3414977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46176" y="361358"/>
            <a:ext cx="8014887" cy="994172"/>
          </a:xfrm>
        </p:spPr>
        <p:txBody>
          <a:bodyPr/>
          <a:lstStyle/>
          <a:p>
            <a:r>
              <a:rPr lang="da-DK" b="1" i="1" dirty="0"/>
              <a:t>LLM </a:t>
            </a:r>
            <a:r>
              <a:rPr lang="da-DK" b="1" i="1" dirty="0" err="1"/>
              <a:t>Visualization</a:t>
            </a:r>
            <a:endParaRPr lang="da-DK" b="1" i="1" dirty="0"/>
          </a:p>
        </p:txBody>
      </p:sp>
      <p:sp>
        <p:nvSpPr>
          <p:cNvPr id="3" name="Pladsholder til indhold 2"/>
          <p:cNvSpPr>
            <a:spLocks noGrp="1"/>
          </p:cNvSpPr>
          <p:nvPr>
            <p:ph idx="1"/>
          </p:nvPr>
        </p:nvSpPr>
        <p:spPr>
          <a:xfrm>
            <a:off x="2810511" y="1358348"/>
            <a:ext cx="4222881" cy="3512102"/>
          </a:xfrm>
        </p:spPr>
        <p:txBody>
          <a:bodyPr>
            <a:normAutofit/>
          </a:bodyPr>
          <a:lstStyle/>
          <a:p>
            <a:r>
              <a:rPr lang="en-US" sz="1400" dirty="0">
                <a:hlinkClick r:id="rId3"/>
              </a:rPr>
              <a:t>https://bbycroft.net/llm</a:t>
            </a:r>
            <a:endParaRPr lang="en-US" sz="1400" dirty="0"/>
          </a:p>
        </p:txBody>
      </p:sp>
      <p:sp>
        <p:nvSpPr>
          <p:cNvPr id="4" name="Pladsholder til dato 3"/>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p:cNvSpPr>
            <a:spLocks noGrp="1"/>
          </p:cNvSpPr>
          <p:nvPr>
            <p:ph type="sldNum" sz="quarter" idx="4294967295"/>
          </p:nvPr>
        </p:nvSpPr>
        <p:spPr>
          <a:xfrm>
            <a:off x="0" y="4673600"/>
            <a:ext cx="549275" cy="393700"/>
          </a:xfrm>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24</a:t>
            </a:fld>
            <a:endParaRPr lang="da-DK" sz="900" b="1" kern="1200" dirty="0">
              <a:solidFill>
                <a:srgbClr val="00454E"/>
              </a:solidFill>
              <a:ea typeface="+mn-ea"/>
              <a:cs typeface="Times New Roman"/>
            </a:endParaRPr>
          </a:p>
        </p:txBody>
      </p:sp>
    </p:spTree>
    <p:extLst>
      <p:ext uri="{BB962C8B-B14F-4D97-AF65-F5344CB8AC3E}">
        <p14:creationId xmlns:p14="http://schemas.microsoft.com/office/powerpoint/2010/main" val="32023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46176" y="361358"/>
            <a:ext cx="8014887" cy="994172"/>
          </a:xfrm>
        </p:spPr>
        <p:txBody>
          <a:bodyPr/>
          <a:lstStyle/>
          <a:p>
            <a:r>
              <a:rPr lang="da-DK" b="1" i="1" dirty="0" err="1"/>
              <a:t>AI’s</a:t>
            </a:r>
            <a:r>
              <a:rPr lang="da-DK" b="1" i="1" dirty="0"/>
              <a:t> IQ</a:t>
            </a:r>
          </a:p>
        </p:txBody>
      </p:sp>
      <p:sp>
        <p:nvSpPr>
          <p:cNvPr id="3" name="Pladsholder til indhold 2"/>
          <p:cNvSpPr>
            <a:spLocks noGrp="1"/>
          </p:cNvSpPr>
          <p:nvPr>
            <p:ph idx="1"/>
          </p:nvPr>
        </p:nvSpPr>
        <p:spPr>
          <a:xfrm>
            <a:off x="2650854" y="1865700"/>
            <a:ext cx="4222881" cy="616243"/>
          </a:xfrm>
        </p:spPr>
        <p:txBody>
          <a:bodyPr>
            <a:normAutofit/>
          </a:bodyPr>
          <a:lstStyle/>
          <a:p>
            <a:r>
              <a:rPr lang="en-US" sz="1600" dirty="0">
                <a:hlinkClick r:id="rId3"/>
              </a:rPr>
              <a:t>https://trackingai.org/home</a:t>
            </a:r>
            <a:endParaRPr lang="en-US" sz="1600" dirty="0"/>
          </a:p>
        </p:txBody>
      </p:sp>
      <p:sp>
        <p:nvSpPr>
          <p:cNvPr id="4" name="Pladsholder til dato 3"/>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p:cNvSpPr>
            <a:spLocks noGrp="1"/>
          </p:cNvSpPr>
          <p:nvPr>
            <p:ph type="sldNum" sz="quarter" idx="4294967295"/>
          </p:nvPr>
        </p:nvSpPr>
        <p:spPr>
          <a:xfrm>
            <a:off x="0" y="4673600"/>
            <a:ext cx="549275" cy="393700"/>
          </a:xfrm>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25</a:t>
            </a:fld>
            <a:endParaRPr lang="da-DK" sz="900" b="1" kern="1200" dirty="0">
              <a:solidFill>
                <a:srgbClr val="00454E"/>
              </a:solidFill>
              <a:ea typeface="+mn-ea"/>
              <a:cs typeface="Times New Roman"/>
            </a:endParaRPr>
          </a:p>
        </p:txBody>
      </p:sp>
    </p:spTree>
    <p:extLst>
      <p:ext uri="{BB962C8B-B14F-4D97-AF65-F5344CB8AC3E}">
        <p14:creationId xmlns:p14="http://schemas.microsoft.com/office/powerpoint/2010/main" val="2450848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487424" y="1512270"/>
            <a:ext cx="5726430" cy="2386630"/>
          </a:xfrm>
          <a:prstGeom prst="rect">
            <a:avLst/>
          </a:prstGeom>
          <a:noFill/>
          <a:ln/>
        </p:spPr>
        <p:txBody>
          <a:bodyPr wrap="square" lIns="0" tIns="0" rIns="0" bIns="0" rtlCol="0" anchor="t">
            <a:normAutofit/>
          </a:bodyPr>
          <a:lstStyle/>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ChatGPT</a:t>
            </a:r>
            <a:r>
              <a:rPr lang="en-US" sz="1650" dirty="0">
                <a:solidFill>
                  <a:srgbClr val="111111"/>
                </a:solidFill>
                <a:latin typeface="Arial" pitchFamily="34" charset="0"/>
                <a:ea typeface="Arial" pitchFamily="34" charset="-122"/>
                <a:cs typeface="Arial" pitchFamily="34" charset="-120"/>
              </a:rPr>
              <a:t> ligger ca. </a:t>
            </a:r>
            <a:r>
              <a:rPr lang="en-US" sz="1650" dirty="0" err="1">
                <a:solidFill>
                  <a:srgbClr val="111111"/>
                </a:solidFill>
                <a:latin typeface="Arial" pitchFamily="34" charset="0"/>
                <a:ea typeface="Arial" pitchFamily="34" charset="-122"/>
                <a:cs typeface="Arial" pitchFamily="34" charset="-120"/>
              </a:rPr>
              <a:t>mellem</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Smal</a:t>
            </a:r>
            <a:r>
              <a:rPr lang="en-US" sz="1650" dirty="0">
                <a:solidFill>
                  <a:srgbClr val="111111"/>
                </a:solidFill>
                <a:latin typeface="Arial" pitchFamily="34" charset="0"/>
                <a:ea typeface="Arial" pitchFamily="34" charset="-122"/>
                <a:cs typeface="Arial" pitchFamily="34" charset="-120"/>
              </a:rPr>
              <a:t> AI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AGI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ca. </a:t>
            </a:r>
            <a:r>
              <a:rPr lang="en-US" sz="1650" dirty="0" err="1">
                <a:solidFill>
                  <a:srgbClr val="111111"/>
                </a:solidFill>
                <a:latin typeface="Arial" pitchFamily="34" charset="0"/>
                <a:ea typeface="Arial" pitchFamily="34" charset="-122"/>
                <a:cs typeface="Arial" pitchFamily="34" charset="-120"/>
              </a:rPr>
              <a:t>mellem</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reaktiv</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maskine</a:t>
            </a:r>
            <a:r>
              <a:rPr lang="en-US" sz="1650" dirty="0">
                <a:solidFill>
                  <a:srgbClr val="111111"/>
                </a:solidFill>
                <a:latin typeface="Arial" pitchFamily="34" charset="0"/>
                <a:ea typeface="Arial" pitchFamily="34" charset="-122"/>
                <a:cs typeface="Arial" pitchFamily="34" charset="-120"/>
              </a:rPr>
              <a:t> AI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begraenset</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hukommelse</a:t>
            </a:r>
            <a:r>
              <a:rPr lang="en-US" sz="1650" dirty="0">
                <a:solidFill>
                  <a:srgbClr val="111111"/>
                </a:solidFill>
                <a:latin typeface="Arial" pitchFamily="34" charset="0"/>
                <a:ea typeface="Arial" pitchFamily="34" charset="-122"/>
                <a:cs typeface="Arial" pitchFamily="34" charset="-120"/>
              </a:rPr>
              <a:t> AI</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Nutidens</a:t>
            </a:r>
            <a:r>
              <a:rPr lang="en-US" sz="1650" dirty="0">
                <a:solidFill>
                  <a:srgbClr val="111111"/>
                </a:solidFill>
                <a:latin typeface="Arial" pitchFamily="34" charset="0"/>
                <a:ea typeface="Arial" pitchFamily="34" charset="-122"/>
                <a:cs typeface="Arial" pitchFamily="34" charset="-120"/>
              </a:rPr>
              <a:t> AI </a:t>
            </a:r>
            <a:r>
              <a:rPr lang="en-US" sz="1650" dirty="0" err="1">
                <a:solidFill>
                  <a:srgbClr val="111111"/>
                </a:solidFill>
                <a:latin typeface="Arial" pitchFamily="34" charset="0"/>
                <a:ea typeface="Arial" pitchFamily="34" charset="-122"/>
                <a:cs typeface="Arial" pitchFamily="34" charset="-120"/>
              </a:rPr>
              <a:t>er</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staerk</a:t>
            </a:r>
            <a:r>
              <a:rPr lang="en-US" sz="1650" dirty="0">
                <a:solidFill>
                  <a:srgbClr val="111111"/>
                </a:solidFill>
                <a:latin typeface="Arial" pitchFamily="34" charset="0"/>
                <a:ea typeface="Arial" pitchFamily="34" charset="-122"/>
                <a:cs typeface="Arial" pitchFamily="34" charset="-120"/>
              </a:rPr>
              <a:t> pa </a:t>
            </a:r>
            <a:r>
              <a:rPr lang="en-US" sz="1650" dirty="0" err="1">
                <a:solidFill>
                  <a:srgbClr val="111111"/>
                </a:solidFill>
                <a:latin typeface="Arial" pitchFamily="34" charset="0"/>
                <a:ea typeface="Arial" pitchFamily="34" charset="-122"/>
                <a:cs typeface="Arial" pitchFamily="34" charset="-120"/>
              </a:rPr>
              <a:t>monstre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viden</a:t>
            </a:r>
            <a:endParaRPr lang="en-US" sz="1650" dirty="0"/>
          </a:p>
          <a:p>
            <a:pPr>
              <a:lnSpc>
                <a:spcPct val="102000"/>
              </a:lnSpc>
            </a:pPr>
            <a:endParaRPr lang="en-US" sz="1650" dirty="0"/>
          </a:p>
          <a:p>
            <a:pPr>
              <a:lnSpc>
                <a:spcPct val="102000"/>
              </a:lnSpc>
            </a:pPr>
            <a:r>
              <a:rPr lang="en-US" sz="1650" dirty="0">
                <a:solidFill>
                  <a:srgbClr val="111111"/>
                </a:solidFill>
                <a:latin typeface="Arial" pitchFamily="34" charset="0"/>
                <a:ea typeface="Arial" pitchFamily="34" charset="-122"/>
                <a:cs typeface="Arial" pitchFamily="34" charset="-120"/>
              </a:rPr>
              <a:t>• Men </a:t>
            </a:r>
            <a:r>
              <a:rPr lang="en-US" sz="1650" dirty="0" err="1">
                <a:solidFill>
                  <a:srgbClr val="111111"/>
                </a:solidFill>
                <a:latin typeface="Arial" pitchFamily="34" charset="0"/>
                <a:ea typeface="Arial" pitchFamily="34" charset="-122"/>
                <a:cs typeface="Arial" pitchFamily="34" charset="-120"/>
              </a:rPr>
              <a:t>svagere</a:t>
            </a:r>
            <a:r>
              <a:rPr lang="en-US" sz="1650" dirty="0">
                <a:solidFill>
                  <a:srgbClr val="111111"/>
                </a:solidFill>
                <a:latin typeface="Arial" pitchFamily="34" charset="0"/>
                <a:ea typeface="Arial" pitchFamily="34" charset="-122"/>
                <a:cs typeface="Arial" pitchFamily="34" charset="-120"/>
              </a:rPr>
              <a:t> pa </a:t>
            </a:r>
            <a:r>
              <a:rPr lang="en-US" sz="1650" dirty="0" err="1">
                <a:solidFill>
                  <a:srgbClr val="111111"/>
                </a:solidFill>
                <a:latin typeface="Arial" pitchFamily="34" charset="0"/>
                <a:ea typeface="Arial" pitchFamily="34" charset="-122"/>
                <a:cs typeface="Arial" pitchFamily="34" charset="-120"/>
              </a:rPr>
              <a:t>egentlig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verdensforstaelse</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og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menneskelig</a:t>
            </a:r>
            <a:r>
              <a:rPr lang="en-US" sz="1650" dirty="0">
                <a:solidFill>
                  <a:srgbClr val="111111"/>
                </a:solidFill>
                <a:latin typeface="Arial" pitchFamily="34" charset="0"/>
                <a:ea typeface="Arial" pitchFamily="34" charset="-122"/>
                <a:cs typeface="Arial" pitchFamily="34" charset="-120"/>
              </a:rPr>
              <a:t> </a:t>
            </a:r>
            <a:r>
              <a:rPr lang="en-US" sz="1650" dirty="0" err="1">
                <a:solidFill>
                  <a:srgbClr val="111111"/>
                </a:solidFill>
                <a:latin typeface="Arial" pitchFamily="34" charset="0"/>
                <a:ea typeface="Arial" pitchFamily="34" charset="-122"/>
                <a:cs typeface="Arial" pitchFamily="34" charset="-120"/>
              </a:rPr>
              <a:t>forstaelse</a:t>
            </a:r>
            <a:endParaRPr lang="en-US" sz="1650" dirty="0">
              <a:solidFill>
                <a:srgbClr val="111111"/>
              </a:solidFill>
              <a:latin typeface="Arial" pitchFamily="34" charset="0"/>
              <a:ea typeface="Arial" pitchFamily="34" charset="-122"/>
              <a:cs typeface="Arial" pitchFamily="34" charset="-120"/>
            </a:endParaRPr>
          </a:p>
          <a:p>
            <a:pPr>
              <a:lnSpc>
                <a:spcPct val="102000"/>
              </a:lnSpc>
            </a:pPr>
            <a:endParaRPr lang="en-US" sz="1650" dirty="0">
              <a:solidFill>
                <a:srgbClr val="111111"/>
              </a:solidFill>
              <a:latin typeface="Arial" pitchFamily="34" charset="0"/>
              <a:cs typeface="Arial" pitchFamily="34" charset="-120"/>
            </a:endParaRPr>
          </a:p>
        </p:txBody>
      </p:sp>
      <p:sp>
        <p:nvSpPr>
          <p:cNvPr id="4" name="PlaceHolder 1"/>
          <p:cNvSpPr txBox="1">
            <a:spLocks/>
          </p:cNvSpPr>
          <p:nvPr/>
        </p:nvSpPr>
        <p:spPr>
          <a:xfrm>
            <a:off x="628560" y="685800"/>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Hvor er vi i dag?</a:t>
            </a:r>
            <a:endParaRPr lang="da-DK" sz="3000" dirty="0"/>
          </a:p>
        </p:txBody>
      </p:sp>
      <p:sp>
        <p:nvSpPr>
          <p:cNvPr id="5" name="Rektangel 4"/>
          <p:cNvSpPr/>
          <p:nvPr/>
        </p:nvSpPr>
        <p:spPr>
          <a:xfrm>
            <a:off x="1406339" y="3973818"/>
            <a:ext cx="4572000" cy="852734"/>
          </a:xfrm>
          <a:prstGeom prst="rect">
            <a:avLst/>
          </a:prstGeom>
        </p:spPr>
        <p:txBody>
          <a:bodyPr>
            <a:spAutoFit/>
          </a:bodyPr>
          <a:lstStyle/>
          <a:p>
            <a:pPr marL="285750" indent="-285750">
              <a:lnSpc>
                <a:spcPct val="102000"/>
              </a:lnSpc>
              <a:buFont typeface="Arial" panose="020B0604020202020204" pitchFamily="34" charset="0"/>
              <a:buChar char="•"/>
            </a:pPr>
            <a:r>
              <a:rPr lang="en-US" sz="1650" dirty="0">
                <a:solidFill>
                  <a:srgbClr val="111111"/>
                </a:solidFill>
                <a:latin typeface="Arial" pitchFamily="34" charset="0"/>
                <a:cs typeface="Arial" pitchFamily="34" charset="-120"/>
              </a:rPr>
              <a:t>Computer Vision (</a:t>
            </a:r>
            <a:r>
              <a:rPr lang="en-US" sz="1650" dirty="0" err="1">
                <a:solidFill>
                  <a:srgbClr val="111111"/>
                </a:solidFill>
                <a:latin typeface="Arial" pitchFamily="34" charset="0"/>
                <a:cs typeface="Arial" pitchFamily="34" charset="-120"/>
              </a:rPr>
              <a:t>ny</a:t>
            </a:r>
            <a:r>
              <a:rPr lang="en-US" sz="1650" dirty="0">
                <a:solidFill>
                  <a:srgbClr val="111111"/>
                </a:solidFill>
                <a:latin typeface="Arial" pitchFamily="34" charset="0"/>
                <a:cs typeface="Arial" pitchFamily="34" charset="-120"/>
              </a:rPr>
              <a:t>)</a:t>
            </a:r>
          </a:p>
          <a:p>
            <a:pPr marL="285750" indent="-285750">
              <a:lnSpc>
                <a:spcPct val="102000"/>
              </a:lnSpc>
              <a:buFont typeface="Arial" panose="020B0604020202020204" pitchFamily="34" charset="0"/>
              <a:buChar char="•"/>
            </a:pPr>
            <a:endParaRPr lang="en-US" sz="1650" dirty="0">
              <a:solidFill>
                <a:srgbClr val="111111"/>
              </a:solidFill>
              <a:latin typeface="Arial" pitchFamily="34" charset="0"/>
              <a:cs typeface="Arial" pitchFamily="34" charset="-120"/>
            </a:endParaRPr>
          </a:p>
          <a:p>
            <a:pPr marL="285750" indent="-285750">
              <a:lnSpc>
                <a:spcPct val="102000"/>
              </a:lnSpc>
              <a:buFont typeface="Arial" panose="020B0604020202020204" pitchFamily="34" charset="0"/>
              <a:buChar char="•"/>
            </a:pPr>
            <a:r>
              <a:rPr lang="en-US" sz="1650" dirty="0" err="1">
                <a:solidFill>
                  <a:srgbClr val="111111"/>
                </a:solidFill>
                <a:latin typeface="Arial" pitchFamily="34" charset="0"/>
                <a:cs typeface="Arial" pitchFamily="34" charset="-120"/>
              </a:rPr>
              <a:t>Agenter</a:t>
            </a:r>
            <a:r>
              <a:rPr lang="en-US" sz="1650" dirty="0">
                <a:solidFill>
                  <a:srgbClr val="111111"/>
                </a:solidFill>
                <a:latin typeface="Arial" pitchFamily="34" charset="0"/>
                <a:cs typeface="Arial" pitchFamily="34" charset="-120"/>
              </a:rPr>
              <a:t> (</a:t>
            </a:r>
            <a:r>
              <a:rPr lang="en-US" sz="1650" dirty="0" err="1">
                <a:solidFill>
                  <a:srgbClr val="111111"/>
                </a:solidFill>
                <a:latin typeface="Arial" pitchFamily="34" charset="0"/>
                <a:cs typeface="Arial" pitchFamily="34" charset="-120"/>
              </a:rPr>
              <a:t>ny</a:t>
            </a:r>
            <a:r>
              <a:rPr lang="en-US" sz="1650" dirty="0">
                <a:solidFill>
                  <a:srgbClr val="111111"/>
                </a:solidFill>
                <a:latin typeface="Arial" pitchFamily="34" charset="0"/>
                <a:cs typeface="Arial" pitchFamily="34" charset="-120"/>
              </a:rPr>
              <a:t>)</a:t>
            </a:r>
            <a:endParaRPr lang="en-US" sz="1650" dirty="0"/>
          </a:p>
        </p:txBody>
      </p:sp>
    </p:spTree>
    <p:extLst>
      <p:ext uri="{BB962C8B-B14F-4D97-AF65-F5344CB8AC3E}">
        <p14:creationId xmlns:p14="http://schemas.microsoft.com/office/powerpoint/2010/main" val="3046301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677924" y="1647946"/>
            <a:ext cx="2263140" cy="240030"/>
          </a:xfrm>
          <a:prstGeom prst="rect">
            <a:avLst/>
          </a:prstGeom>
          <a:noFill/>
          <a:ln/>
        </p:spPr>
        <p:txBody>
          <a:bodyPr wrap="square" lIns="0" tIns="0" rIns="0" bIns="0" rtlCol="0" anchor="ctr"/>
          <a:lstStyle/>
          <a:p>
            <a:r>
              <a:rPr lang="en-US" sz="1600" b="1" dirty="0">
                <a:latin typeface="Arial" pitchFamily="34" charset="0"/>
                <a:ea typeface="Arial" pitchFamily="34" charset="-122"/>
                <a:cs typeface="Arial" pitchFamily="34" charset="-120"/>
              </a:rPr>
              <a:t>Filosofisk spor</a:t>
            </a:r>
            <a:endParaRPr lang="en-US" sz="1600" dirty="0"/>
          </a:p>
        </p:txBody>
      </p:sp>
      <p:sp>
        <p:nvSpPr>
          <p:cNvPr id="4" name="Text 2"/>
          <p:cNvSpPr/>
          <p:nvPr/>
        </p:nvSpPr>
        <p:spPr>
          <a:xfrm>
            <a:off x="4572000" y="1647946"/>
            <a:ext cx="2125980" cy="240030"/>
          </a:xfrm>
          <a:prstGeom prst="rect">
            <a:avLst/>
          </a:prstGeom>
          <a:noFill/>
          <a:ln/>
        </p:spPr>
        <p:txBody>
          <a:bodyPr wrap="square" lIns="0" tIns="0" rIns="0" bIns="0" rtlCol="0" anchor="ctr"/>
          <a:lstStyle/>
          <a:p>
            <a:r>
              <a:rPr lang="en-US" sz="1600" b="1" dirty="0">
                <a:latin typeface="Arial" pitchFamily="34" charset="0"/>
                <a:ea typeface="Arial" pitchFamily="34" charset="-122"/>
                <a:cs typeface="Arial" pitchFamily="34" charset="-120"/>
              </a:rPr>
              <a:t>Konkret spor</a:t>
            </a:r>
            <a:endParaRPr lang="en-US" sz="1600" dirty="0"/>
          </a:p>
        </p:txBody>
      </p:sp>
      <p:sp>
        <p:nvSpPr>
          <p:cNvPr id="5" name="Text 3"/>
          <p:cNvSpPr/>
          <p:nvPr/>
        </p:nvSpPr>
        <p:spPr>
          <a:xfrm>
            <a:off x="1677924" y="2093005"/>
            <a:ext cx="2674620" cy="1023425"/>
          </a:xfrm>
          <a:prstGeom prst="rect">
            <a:avLst/>
          </a:prstGeom>
          <a:noFill/>
          <a:ln/>
        </p:spPr>
        <p:txBody>
          <a:bodyPr wrap="square" lIns="0" tIns="0" rIns="0" bIns="0" rtlCol="0" anchor="ctr">
            <a:normAutofit/>
          </a:bodyPr>
          <a:lstStyle/>
          <a:p>
            <a:pPr>
              <a:lnSpc>
                <a:spcPct val="105000"/>
              </a:lnSpc>
            </a:pPr>
            <a:r>
              <a:rPr lang="en-US" sz="1600" dirty="0">
                <a:solidFill>
                  <a:srgbClr val="111111"/>
                </a:solidFill>
                <a:latin typeface="Arial" pitchFamily="34" charset="0"/>
                <a:ea typeface="Arial" pitchFamily="34" charset="-122"/>
                <a:cs typeface="Arial" pitchFamily="34" charset="-120"/>
              </a:rPr>
              <a:t>1. Smal AI</a:t>
            </a:r>
            <a:endParaRPr lang="en-US" sz="1600" dirty="0"/>
          </a:p>
          <a:p>
            <a:pPr>
              <a:lnSpc>
                <a:spcPct val="105000"/>
              </a:lnSpc>
            </a:pPr>
            <a:r>
              <a:rPr lang="en-US" sz="1600" dirty="0">
                <a:solidFill>
                  <a:srgbClr val="111111"/>
                </a:solidFill>
                <a:latin typeface="Arial" pitchFamily="34" charset="0"/>
                <a:ea typeface="Arial" pitchFamily="34" charset="-122"/>
                <a:cs typeface="Arial" pitchFamily="34" charset="-120"/>
              </a:rPr>
              <a:t>2. AGI</a:t>
            </a:r>
            <a:endParaRPr lang="en-US" sz="1600" dirty="0"/>
          </a:p>
          <a:p>
            <a:pPr>
              <a:lnSpc>
                <a:spcPct val="105000"/>
              </a:lnSpc>
            </a:pPr>
            <a:r>
              <a:rPr lang="en-US" sz="1600" dirty="0">
                <a:solidFill>
                  <a:srgbClr val="111111"/>
                </a:solidFill>
                <a:latin typeface="Arial" pitchFamily="34" charset="0"/>
                <a:ea typeface="Arial" pitchFamily="34" charset="-122"/>
                <a:cs typeface="Arial" pitchFamily="34" charset="-120"/>
              </a:rPr>
              <a:t>3. Superintelligens</a:t>
            </a:r>
            <a:endParaRPr lang="en-US" sz="1600" dirty="0"/>
          </a:p>
          <a:p>
            <a:pPr>
              <a:lnSpc>
                <a:spcPct val="105000"/>
              </a:lnSpc>
            </a:pPr>
            <a:endParaRPr lang="en-US" sz="1600" dirty="0"/>
          </a:p>
        </p:txBody>
      </p:sp>
      <p:sp>
        <p:nvSpPr>
          <p:cNvPr id="6" name="Text 4"/>
          <p:cNvSpPr/>
          <p:nvPr/>
        </p:nvSpPr>
        <p:spPr>
          <a:xfrm>
            <a:off x="4572000" y="1511468"/>
            <a:ext cx="3441102" cy="2136531"/>
          </a:xfrm>
          <a:prstGeom prst="rect">
            <a:avLst/>
          </a:prstGeom>
          <a:noFill/>
          <a:ln/>
        </p:spPr>
        <p:txBody>
          <a:bodyPr wrap="square" lIns="0" tIns="0" rIns="0" bIns="0" rtlCol="0" anchor="ctr">
            <a:normAutofit/>
          </a:bodyPr>
          <a:lstStyle/>
          <a:p>
            <a:pPr>
              <a:lnSpc>
                <a:spcPct val="105000"/>
              </a:lnSpc>
            </a:pPr>
            <a:endParaRPr lang="en-US" sz="1600" dirty="0">
              <a:solidFill>
                <a:srgbClr val="111111"/>
              </a:solidFill>
              <a:latin typeface="Arial" pitchFamily="34" charset="0"/>
              <a:ea typeface="Arial" pitchFamily="34" charset="-122"/>
              <a:cs typeface="Arial" pitchFamily="34" charset="-120"/>
            </a:endParaRPr>
          </a:p>
          <a:p>
            <a:pPr>
              <a:lnSpc>
                <a:spcPct val="105000"/>
              </a:lnSpc>
            </a:pPr>
            <a:r>
              <a:rPr lang="en-US" sz="1600" dirty="0">
                <a:solidFill>
                  <a:srgbClr val="111111"/>
                </a:solidFill>
                <a:latin typeface="Arial" pitchFamily="34" charset="0"/>
                <a:ea typeface="Arial" pitchFamily="34" charset="-122"/>
                <a:cs typeface="Arial" pitchFamily="34" charset="-120"/>
              </a:rPr>
              <a:t>4. Reaktiv maskine AI</a:t>
            </a:r>
            <a:endParaRPr lang="en-US" sz="1600" dirty="0"/>
          </a:p>
          <a:p>
            <a:pPr>
              <a:lnSpc>
                <a:spcPct val="105000"/>
              </a:lnSpc>
            </a:pPr>
            <a:r>
              <a:rPr lang="en-US" sz="1600" dirty="0">
                <a:solidFill>
                  <a:srgbClr val="111111"/>
                </a:solidFill>
                <a:latin typeface="Arial" pitchFamily="34" charset="0"/>
                <a:ea typeface="Arial" pitchFamily="34" charset="-122"/>
                <a:cs typeface="Arial" pitchFamily="34" charset="-120"/>
              </a:rPr>
              <a:t>5. Begraenset hukommelse AI</a:t>
            </a:r>
            <a:endParaRPr lang="en-US" sz="1600" dirty="0"/>
          </a:p>
          <a:p>
            <a:pPr>
              <a:lnSpc>
                <a:spcPct val="105000"/>
              </a:lnSpc>
            </a:pPr>
            <a:r>
              <a:rPr lang="en-US" sz="1600" dirty="0">
                <a:solidFill>
                  <a:srgbClr val="111111"/>
                </a:solidFill>
                <a:latin typeface="Arial" pitchFamily="34" charset="0"/>
                <a:ea typeface="Arial" pitchFamily="34" charset="-122"/>
                <a:cs typeface="Arial" pitchFamily="34" charset="-120"/>
              </a:rPr>
              <a:t>6. Theory of Mind</a:t>
            </a:r>
            <a:endParaRPr lang="en-US" sz="1600" dirty="0"/>
          </a:p>
          <a:p>
            <a:pPr>
              <a:lnSpc>
                <a:spcPct val="105000"/>
              </a:lnSpc>
            </a:pPr>
            <a:r>
              <a:rPr lang="en-US" sz="1600" dirty="0">
                <a:solidFill>
                  <a:srgbClr val="111111"/>
                </a:solidFill>
                <a:latin typeface="Arial" pitchFamily="34" charset="0"/>
                <a:ea typeface="Arial" pitchFamily="34" charset="-122"/>
                <a:cs typeface="Arial" pitchFamily="34" charset="-120"/>
              </a:rPr>
              <a:t>7. Selvbevidst AI</a:t>
            </a:r>
            <a:endParaRPr lang="en-US" sz="1600" dirty="0"/>
          </a:p>
          <a:p>
            <a:pPr>
              <a:lnSpc>
                <a:spcPct val="105000"/>
              </a:lnSpc>
            </a:pPr>
            <a:endParaRPr lang="en-US" sz="1600" dirty="0"/>
          </a:p>
        </p:txBody>
      </p:sp>
      <p:sp>
        <p:nvSpPr>
          <p:cNvPr id="7" name="Text 5"/>
          <p:cNvSpPr/>
          <p:nvPr/>
        </p:nvSpPr>
        <p:spPr>
          <a:xfrm>
            <a:off x="1691640" y="3647999"/>
            <a:ext cx="5657850" cy="720090"/>
          </a:xfrm>
          <a:prstGeom prst="rect">
            <a:avLst/>
          </a:prstGeom>
          <a:noFill/>
          <a:ln/>
        </p:spPr>
        <p:txBody>
          <a:bodyPr wrap="square" lIns="0" tIns="0" rIns="0" bIns="0" rtlCol="0" anchor="ctr">
            <a:noAutofit/>
          </a:bodyPr>
          <a:lstStyle/>
          <a:p>
            <a:r>
              <a:rPr lang="en-US" sz="1600" dirty="0">
                <a:solidFill>
                  <a:srgbClr val="111111"/>
                </a:solidFill>
                <a:latin typeface="Arial" pitchFamily="34" charset="0"/>
                <a:ea typeface="Arial" pitchFamily="34" charset="-122"/>
                <a:cs typeface="Arial" pitchFamily="34" charset="-120"/>
              </a:rPr>
              <a:t>4-5 matcher 1 (Smal AI)</a:t>
            </a:r>
            <a:endParaRPr lang="en-US" sz="1600" dirty="0"/>
          </a:p>
          <a:p>
            <a:r>
              <a:rPr lang="en-US" sz="1600" dirty="0">
                <a:solidFill>
                  <a:srgbClr val="111111"/>
                </a:solidFill>
                <a:latin typeface="Arial" pitchFamily="34" charset="0"/>
                <a:ea typeface="Arial" pitchFamily="34" charset="-122"/>
                <a:cs typeface="Arial" pitchFamily="34" charset="-120"/>
              </a:rPr>
              <a:t>6-7 matcher 2 (AGI)</a:t>
            </a:r>
            <a:endParaRPr lang="en-US" sz="1600" dirty="0"/>
          </a:p>
          <a:p>
            <a:r>
              <a:rPr lang="en-US" sz="1600" dirty="0">
                <a:solidFill>
                  <a:srgbClr val="111111"/>
                </a:solidFill>
                <a:latin typeface="Arial" pitchFamily="34" charset="0"/>
                <a:ea typeface="Arial" pitchFamily="34" charset="-122"/>
                <a:cs typeface="Arial" pitchFamily="34" charset="-120"/>
              </a:rPr>
              <a:t>3 er den teoretiske horisont</a:t>
            </a:r>
            <a:endParaRPr lang="en-US" sz="1600" dirty="0"/>
          </a:p>
          <a:p>
            <a:r>
              <a:rPr lang="en-US" sz="1600" dirty="0">
                <a:solidFill>
                  <a:srgbClr val="111111"/>
                </a:solidFill>
                <a:latin typeface="Arial" pitchFamily="34" charset="0"/>
                <a:ea typeface="Arial" pitchFamily="34" charset="-122"/>
                <a:cs typeface="Arial" pitchFamily="34" charset="-120"/>
              </a:rPr>
              <a:t>ChatGPT/LLM-er ligger mellem 1 og 2 - og mellem 4 og 5</a:t>
            </a:r>
            <a:endParaRPr lang="en-US" sz="1600" dirty="0"/>
          </a:p>
        </p:txBody>
      </p:sp>
      <p:sp>
        <p:nvSpPr>
          <p:cNvPr id="9" name="PlaceHolder 1"/>
          <p:cNvSpPr txBox="1">
            <a:spLocks/>
          </p:cNvSpPr>
          <p:nvPr/>
        </p:nvSpPr>
        <p:spPr>
          <a:xfrm>
            <a:off x="697770" y="711396"/>
            <a:ext cx="7885620" cy="826470"/>
          </a:xfrm>
          <a:prstGeom prst="rect">
            <a:avLst/>
          </a:prstGeom>
          <a:noFill/>
          <a:ln w="0">
            <a:noFill/>
          </a:ln>
        </p:spPr>
        <p:txBody>
          <a:bodyPr spcFirstLastPara="1" wrap="square" lIns="68580" tIns="34290" rIns="68580" bIns="3429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a-DK" sz="3000" b="1" i="1" dirty="0">
                <a:latin typeface="Proxima Nova Alt Rg"/>
              </a:rPr>
              <a:t>Opsamling – to spor, syv typer</a:t>
            </a:r>
            <a:endParaRPr lang="da-DK" sz="3000" dirty="0"/>
          </a:p>
        </p:txBody>
      </p:sp>
    </p:spTree>
    <p:extLst>
      <p:ext uri="{BB962C8B-B14F-4D97-AF65-F5344CB8AC3E}">
        <p14:creationId xmlns:p14="http://schemas.microsoft.com/office/powerpoint/2010/main" val="17777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633C29-E4B4-5A42-8899-30A7F2B5E286}"/>
              </a:ext>
            </a:extLst>
          </p:cNvPr>
          <p:cNvSpPr>
            <a:spLocks noGrp="1"/>
          </p:cNvSpPr>
          <p:nvPr>
            <p:ph type="ctrTitle"/>
          </p:nvPr>
        </p:nvSpPr>
        <p:spPr>
          <a:xfrm>
            <a:off x="1164957" y="540690"/>
            <a:ext cx="6829800" cy="792600"/>
          </a:xfrm>
        </p:spPr>
        <p:txBody>
          <a:bodyPr/>
          <a:lstStyle/>
          <a:p>
            <a:r>
              <a:rPr lang="da-DK" dirty="0"/>
              <a:t>Resten af dagen i dag</a:t>
            </a:r>
          </a:p>
        </p:txBody>
      </p:sp>
      <p:sp>
        <p:nvSpPr>
          <p:cNvPr id="4" name="Pladsholder til indhold 2">
            <a:extLst>
              <a:ext uri="{FF2B5EF4-FFF2-40B4-BE49-F238E27FC236}">
                <a16:creationId xmlns:a16="http://schemas.microsoft.com/office/drawing/2014/main" id="{4F7E25E1-D7A4-21B3-9B7A-B4336618C57D}"/>
              </a:ext>
            </a:extLst>
          </p:cNvPr>
          <p:cNvSpPr txBox="1">
            <a:spLocks/>
          </p:cNvSpPr>
          <p:nvPr/>
        </p:nvSpPr>
        <p:spPr>
          <a:xfrm>
            <a:off x="1299503" y="1478341"/>
            <a:ext cx="4222881" cy="20459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a:spcAft>
                <a:spcPts val="600"/>
              </a:spcAft>
              <a:buFont typeface="Arial" panose="020B0604020202020204" pitchFamily="34" charset="0"/>
              <a:buChar char="•"/>
            </a:pPr>
            <a:r>
              <a:rPr lang="da-DK" sz="1600" dirty="0"/>
              <a:t>Billeder</a:t>
            </a:r>
          </a:p>
          <a:p>
            <a:pPr marL="342900">
              <a:spcAft>
                <a:spcPts val="600"/>
              </a:spcAft>
              <a:buFont typeface="Arial" panose="020B0604020202020204" pitchFamily="34" charset="0"/>
              <a:buChar char="•"/>
            </a:pPr>
            <a:r>
              <a:rPr lang="da-DK" sz="1600" dirty="0"/>
              <a:t>Lyd</a:t>
            </a:r>
          </a:p>
          <a:p>
            <a:pPr marL="342900">
              <a:spcAft>
                <a:spcPts val="600"/>
              </a:spcAft>
              <a:buFont typeface="Arial" panose="020B0604020202020204" pitchFamily="34" charset="0"/>
              <a:buChar char="•"/>
            </a:pPr>
            <a:r>
              <a:rPr lang="da-DK" sz="1600" dirty="0" err="1"/>
              <a:t>AI’ens</a:t>
            </a:r>
            <a:r>
              <a:rPr lang="da-DK" sz="1600" dirty="0"/>
              <a:t> bevægelige dele</a:t>
            </a:r>
          </a:p>
          <a:p>
            <a:pPr marL="800100" lvl="1" algn="l">
              <a:spcAft>
                <a:spcPts val="600"/>
              </a:spcAft>
              <a:buFont typeface="Arial" panose="020B0604020202020204" pitchFamily="34" charset="0"/>
              <a:buChar char="•"/>
            </a:pPr>
            <a:r>
              <a:rPr lang="da-DK" sz="1600" dirty="0" err="1"/>
              <a:t>Maskinelæring</a:t>
            </a:r>
            <a:endParaRPr lang="da-DK" sz="1600" dirty="0"/>
          </a:p>
          <a:p>
            <a:pPr marL="800100" lvl="1" algn="l">
              <a:spcAft>
                <a:spcPts val="600"/>
              </a:spcAft>
              <a:buFont typeface="Arial" panose="020B0604020202020204" pitchFamily="34" charset="0"/>
              <a:buChar char="•"/>
            </a:pPr>
            <a:r>
              <a:rPr lang="da-DK" sz="1600" dirty="0"/>
              <a:t>Neurale netværk</a:t>
            </a:r>
          </a:p>
          <a:p>
            <a:pPr marL="800100" lvl="1" algn="l">
              <a:spcAft>
                <a:spcPts val="600"/>
              </a:spcAft>
              <a:buFont typeface="Arial" panose="020B0604020202020204" pitchFamily="34" charset="0"/>
              <a:buChar char="•"/>
            </a:pPr>
            <a:r>
              <a:rPr lang="da-DK" sz="1600" dirty="0"/>
              <a:t>Deep </a:t>
            </a:r>
            <a:r>
              <a:rPr lang="da-DK" sz="1600" dirty="0" err="1"/>
              <a:t>learn</a:t>
            </a:r>
            <a:endParaRPr lang="da-DK" sz="1600" dirty="0"/>
          </a:p>
          <a:p>
            <a:pPr marL="800100" lvl="1" algn="l">
              <a:spcAft>
                <a:spcPts val="600"/>
              </a:spcAft>
              <a:buFont typeface="Arial" panose="020B0604020202020204" pitchFamily="34" charset="0"/>
              <a:buChar char="•"/>
            </a:pPr>
            <a:r>
              <a:rPr lang="da-DK" sz="1600" dirty="0"/>
              <a:t>Generativ AI</a:t>
            </a:r>
          </a:p>
          <a:p>
            <a:pPr marL="342900">
              <a:spcAft>
                <a:spcPts val="600"/>
              </a:spcAft>
              <a:buFont typeface="Arial" panose="020B0604020202020204" pitchFamily="34" charset="0"/>
              <a:buChar char="•"/>
            </a:pPr>
            <a:endParaRPr lang="da-DK" sz="1350" dirty="0"/>
          </a:p>
          <a:p>
            <a:pPr marL="0" indent="0">
              <a:spcAft>
                <a:spcPts val="600"/>
              </a:spcAft>
            </a:pPr>
            <a:endParaRPr lang="da-DK" sz="1350" dirty="0"/>
          </a:p>
          <a:p>
            <a:pPr marL="0" indent="0">
              <a:spcAft>
                <a:spcPts val="600"/>
              </a:spcAft>
            </a:pPr>
            <a:endParaRPr lang="da-DK" sz="1350" dirty="0"/>
          </a:p>
        </p:txBody>
      </p:sp>
    </p:spTree>
    <p:extLst>
      <p:ext uri="{BB962C8B-B14F-4D97-AF65-F5344CB8AC3E}">
        <p14:creationId xmlns:p14="http://schemas.microsoft.com/office/powerpoint/2010/main" val="2682681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633C29-E4B4-5A42-8899-30A7F2B5E286}"/>
              </a:ext>
            </a:extLst>
          </p:cNvPr>
          <p:cNvSpPr>
            <a:spLocks noGrp="1"/>
          </p:cNvSpPr>
          <p:nvPr>
            <p:ph type="ctrTitle"/>
          </p:nvPr>
        </p:nvSpPr>
        <p:spPr>
          <a:xfrm>
            <a:off x="1052416" y="1082041"/>
            <a:ext cx="6829800" cy="792600"/>
          </a:xfrm>
        </p:spPr>
        <p:txBody>
          <a:bodyPr/>
          <a:lstStyle/>
          <a:p>
            <a:r>
              <a:rPr lang="da-DK" dirty="0"/>
              <a:t>Hvorfor skal vi det?</a:t>
            </a:r>
            <a:br>
              <a:rPr lang="da-DK" dirty="0"/>
            </a:br>
            <a:r>
              <a:rPr lang="da-DK" dirty="0"/>
              <a:t>- og hvordan?</a:t>
            </a:r>
          </a:p>
        </p:txBody>
      </p:sp>
      <p:sp>
        <p:nvSpPr>
          <p:cNvPr id="4" name="Pladsholder til indhold 2">
            <a:extLst>
              <a:ext uri="{FF2B5EF4-FFF2-40B4-BE49-F238E27FC236}">
                <a16:creationId xmlns:a16="http://schemas.microsoft.com/office/drawing/2014/main" id="{4F7E25E1-D7A4-21B3-9B7A-B4336618C57D}"/>
              </a:ext>
            </a:extLst>
          </p:cNvPr>
          <p:cNvSpPr txBox="1">
            <a:spLocks/>
          </p:cNvSpPr>
          <p:nvPr/>
        </p:nvSpPr>
        <p:spPr>
          <a:xfrm>
            <a:off x="1052416" y="1984778"/>
            <a:ext cx="6479931" cy="20459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r>
              <a:rPr lang="da-DK" b="1" dirty="0"/>
              <a:t>Hvorfor?</a:t>
            </a:r>
            <a:endParaRPr lang="da-DK" dirty="0"/>
          </a:p>
          <a:p>
            <a:pPr>
              <a:buFont typeface="Arial" panose="020B0604020202020204" pitchFamily="34" charset="0"/>
              <a:buChar char="•"/>
            </a:pPr>
            <a:r>
              <a:rPr lang="da-DK" dirty="0"/>
              <a:t>AI skaber billeder, lyd og indhold vi møder hver dag </a:t>
            </a:r>
          </a:p>
          <a:p>
            <a:pPr>
              <a:buFont typeface="Arial" panose="020B0604020202020204" pitchFamily="34" charset="0"/>
              <a:buChar char="•"/>
            </a:pPr>
            <a:r>
              <a:rPr lang="da-DK" dirty="0"/>
              <a:t>Påvirker hvordan vi kommunikerer og forstår verden </a:t>
            </a:r>
          </a:p>
          <a:p>
            <a:pPr>
              <a:buFont typeface="Arial" panose="020B0604020202020204" pitchFamily="34" charset="0"/>
              <a:buChar char="•"/>
            </a:pPr>
            <a:r>
              <a:rPr lang="da-DK" dirty="0"/>
              <a:t>Kræver at vi kan gennemskue og bruge det rigtigt</a:t>
            </a:r>
          </a:p>
        </p:txBody>
      </p:sp>
    </p:spTree>
    <p:extLst>
      <p:ext uri="{BB962C8B-B14F-4D97-AF65-F5344CB8AC3E}">
        <p14:creationId xmlns:p14="http://schemas.microsoft.com/office/powerpoint/2010/main" val="2590431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Billeder</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Opgaven:</a:t>
            </a:r>
          </a:p>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Skab et billede baseret på tre ting, der betyder noget for jer</a:t>
            </a: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Drøft opgaven</a:t>
            </a:r>
          </a:p>
          <a:p>
            <a:pPr marL="825500" lvl="1" algn="l"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Brug 10-15 minutter på at tale med jeres sidemakker om, hvordan I vil gribe opgaven an</a:t>
            </a: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Justér og forbedr</a:t>
            </a:r>
          </a:p>
          <a:p>
            <a:pPr marL="825500" lvl="1" algn="l"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Foretag minimum tre tilpasninger eller </a:t>
            </a:r>
            <a:r>
              <a:rPr lang="da-DK" altLang="da-DK" dirty="0" err="1">
                <a:solidFill>
                  <a:srgbClr val="00454E"/>
                </a:solidFill>
                <a:latin typeface="Arial" panose="020B0604020202020204" pitchFamily="34" charset="0"/>
              </a:rPr>
              <a:t>korrigeringer</a:t>
            </a:r>
            <a:r>
              <a:rPr lang="da-DK" altLang="da-DK" dirty="0">
                <a:solidFill>
                  <a:srgbClr val="00454E"/>
                </a:solidFill>
                <a:latin typeface="Arial" panose="020B0604020202020204" pitchFamily="34" charset="0"/>
              </a:rPr>
              <a:t> af jeres billede undervejs</a:t>
            </a: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1</a:t>
            </a:r>
          </a:p>
        </p:txBody>
      </p:sp>
    </p:spTree>
    <p:extLst>
      <p:ext uri="{BB962C8B-B14F-4D97-AF65-F5344CB8AC3E}">
        <p14:creationId xmlns:p14="http://schemas.microsoft.com/office/powerpoint/2010/main" val="3499740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Billeder</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229231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25400" indent="0" eaLnBrk="0" fontAlgn="base" hangingPunct="0">
              <a:spcBef>
                <a:spcPct val="0"/>
              </a:spcBef>
              <a:spcAft>
                <a:spcPct val="0"/>
              </a:spcAft>
              <a:buClrTx/>
              <a:buSzTx/>
            </a:pPr>
            <a:r>
              <a:rPr lang="da-DK" altLang="da-DK" b="1" dirty="0">
                <a:solidFill>
                  <a:srgbClr val="00454E"/>
                </a:solidFill>
                <a:latin typeface="Arial" panose="020B0604020202020204" pitchFamily="34" charset="0"/>
              </a:rPr>
              <a:t>Præsentér jeres billede</a:t>
            </a:r>
          </a:p>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Vis billedet for jeres sidemakker og forklar kort, hvad det forestiller</a:t>
            </a:r>
          </a:p>
          <a:p>
            <a:pPr marL="25400" indent="0" eaLnBrk="0" fontAlgn="base" hangingPunct="0">
              <a:spcBef>
                <a:spcPct val="0"/>
              </a:spcBef>
              <a:spcAft>
                <a:spcPct val="0"/>
              </a:spcAft>
              <a:buClrTx/>
              <a:buSzTx/>
            </a:pPr>
            <a:r>
              <a:rPr lang="da-DK" altLang="da-DK" b="1" dirty="0">
                <a:solidFill>
                  <a:srgbClr val="00454E"/>
                </a:solidFill>
                <a:latin typeface="Arial" panose="020B0604020202020204" pitchFamily="34" charset="0"/>
              </a:rPr>
              <a:t>Refleksion over processen</a:t>
            </a:r>
          </a:p>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Hvordan kom I frem til de tre ting, I valgte?</a:t>
            </a:r>
          </a:p>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Hvad skrev I for at generere billedet?</a:t>
            </a:r>
          </a:p>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Hvad skete der undervejs i processen?</a:t>
            </a: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2</a:t>
            </a:r>
          </a:p>
        </p:txBody>
      </p:sp>
    </p:spTree>
    <p:extLst>
      <p:ext uri="{BB962C8B-B14F-4D97-AF65-F5344CB8AC3E}">
        <p14:creationId xmlns:p14="http://schemas.microsoft.com/office/powerpoint/2010/main" val="2691840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Billeder</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229231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virkede?</a:t>
            </a:r>
          </a:p>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var udfordrende?</a:t>
            </a:r>
          </a:p>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vil i gøre anderledes?</a:t>
            </a:r>
          </a:p>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kan vi tage med videre?</a:t>
            </a:r>
          </a:p>
          <a:p>
            <a:pPr marL="311150" indent="-285750" eaLnBrk="0" fontAlgn="base" hangingPunct="0">
              <a:spcBef>
                <a:spcPct val="0"/>
              </a:spcBef>
              <a:spcAft>
                <a:spcPct val="0"/>
              </a:spcAft>
              <a:buClrTx/>
              <a:buSzTx/>
              <a:buFont typeface="Arial" panose="020B0604020202020204" pitchFamily="34" charset="0"/>
              <a:buChar char="•"/>
            </a:pP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3</a:t>
            </a:r>
          </a:p>
        </p:txBody>
      </p:sp>
    </p:spTree>
    <p:extLst>
      <p:ext uri="{BB962C8B-B14F-4D97-AF65-F5344CB8AC3E}">
        <p14:creationId xmlns:p14="http://schemas.microsoft.com/office/powerpoint/2010/main" val="4054633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B4851A-57A5-0631-1693-A1AB252E2147}"/>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044B0C8E-4422-807B-8006-0B2F097C895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33</a:t>
            </a:fld>
            <a:endParaRPr lang="da-DK"/>
          </a:p>
        </p:txBody>
      </p:sp>
      <p:pic>
        <p:nvPicPr>
          <p:cNvPr id="5" name="Billede 4">
            <a:extLst>
              <a:ext uri="{FF2B5EF4-FFF2-40B4-BE49-F238E27FC236}">
                <a16:creationId xmlns:a16="http://schemas.microsoft.com/office/drawing/2014/main" id="{F506BDE2-E582-E10B-2B7B-AA757CB21A8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8458" y="0"/>
            <a:ext cx="6427083" cy="5143500"/>
          </a:xfrm>
          <a:prstGeom prst="rect">
            <a:avLst/>
          </a:prstGeom>
        </p:spPr>
      </p:pic>
    </p:spTree>
    <p:extLst>
      <p:ext uri="{BB962C8B-B14F-4D97-AF65-F5344CB8AC3E}">
        <p14:creationId xmlns:p14="http://schemas.microsoft.com/office/powerpoint/2010/main" val="3698902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28C2-BE6F-1E0F-828B-A856E1A0321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31A92E-DB9E-3C05-6C97-1646E4707628}"/>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38987655-8576-C5FA-F4C5-6F1A8D3A5E3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34</a:t>
            </a:fld>
            <a:endParaRPr lang="da-DK"/>
          </a:p>
        </p:txBody>
      </p:sp>
      <p:pic>
        <p:nvPicPr>
          <p:cNvPr id="5" name="Billede 4">
            <a:extLst>
              <a:ext uri="{FF2B5EF4-FFF2-40B4-BE49-F238E27FC236}">
                <a16:creationId xmlns:a16="http://schemas.microsoft.com/office/drawing/2014/main" id="{4B2942D2-0EE5-4E6A-F666-6BAD38CBD8B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4375" y="0"/>
            <a:ext cx="7715250" cy="5143500"/>
          </a:xfrm>
          <a:prstGeom prst="rect">
            <a:avLst/>
          </a:prstGeom>
        </p:spPr>
      </p:pic>
    </p:spTree>
    <p:extLst>
      <p:ext uri="{BB962C8B-B14F-4D97-AF65-F5344CB8AC3E}">
        <p14:creationId xmlns:p14="http://schemas.microsoft.com/office/powerpoint/2010/main" val="1906704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5DB91-5046-120E-684A-DA8AF2A3E3D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D0B133-E14F-728B-3555-E43E2E756F1C}"/>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3DCBC955-9DAE-36D7-79E3-CCFBEFD6805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35</a:t>
            </a:fld>
            <a:endParaRPr lang="da-DK"/>
          </a:p>
        </p:txBody>
      </p:sp>
      <p:pic>
        <p:nvPicPr>
          <p:cNvPr id="5" name="Billede 4">
            <a:extLst>
              <a:ext uri="{FF2B5EF4-FFF2-40B4-BE49-F238E27FC236}">
                <a16:creationId xmlns:a16="http://schemas.microsoft.com/office/drawing/2014/main" id="{B437C62C-E034-0F83-94B7-29B7D5FCA75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4375" y="0"/>
            <a:ext cx="7715250" cy="5143500"/>
          </a:xfrm>
          <a:prstGeom prst="rect">
            <a:avLst/>
          </a:prstGeom>
        </p:spPr>
      </p:pic>
    </p:spTree>
    <p:extLst>
      <p:ext uri="{BB962C8B-B14F-4D97-AF65-F5344CB8AC3E}">
        <p14:creationId xmlns:p14="http://schemas.microsoft.com/office/powerpoint/2010/main" val="3635675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13ACC-8875-0E72-6883-6C2B01B535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6427FB5-7760-5749-6DCC-07BFF1AD5AD8}"/>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AB2F7B61-0497-522D-FB07-02A4F223668E}"/>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36</a:t>
            </a:fld>
            <a:endParaRPr lang="da-DK"/>
          </a:p>
        </p:txBody>
      </p:sp>
      <p:pic>
        <p:nvPicPr>
          <p:cNvPr id="5" name="Billede 4">
            <a:extLst>
              <a:ext uri="{FF2B5EF4-FFF2-40B4-BE49-F238E27FC236}">
                <a16:creationId xmlns:a16="http://schemas.microsoft.com/office/drawing/2014/main" id="{FB10A1CC-3DB2-2E13-8084-90D134B501A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58458" y="0"/>
            <a:ext cx="6427083" cy="5143500"/>
          </a:xfrm>
          <a:prstGeom prst="rect">
            <a:avLst/>
          </a:prstGeom>
        </p:spPr>
      </p:pic>
    </p:spTree>
    <p:extLst>
      <p:ext uri="{BB962C8B-B14F-4D97-AF65-F5344CB8AC3E}">
        <p14:creationId xmlns:p14="http://schemas.microsoft.com/office/powerpoint/2010/main" val="1261733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08C5-5715-AB39-DC7A-34F288B9DF0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684F2FA-07A3-3B1B-6F62-AD4E25DE3A7D}"/>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E20B0FF3-275A-D6FE-C545-84007C78B02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37</a:t>
            </a:fld>
            <a:endParaRPr lang="da-DK"/>
          </a:p>
        </p:txBody>
      </p:sp>
      <p:pic>
        <p:nvPicPr>
          <p:cNvPr id="5" name="Billede 4">
            <a:extLst>
              <a:ext uri="{FF2B5EF4-FFF2-40B4-BE49-F238E27FC236}">
                <a16:creationId xmlns:a16="http://schemas.microsoft.com/office/drawing/2014/main" id="{609427C0-AF92-1591-DEEC-729F08CA165F}"/>
              </a:ext>
            </a:extLst>
          </p:cNvPr>
          <p:cNvPicPr>
            <a:picLocks noChangeAspect="1"/>
          </p:cNvPicPr>
          <p:nvPr/>
        </p:nvPicPr>
        <p:blipFill>
          <a:blip r:embed="rId2"/>
          <a:stretch>
            <a:fillRect/>
          </a:stretch>
        </p:blipFill>
        <p:spPr>
          <a:xfrm>
            <a:off x="1143000" y="0"/>
            <a:ext cx="6858000" cy="5143500"/>
          </a:xfrm>
          <a:prstGeom prst="rect">
            <a:avLst/>
          </a:prstGeom>
        </p:spPr>
      </p:pic>
    </p:spTree>
    <p:extLst>
      <p:ext uri="{BB962C8B-B14F-4D97-AF65-F5344CB8AC3E}">
        <p14:creationId xmlns:p14="http://schemas.microsoft.com/office/powerpoint/2010/main" val="2684516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0E8B4-478A-1A12-08C5-BAA651E1DD5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173922A-7714-14D2-2577-5595C2EA7BAF}"/>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FB64A67C-D5A2-B8D1-B374-F5E7B27D580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38</a:t>
            </a:fld>
            <a:endParaRPr lang="da-DK"/>
          </a:p>
        </p:txBody>
      </p:sp>
      <p:graphicFrame>
        <p:nvGraphicFramePr>
          <p:cNvPr id="4" name="Objekt 3">
            <a:extLst>
              <a:ext uri="{FF2B5EF4-FFF2-40B4-BE49-F238E27FC236}">
                <a16:creationId xmlns:a16="http://schemas.microsoft.com/office/drawing/2014/main" id="{F07AD4F6-8792-654F-81B2-78B4E70C8154}"/>
              </a:ext>
            </a:extLst>
          </p:cNvPr>
          <p:cNvGraphicFramePr>
            <a:graphicFrameLocks noChangeAspect="1"/>
          </p:cNvGraphicFramePr>
          <p:nvPr>
            <p:extLst>
              <p:ext uri="{D42A27DB-BD31-4B8C-83A1-F6EECF244321}">
                <p14:modId xmlns:p14="http://schemas.microsoft.com/office/powerpoint/2010/main" val="1245007726"/>
              </p:ext>
            </p:extLst>
          </p:nvPr>
        </p:nvGraphicFramePr>
        <p:xfrm>
          <a:off x="760650" y="336592"/>
          <a:ext cx="6415087" cy="4533900"/>
        </p:xfrm>
        <a:graphic>
          <a:graphicData uri="http://schemas.openxmlformats.org/presentationml/2006/ole">
            <mc:AlternateContent xmlns:mc="http://schemas.openxmlformats.org/markup-compatibility/2006">
              <mc:Choice xmlns:v="urn:schemas-microsoft-com:vml" Requires="v">
                <p:oleObj name="Acrobat Document" r:id="rId2" imgW="6415576" imgH="4533576" progId="Acrobat.Document.DC">
                  <p:embed/>
                </p:oleObj>
              </mc:Choice>
              <mc:Fallback>
                <p:oleObj name="Acrobat Document" r:id="rId2" imgW="6415576" imgH="4533576" progId="Acrobat.Document.DC">
                  <p:embed/>
                  <p:pic>
                    <p:nvPicPr>
                      <p:cNvPr id="4" name="Objekt 3">
                        <a:extLst>
                          <a:ext uri="{FF2B5EF4-FFF2-40B4-BE49-F238E27FC236}">
                            <a16:creationId xmlns:a16="http://schemas.microsoft.com/office/drawing/2014/main" id="{F07AD4F6-8792-654F-81B2-78B4E70C8154}"/>
                          </a:ext>
                        </a:extLst>
                      </p:cNvPr>
                      <p:cNvPicPr/>
                      <p:nvPr/>
                    </p:nvPicPr>
                    <p:blipFill>
                      <a:blip r:embed="rId3"/>
                      <a:stretch>
                        <a:fillRect/>
                      </a:stretch>
                    </p:blipFill>
                    <p:spPr>
                      <a:xfrm>
                        <a:off x="760650" y="336592"/>
                        <a:ext cx="6415087" cy="4533900"/>
                      </a:xfrm>
                      <a:prstGeom prst="rect">
                        <a:avLst/>
                      </a:prstGeom>
                    </p:spPr>
                  </p:pic>
                </p:oleObj>
              </mc:Fallback>
            </mc:AlternateContent>
          </a:graphicData>
        </a:graphic>
      </p:graphicFrame>
    </p:spTree>
    <p:extLst>
      <p:ext uri="{BB962C8B-B14F-4D97-AF65-F5344CB8AC3E}">
        <p14:creationId xmlns:p14="http://schemas.microsoft.com/office/powerpoint/2010/main" val="1263182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CB00-0365-5F9B-D8CB-A5415F9C742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461A1CC-7A03-6773-4DBA-CDBB76E22789}"/>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84DC8191-DC67-FDD7-3A86-5EB58A40DC5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39</a:t>
            </a:fld>
            <a:endParaRPr lang="da-DK"/>
          </a:p>
        </p:txBody>
      </p:sp>
      <p:pic>
        <p:nvPicPr>
          <p:cNvPr id="5" name="Billede 4">
            <a:extLst>
              <a:ext uri="{FF2B5EF4-FFF2-40B4-BE49-F238E27FC236}">
                <a16:creationId xmlns:a16="http://schemas.microsoft.com/office/drawing/2014/main" id="{1FD5F4E0-B188-0C07-E34A-71BABF8A24A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4375" y="0"/>
            <a:ext cx="7715250" cy="5143500"/>
          </a:xfrm>
          <a:prstGeom prst="rect">
            <a:avLst/>
          </a:prstGeom>
        </p:spPr>
      </p:pic>
    </p:spTree>
    <p:extLst>
      <p:ext uri="{BB962C8B-B14F-4D97-AF65-F5344CB8AC3E}">
        <p14:creationId xmlns:p14="http://schemas.microsoft.com/office/powerpoint/2010/main" val="24639254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B873-0BDD-917C-F5F3-48A4B47274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8741434-C457-EB2B-908F-A5D3085E4925}"/>
              </a:ext>
            </a:extLst>
          </p:cNvPr>
          <p:cNvSpPr>
            <a:spLocks noGrp="1"/>
          </p:cNvSpPr>
          <p:nvPr>
            <p:ph type="title"/>
          </p:nvPr>
        </p:nvSpPr>
        <p:spPr/>
        <p:txBody>
          <a:bodyPr/>
          <a:lstStyle/>
          <a:p>
            <a:endParaRPr lang="da-DK"/>
          </a:p>
        </p:txBody>
      </p:sp>
      <p:sp>
        <p:nvSpPr>
          <p:cNvPr id="3" name="Pladsholder til slidenummer 2">
            <a:extLst>
              <a:ext uri="{FF2B5EF4-FFF2-40B4-BE49-F238E27FC236}">
                <a16:creationId xmlns:a16="http://schemas.microsoft.com/office/drawing/2014/main" id="{9163C5FA-82C5-C25D-B97E-50CC73967E3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da-DK" smtClean="0"/>
              <a:t>40</a:t>
            </a:fld>
            <a:endParaRPr lang="da-DK"/>
          </a:p>
        </p:txBody>
      </p:sp>
      <p:pic>
        <p:nvPicPr>
          <p:cNvPr id="5" name="Billede 4">
            <a:extLst>
              <a:ext uri="{FF2B5EF4-FFF2-40B4-BE49-F238E27FC236}">
                <a16:creationId xmlns:a16="http://schemas.microsoft.com/office/drawing/2014/main" id="{097ACE86-A726-69F5-AB43-C053363F827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14375" y="0"/>
            <a:ext cx="7715250" cy="5143500"/>
          </a:xfrm>
          <a:prstGeom prst="rect">
            <a:avLst/>
          </a:prstGeom>
        </p:spPr>
      </p:pic>
    </p:spTree>
    <p:extLst>
      <p:ext uri="{BB962C8B-B14F-4D97-AF65-F5344CB8AC3E}">
        <p14:creationId xmlns:p14="http://schemas.microsoft.com/office/powerpoint/2010/main" val="1789369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p:cNvSpPr>
            <a:spLocks noGrp="1"/>
          </p:cNvSpPr>
          <p:nvPr>
            <p:ph type="sldNum" sz="quarter" idx="11"/>
          </p:nvPr>
        </p:nvSpPr>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41</a:t>
            </a:fld>
            <a:endParaRPr lang="da-DK" sz="900" b="1" kern="1200" dirty="0">
              <a:solidFill>
                <a:srgbClr val="00454E"/>
              </a:solidFill>
              <a:ea typeface="+mn-ea"/>
              <a:cs typeface="Times New Roman"/>
            </a:endParaRPr>
          </a:p>
        </p:txBody>
      </p:sp>
      <p:sp>
        <p:nvSpPr>
          <p:cNvPr id="3" name="Pladsholder til indhold 2"/>
          <p:cNvSpPr>
            <a:spLocks noGrp="1"/>
          </p:cNvSpPr>
          <p:nvPr>
            <p:ph idx="1"/>
          </p:nvPr>
        </p:nvSpPr>
        <p:spPr>
          <a:xfrm>
            <a:off x="5668176" y="1355530"/>
            <a:ext cx="4222881" cy="3512102"/>
          </a:xfrm>
        </p:spPr>
        <p:txBody>
          <a:bodyPr>
            <a:normAutofit/>
          </a:bodyPr>
          <a:lstStyle/>
          <a:p>
            <a:pPr marL="342900">
              <a:spcAft>
                <a:spcPts val="600"/>
              </a:spcAft>
            </a:pPr>
            <a:r>
              <a:rPr lang="da-DK" sz="1350" dirty="0"/>
              <a:t>Billeder</a:t>
            </a:r>
          </a:p>
          <a:p>
            <a:pPr marL="342900">
              <a:spcAft>
                <a:spcPts val="600"/>
              </a:spcAft>
            </a:pPr>
            <a:r>
              <a:rPr lang="da-DK" sz="1350" dirty="0"/>
              <a:t>Tekst</a:t>
            </a:r>
          </a:p>
          <a:p>
            <a:pPr marL="342900">
              <a:spcAft>
                <a:spcPts val="600"/>
              </a:spcAft>
            </a:pPr>
            <a:r>
              <a:rPr lang="da-DK" sz="1350" dirty="0"/>
              <a:t>Lyd</a:t>
            </a:r>
          </a:p>
          <a:p>
            <a:pPr marL="342900">
              <a:spcAft>
                <a:spcPts val="600"/>
              </a:spcAft>
            </a:pPr>
            <a:r>
              <a:rPr lang="da-DK" sz="1350" dirty="0"/>
              <a:t>Video</a:t>
            </a:r>
          </a:p>
          <a:p>
            <a:pPr marL="342900">
              <a:spcAft>
                <a:spcPts val="600"/>
              </a:spcAft>
            </a:pPr>
            <a:r>
              <a:rPr lang="da-DK" sz="1350" dirty="0"/>
              <a:t>Kode (Vibe </a:t>
            </a:r>
            <a:r>
              <a:rPr lang="da-DK" sz="1350" dirty="0" err="1"/>
              <a:t>coding</a:t>
            </a:r>
            <a:r>
              <a:rPr lang="da-DK" sz="1350" dirty="0"/>
              <a:t>)</a:t>
            </a:r>
          </a:p>
          <a:p>
            <a:pPr marL="342900">
              <a:spcAft>
                <a:spcPts val="600"/>
              </a:spcAft>
            </a:pPr>
            <a:r>
              <a:rPr lang="da-DK" sz="1350" dirty="0"/>
              <a:t>Software</a:t>
            </a:r>
          </a:p>
          <a:p>
            <a:pPr marL="342900">
              <a:spcAft>
                <a:spcPts val="600"/>
              </a:spcAft>
            </a:pPr>
            <a:r>
              <a:rPr lang="da-DK" sz="1350" dirty="0"/>
              <a:t>Agenter</a:t>
            </a:r>
          </a:p>
          <a:p>
            <a:pPr marL="342900">
              <a:spcAft>
                <a:spcPts val="600"/>
              </a:spcAft>
            </a:pPr>
            <a:r>
              <a:rPr lang="da-DK" sz="1350" dirty="0"/>
              <a:t>Computer Vision</a:t>
            </a:r>
          </a:p>
          <a:p>
            <a:pPr marL="342900">
              <a:spcAft>
                <a:spcPts val="600"/>
              </a:spcAft>
            </a:pPr>
            <a:r>
              <a:rPr lang="da-DK" sz="1350" dirty="0"/>
              <a:t>Forbudt AI</a:t>
            </a:r>
          </a:p>
        </p:txBody>
      </p:sp>
      <p:sp>
        <p:nvSpPr>
          <p:cNvPr id="2" name="Titel 1"/>
          <p:cNvSpPr>
            <a:spLocks noGrp="1"/>
          </p:cNvSpPr>
          <p:nvPr>
            <p:ph type="title"/>
          </p:nvPr>
        </p:nvSpPr>
        <p:spPr>
          <a:xfrm>
            <a:off x="646176" y="361358"/>
            <a:ext cx="8014887" cy="994172"/>
          </a:xfrm>
        </p:spPr>
        <p:txBody>
          <a:bodyPr/>
          <a:lstStyle/>
          <a:p>
            <a:r>
              <a:rPr lang="da-DK" b="1" i="1" dirty="0"/>
              <a:t>Hvad kan AI?</a:t>
            </a:r>
          </a:p>
        </p:txBody>
      </p:sp>
      <p:pic>
        <p:nvPicPr>
          <p:cNvPr id="6" name="Billed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5551" y="1102996"/>
            <a:ext cx="5022000" cy="3348000"/>
          </a:xfrm>
          <a:prstGeom prst="rect">
            <a:avLst/>
          </a:prstGeom>
        </p:spPr>
      </p:pic>
    </p:spTree>
    <p:extLst>
      <p:ext uri="{BB962C8B-B14F-4D97-AF65-F5344CB8AC3E}">
        <p14:creationId xmlns:p14="http://schemas.microsoft.com/office/powerpoint/2010/main" val="1329737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804070" y="684176"/>
            <a:ext cx="8520600" cy="572700"/>
          </a:xfrm>
        </p:spPr>
        <p:txBody>
          <a:bodyPr/>
          <a:lstStyle/>
          <a:p>
            <a:r>
              <a:rPr lang="en-US" dirty="0" err="1"/>
              <a:t>Hvad</a:t>
            </a:r>
            <a:r>
              <a:rPr lang="en-US" dirty="0"/>
              <a:t> </a:t>
            </a:r>
            <a:r>
              <a:rPr lang="en-US" dirty="0" err="1"/>
              <a:t>kan</a:t>
            </a:r>
            <a:r>
              <a:rPr lang="en-US" dirty="0"/>
              <a:t> vi </a:t>
            </a:r>
            <a:r>
              <a:rPr lang="en-US" dirty="0" err="1"/>
              <a:t>så</a:t>
            </a:r>
            <a:r>
              <a:rPr lang="en-US" dirty="0"/>
              <a:t> </a:t>
            </a:r>
            <a:r>
              <a:rPr lang="en-US" dirty="0" err="1"/>
              <a:t>bruge</a:t>
            </a:r>
            <a:r>
              <a:rPr lang="en-US" dirty="0"/>
              <a:t> </a:t>
            </a:r>
            <a:r>
              <a:rPr lang="en-US" dirty="0" err="1"/>
              <a:t>det</a:t>
            </a:r>
            <a:r>
              <a:rPr lang="en-US" dirty="0"/>
              <a:t> </a:t>
            </a:r>
            <a:r>
              <a:rPr lang="en-US" dirty="0" err="1"/>
              <a:t>til</a:t>
            </a:r>
            <a:r>
              <a:rPr lang="en-US" dirty="0"/>
              <a:t>?</a:t>
            </a:r>
          </a:p>
        </p:txBody>
      </p:sp>
      <p:sp>
        <p:nvSpPr>
          <p:cNvPr id="3" name="Pladsholder til indhold 2"/>
          <p:cNvSpPr>
            <a:spLocks noGrp="1"/>
          </p:cNvSpPr>
          <p:nvPr>
            <p:ph idx="1"/>
          </p:nvPr>
        </p:nvSpPr>
        <p:spPr>
          <a:xfrm>
            <a:off x="1121020" y="1538032"/>
            <a:ext cx="7886700" cy="2979896"/>
          </a:xfrm>
        </p:spPr>
        <p:txBody>
          <a:bodyPr/>
          <a:lstStyle/>
          <a:p>
            <a:r>
              <a:rPr lang="en-US" dirty="0"/>
              <a:t>Dialog om AI </a:t>
            </a:r>
            <a:r>
              <a:rPr lang="en-US" dirty="0" err="1"/>
              <a:t>og</a:t>
            </a:r>
            <a:r>
              <a:rPr lang="en-US" dirty="0"/>
              <a:t> “</a:t>
            </a:r>
            <a:r>
              <a:rPr lang="en-US" dirty="0" err="1"/>
              <a:t>tværfaglig</a:t>
            </a:r>
            <a:r>
              <a:rPr lang="en-US" dirty="0"/>
              <a:t> </a:t>
            </a:r>
            <a:r>
              <a:rPr lang="en-US" dirty="0" err="1"/>
              <a:t>kunstig</a:t>
            </a:r>
            <a:r>
              <a:rPr lang="en-US" dirty="0"/>
              <a:t> </a:t>
            </a:r>
            <a:r>
              <a:rPr lang="en-US" dirty="0" err="1"/>
              <a:t>intelligens</a:t>
            </a:r>
            <a:r>
              <a:rPr lang="en-US" dirty="0"/>
              <a:t>”</a:t>
            </a:r>
          </a:p>
          <a:p>
            <a:endParaRPr lang="en-US" dirty="0"/>
          </a:p>
          <a:p>
            <a:r>
              <a:rPr lang="en-US" dirty="0"/>
              <a:t>Video </a:t>
            </a:r>
            <a:r>
              <a:rPr lang="en-US" dirty="0" err="1"/>
              <a:t>eksempel</a:t>
            </a:r>
            <a:endParaRPr lang="en-US" dirty="0"/>
          </a:p>
          <a:p>
            <a:endParaRPr lang="en-US" dirty="0"/>
          </a:p>
          <a:p>
            <a:r>
              <a:rPr lang="en-US" dirty="0" err="1"/>
              <a:t>Musik</a:t>
            </a:r>
            <a:r>
              <a:rPr lang="en-US" dirty="0"/>
              <a:t> </a:t>
            </a:r>
            <a:r>
              <a:rPr lang="en-US" dirty="0" err="1"/>
              <a:t>eksempel</a:t>
            </a:r>
            <a:endParaRPr lang="en-US" dirty="0"/>
          </a:p>
        </p:txBody>
      </p:sp>
      <p:sp>
        <p:nvSpPr>
          <p:cNvPr id="4" name="Pladsholder til slidenummer 3"/>
          <p:cNvSpPr>
            <a:spLocks noGrp="1"/>
          </p:cNvSpPr>
          <p:nvPr>
            <p:ph type="sldNum" sz="quarter" idx="11"/>
          </p:nvPr>
        </p:nvSpPr>
        <p:spPr/>
        <p:txBody>
          <a:bodyPr/>
          <a:lstStyle/>
          <a:p>
            <a:fld id="{5747CDE5-0717-48E4-9385-7C842E50026E}" type="slidenum">
              <a:rPr lang="da-DK" smtClean="0"/>
              <a:pPr/>
              <a:t>42</a:t>
            </a:fld>
            <a:endParaRPr lang="da-DK" dirty="0"/>
          </a:p>
        </p:txBody>
      </p:sp>
    </p:spTree>
    <p:extLst>
      <p:ext uri="{BB962C8B-B14F-4D97-AF65-F5344CB8AC3E}">
        <p14:creationId xmlns:p14="http://schemas.microsoft.com/office/powerpoint/2010/main" val="17990501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Musik</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123337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På første post-it skriver i </a:t>
            </a:r>
            <a:r>
              <a:rPr lang="da-DK" altLang="da-DK" b="1" dirty="0">
                <a:solidFill>
                  <a:srgbClr val="00454E"/>
                </a:solidFill>
                <a:latin typeface="Arial" panose="020B0604020202020204" pitchFamily="34" charset="0"/>
              </a:rPr>
              <a:t>én musikgenre</a:t>
            </a: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På anden post-it skriver i </a:t>
            </a:r>
            <a:r>
              <a:rPr lang="da-DK" altLang="da-DK" b="1" dirty="0">
                <a:solidFill>
                  <a:srgbClr val="00454E"/>
                </a:solidFill>
                <a:latin typeface="Arial" panose="020B0604020202020204" pitchFamily="34" charset="0"/>
              </a:rPr>
              <a:t>ét tema</a:t>
            </a:r>
            <a:endParaRPr lang="da-DK" altLang="da-DK" dirty="0">
              <a:solidFill>
                <a:srgbClr val="00454E"/>
              </a:solidFill>
              <a:latin typeface="Arial" panose="020B0604020202020204" pitchFamily="34" charset="0"/>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1</a:t>
            </a:r>
          </a:p>
        </p:txBody>
      </p:sp>
      <p:sp>
        <p:nvSpPr>
          <p:cNvPr id="8" name="Pladsholder til indhold 2">
            <a:extLst>
              <a:ext uri="{FF2B5EF4-FFF2-40B4-BE49-F238E27FC236}">
                <a16:creationId xmlns:a16="http://schemas.microsoft.com/office/drawing/2014/main" id="{5C77DF68-776E-4953-51F8-ECBC038DBB44}"/>
              </a:ext>
            </a:extLst>
          </p:cNvPr>
          <p:cNvSpPr txBox="1">
            <a:spLocks/>
          </p:cNvSpPr>
          <p:nvPr/>
        </p:nvSpPr>
        <p:spPr>
          <a:xfrm>
            <a:off x="1133529" y="3424844"/>
            <a:ext cx="6814086" cy="1233371"/>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Eksempler:</a:t>
            </a:r>
          </a:p>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Genre/Tema: Barokmusik og Klimakrise</a:t>
            </a:r>
          </a:p>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Genre/Tema: Hardcore techno og Barndomsminder</a:t>
            </a:r>
          </a:p>
        </p:txBody>
      </p:sp>
    </p:spTree>
    <p:extLst>
      <p:ext uri="{BB962C8B-B14F-4D97-AF65-F5344CB8AC3E}">
        <p14:creationId xmlns:p14="http://schemas.microsoft.com/office/powerpoint/2010/main" val="1574990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Musik</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21893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Opgaven:</a:t>
            </a:r>
          </a:p>
          <a:p>
            <a:pPr marL="25400" indent="0" eaLnBrk="0" fontAlgn="base" hangingPunct="0">
              <a:spcBef>
                <a:spcPct val="0"/>
              </a:spcBef>
              <a:spcAft>
                <a:spcPct val="0"/>
              </a:spcAft>
              <a:buClrTx/>
              <a:buSzTx/>
            </a:pPr>
            <a:r>
              <a:rPr lang="da-DK" altLang="da-DK" dirty="0">
                <a:solidFill>
                  <a:srgbClr val="00454E"/>
                </a:solidFill>
                <a:latin typeface="Arial" panose="020B0604020202020204" pitchFamily="34" charset="0"/>
              </a:rPr>
              <a:t>Generér et stykke musik</a:t>
            </a: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Træk én tilfældig genre og ét tilfældigt tema fra bunken af post‑</a:t>
            </a:r>
            <a:r>
              <a:rPr lang="da-DK" altLang="da-DK" dirty="0" err="1">
                <a:solidFill>
                  <a:srgbClr val="00454E"/>
                </a:solidFill>
                <a:latin typeface="Arial" panose="020B0604020202020204" pitchFamily="34" charset="0"/>
              </a:rPr>
              <a:t>its</a:t>
            </a:r>
            <a:endParaRPr lang="da-DK" altLang="da-DK" dirty="0">
              <a:solidFill>
                <a:srgbClr val="00454E"/>
              </a:solidFill>
              <a:latin typeface="Arial" panose="020B0604020202020204" pitchFamily="34" charset="0"/>
            </a:endParaRP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Brug kombinationen til at generere et stykke musik</a:t>
            </a: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Tilpas og justér musikstykket løbende</a:t>
            </a:r>
          </a:p>
          <a:p>
            <a:pPr marL="36830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Arbejd videre, indtil I er tilfredse med resultatet.</a:t>
            </a: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2</a:t>
            </a:r>
          </a:p>
        </p:txBody>
      </p:sp>
      <p:sp>
        <p:nvSpPr>
          <p:cNvPr id="3" name="Tekstfelt 2"/>
          <p:cNvSpPr txBox="1"/>
          <p:nvPr/>
        </p:nvSpPr>
        <p:spPr>
          <a:xfrm>
            <a:off x="5148775" y="1478126"/>
            <a:ext cx="3640975" cy="523220"/>
          </a:xfrm>
          <a:prstGeom prst="rect">
            <a:avLst/>
          </a:prstGeom>
          <a:noFill/>
        </p:spPr>
        <p:txBody>
          <a:bodyPr wrap="square" rtlCol="0">
            <a:spAutoFit/>
          </a:bodyPr>
          <a:lstStyle/>
          <a:p>
            <a:r>
              <a:rPr lang="en-US" dirty="0"/>
              <a:t>Link:</a:t>
            </a:r>
          </a:p>
          <a:p>
            <a:r>
              <a:rPr lang="en-US" dirty="0"/>
              <a:t>www.suno.com</a:t>
            </a:r>
          </a:p>
        </p:txBody>
      </p:sp>
    </p:spTree>
    <p:extLst>
      <p:ext uri="{BB962C8B-B14F-4D97-AF65-F5344CB8AC3E}">
        <p14:creationId xmlns:p14="http://schemas.microsoft.com/office/powerpoint/2010/main" val="5837177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Musik</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21893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Afspil jeres musikstykke for jeres sidemakker</a:t>
            </a:r>
          </a:p>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Fortæl kort om: Hvilken genre og hvilket tema I trak</a:t>
            </a:r>
          </a:p>
          <a:p>
            <a:pPr marL="311150" indent="-285750" eaLnBrk="0" fontAlgn="base" hangingPunct="0">
              <a:spcBef>
                <a:spcPct val="0"/>
              </a:spcBef>
              <a:spcAft>
                <a:spcPct val="0"/>
              </a:spcAft>
              <a:buClrTx/>
              <a:buSzTx/>
              <a:buFont typeface="Arial" panose="020B0604020202020204" pitchFamily="34" charset="0"/>
              <a:buChar char="•"/>
            </a:pPr>
            <a:r>
              <a:rPr lang="da-DK" altLang="da-DK" dirty="0">
                <a:solidFill>
                  <a:srgbClr val="00454E"/>
                </a:solidFill>
                <a:latin typeface="Arial" panose="020B0604020202020204" pitchFamily="34" charset="0"/>
              </a:rPr>
              <a:t>Hvordan I greb opgaven an</a:t>
            </a: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3</a:t>
            </a:r>
          </a:p>
        </p:txBody>
      </p:sp>
    </p:spTree>
    <p:extLst>
      <p:ext uri="{BB962C8B-B14F-4D97-AF65-F5344CB8AC3E}">
        <p14:creationId xmlns:p14="http://schemas.microsoft.com/office/powerpoint/2010/main" val="850380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Musik</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218933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11150" indent="-285750" eaLnBrk="0" fontAlgn="base" hangingPunct="0">
              <a:spcBef>
                <a:spcPct val="0"/>
              </a:spcBef>
              <a:spcAft>
                <a:spcPct val="0"/>
              </a:spcAft>
              <a:buClrTx/>
              <a:buSzTx/>
              <a:buFont typeface="Arial" panose="020B0604020202020204" pitchFamily="34" charset="0"/>
              <a:buChar char="•"/>
            </a:pPr>
            <a:endParaRPr lang="da-DK" altLang="da-DK" dirty="0">
              <a:solidFill>
                <a:srgbClr val="00454E"/>
              </a:solidFill>
              <a:latin typeface="Arial" panose="020B0604020202020204" pitchFamily="34" charset="0"/>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7283007" cy="646331"/>
          </a:xfrm>
          <a:prstGeom prst="rect">
            <a:avLst/>
          </a:prstGeom>
          <a:noFill/>
        </p:spPr>
        <p:txBody>
          <a:bodyPr wrap="square" rtlCol="0">
            <a:spAutoFit/>
          </a:bodyPr>
          <a:lstStyle/>
          <a:p>
            <a:r>
              <a:rPr lang="da-DK" sz="3600" i="1" dirty="0">
                <a:solidFill>
                  <a:srgbClr val="00454E"/>
                </a:solidFill>
              </a:rPr>
              <a:t>Del 4</a:t>
            </a:r>
          </a:p>
        </p:txBody>
      </p:sp>
      <p:sp>
        <p:nvSpPr>
          <p:cNvPr id="8"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229231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virkede?</a:t>
            </a:r>
          </a:p>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var udfordrende?</a:t>
            </a:r>
          </a:p>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vil i gøre anderledes?</a:t>
            </a:r>
          </a:p>
          <a:p>
            <a:pPr marL="311150" indent="-285750" eaLnBrk="0" fontAlgn="base" hangingPunct="0">
              <a:spcBef>
                <a:spcPct val="0"/>
              </a:spcBef>
              <a:spcAft>
                <a:spcPct val="0"/>
              </a:spcAft>
              <a:buClrTx/>
              <a:buSzTx/>
              <a:buFont typeface="Arial" panose="020B0604020202020204" pitchFamily="34" charset="0"/>
              <a:buChar char="•"/>
            </a:pPr>
            <a:r>
              <a:rPr lang="da-DK" altLang="da-DK" b="1" dirty="0">
                <a:solidFill>
                  <a:srgbClr val="00454E"/>
                </a:solidFill>
                <a:latin typeface="Arial" panose="020B0604020202020204" pitchFamily="34" charset="0"/>
              </a:rPr>
              <a:t>Hvad kan vi tage med videre?</a:t>
            </a:r>
          </a:p>
          <a:p>
            <a:pPr marL="311150" indent="-285750" eaLnBrk="0" fontAlgn="base" hangingPunct="0">
              <a:spcBef>
                <a:spcPct val="0"/>
              </a:spcBef>
              <a:spcAft>
                <a:spcPct val="0"/>
              </a:spcAft>
              <a:buClrTx/>
              <a:buSzTx/>
              <a:buFont typeface="Arial" panose="020B0604020202020204" pitchFamily="34" charset="0"/>
              <a:buChar char="•"/>
            </a:pPr>
            <a:endParaRPr lang="da-DK" dirty="0">
              <a:solidFill>
                <a:srgbClr val="00454E"/>
              </a:solidFill>
            </a:endParaRPr>
          </a:p>
        </p:txBody>
      </p:sp>
    </p:spTree>
    <p:extLst>
      <p:ext uri="{BB962C8B-B14F-4D97-AF65-F5344CB8AC3E}">
        <p14:creationId xmlns:p14="http://schemas.microsoft.com/office/powerpoint/2010/main" val="1187774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633C29-E4B4-5A42-8899-30A7F2B5E286}"/>
              </a:ext>
            </a:extLst>
          </p:cNvPr>
          <p:cNvSpPr>
            <a:spLocks noGrp="1"/>
          </p:cNvSpPr>
          <p:nvPr>
            <p:ph type="ctrTitle"/>
          </p:nvPr>
        </p:nvSpPr>
        <p:spPr>
          <a:xfrm>
            <a:off x="1164957" y="540690"/>
            <a:ext cx="6829800" cy="871854"/>
          </a:xfrm>
        </p:spPr>
        <p:txBody>
          <a:bodyPr/>
          <a:lstStyle/>
          <a:p>
            <a:r>
              <a:rPr lang="da-DK" dirty="0"/>
              <a:t>FORSIDE</a:t>
            </a:r>
          </a:p>
        </p:txBody>
      </p:sp>
      <p:sp>
        <p:nvSpPr>
          <p:cNvPr id="3" name="Undertitel 2">
            <a:extLst>
              <a:ext uri="{FF2B5EF4-FFF2-40B4-BE49-F238E27FC236}">
                <a16:creationId xmlns:a16="http://schemas.microsoft.com/office/drawing/2014/main" id="{240D8856-6628-0645-B612-8F670679791B}"/>
              </a:ext>
            </a:extLst>
          </p:cNvPr>
          <p:cNvSpPr>
            <a:spLocks noGrp="1"/>
          </p:cNvSpPr>
          <p:nvPr>
            <p:ph type="subTitle" idx="1"/>
          </p:nvPr>
        </p:nvSpPr>
        <p:spPr>
          <a:xfrm>
            <a:off x="1056187" y="3580552"/>
            <a:ext cx="6829800" cy="792600"/>
          </a:xfrm>
        </p:spPr>
        <p:txBody>
          <a:bodyPr/>
          <a:lstStyle/>
          <a:p>
            <a:r>
              <a:rPr lang="da-DK" sz="1400" dirty="0">
                <a:solidFill>
                  <a:schemeClr val="bg2"/>
                </a:solidFill>
              </a:rPr>
              <a:t>Dato -</a:t>
            </a:r>
          </a:p>
        </p:txBody>
      </p:sp>
    </p:spTree>
    <p:extLst>
      <p:ext uri="{BB962C8B-B14F-4D97-AF65-F5344CB8AC3E}">
        <p14:creationId xmlns:p14="http://schemas.microsoft.com/office/powerpoint/2010/main" val="11188647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Pladsholder til diasnummer 4"/>
          <p:cNvSpPr>
            <a:spLocks noGrp="1"/>
          </p:cNvSpPr>
          <p:nvPr>
            <p:ph type="sldNum" sz="quarter" idx="4294967295"/>
          </p:nvPr>
        </p:nvSpPr>
        <p:spPr>
          <a:xfrm>
            <a:off x="0" y="4673600"/>
            <a:ext cx="549275" cy="393700"/>
          </a:xfrm>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48</a:t>
            </a:fld>
            <a:endParaRPr lang="da-DK" sz="900" b="1" kern="1200" dirty="0">
              <a:solidFill>
                <a:srgbClr val="00454E"/>
              </a:solidFill>
              <a:ea typeface="+mn-ea"/>
              <a:cs typeface="Times New Roman"/>
            </a:endParaRPr>
          </a:p>
        </p:txBody>
      </p:sp>
      <p:sp>
        <p:nvSpPr>
          <p:cNvPr id="8" name="Titel 1">
            <a:extLst>
              <a:ext uri="{FF2B5EF4-FFF2-40B4-BE49-F238E27FC236}">
                <a16:creationId xmlns:a16="http://schemas.microsoft.com/office/drawing/2014/main" id="{2AF5F249-86EB-ACBE-9A19-9CCFC3EF3ACB}"/>
              </a:ext>
            </a:extLst>
          </p:cNvPr>
          <p:cNvSpPr txBox="1">
            <a:spLocks/>
          </p:cNvSpPr>
          <p:nvPr/>
        </p:nvSpPr>
        <p:spPr>
          <a:xfrm>
            <a:off x="1172894" y="707179"/>
            <a:ext cx="7886700" cy="82743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000" b="1" i="1" kern="1200" baseline="0">
                <a:solidFill>
                  <a:schemeClr val="bg1"/>
                </a:solidFill>
                <a:latin typeface="+mj-lt"/>
                <a:ea typeface="+mj-ea"/>
                <a:cs typeface="+mj-cs"/>
              </a:defRPr>
            </a:lvl1pPr>
          </a:lstStyle>
          <a:p>
            <a:r>
              <a:rPr lang="da-DK" dirty="0">
                <a:solidFill>
                  <a:srgbClr val="00454E"/>
                </a:solidFill>
                <a:latin typeface="Arial" panose="020B0604020202020204" pitchFamily="34" charset="0"/>
                <a:cs typeface="Arial" panose="020B0604020202020204" pitchFamily="34" charset="0"/>
              </a:rPr>
              <a:t>Struktur for dagene</a:t>
            </a:r>
          </a:p>
        </p:txBody>
      </p:sp>
      <p:pic>
        <p:nvPicPr>
          <p:cNvPr id="11" name="Picture 2" descr="Horisontal.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18251" y="4442790"/>
            <a:ext cx="1571995" cy="471600"/>
          </a:xfrm>
          <a:prstGeom prst="rect">
            <a:avLst/>
          </a:prstGeom>
          <a:noFill/>
          <a:extLst>
            <a:ext uri="{909E8E84-426E-40DD-AFC4-6F175D3DCCD1}">
              <a14:hiddenFill xmlns:a14="http://schemas.microsoft.com/office/drawing/2010/main">
                <a:solidFill>
                  <a:srgbClr val="FFFFFF"/>
                </a:solidFill>
              </a14:hiddenFill>
            </a:ext>
          </a:extLst>
        </p:spPr>
      </p:pic>
      <p:sp>
        <p:nvSpPr>
          <p:cNvPr id="12" name="Pladsholder til indhold 2">
            <a:extLst>
              <a:ext uri="{FF2B5EF4-FFF2-40B4-BE49-F238E27FC236}">
                <a16:creationId xmlns:a16="http://schemas.microsoft.com/office/drawing/2014/main" id="{4F7E25E1-D7A4-21B3-9B7A-B4336618C57D}"/>
              </a:ext>
            </a:extLst>
          </p:cNvPr>
          <p:cNvSpPr txBox="1">
            <a:spLocks/>
          </p:cNvSpPr>
          <p:nvPr/>
        </p:nvSpPr>
        <p:spPr>
          <a:xfrm>
            <a:off x="1172894" y="1534611"/>
            <a:ext cx="4222881" cy="28384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a:spcAft>
                <a:spcPts val="600"/>
              </a:spcAft>
              <a:buFont typeface="Arial" panose="020B0604020202020204" pitchFamily="34" charset="0"/>
              <a:buChar char="•"/>
            </a:pPr>
            <a:r>
              <a:rPr lang="da-DK" sz="1350" dirty="0"/>
              <a:t>10 minutter i par</a:t>
            </a:r>
          </a:p>
          <a:p>
            <a:pPr marL="342900">
              <a:spcAft>
                <a:spcPts val="600"/>
              </a:spcAft>
              <a:buFont typeface="Arial" panose="020B0604020202020204" pitchFamily="34" charset="0"/>
              <a:buChar char="•"/>
            </a:pPr>
            <a:r>
              <a:rPr lang="da-DK" sz="1350" dirty="0"/>
              <a:t>Hvad er dit forhold til-/viden om AI?</a:t>
            </a:r>
          </a:p>
        </p:txBody>
      </p:sp>
    </p:spTree>
    <p:extLst>
      <p:ext uri="{BB962C8B-B14F-4D97-AF65-F5344CB8AC3E}">
        <p14:creationId xmlns:p14="http://schemas.microsoft.com/office/powerpoint/2010/main" val="7846264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pPr defTabSz="685800">
              <a:buClrTx/>
              <a:defRPr/>
            </a:pPr>
            <a:endParaRPr lang="da-DK" sz="900" kern="1200" dirty="0">
              <a:solidFill>
                <a:srgbClr val="00454E"/>
              </a:solidFill>
              <a:ea typeface="+mn-ea"/>
              <a:cs typeface="Times New Roman"/>
            </a:endParaRPr>
          </a:p>
        </p:txBody>
      </p:sp>
      <p:sp>
        <p:nvSpPr>
          <p:cNvPr id="5" name="Pladsholder til diasnummer 4"/>
          <p:cNvSpPr>
            <a:spLocks noGrp="1"/>
          </p:cNvSpPr>
          <p:nvPr>
            <p:ph type="sldNum" sz="quarter" idx="11"/>
          </p:nvPr>
        </p:nvSpPr>
        <p:spPr/>
        <p:txBody>
          <a:bodyPr/>
          <a:lstStyle/>
          <a:p>
            <a:pPr algn="r" defTabSz="685800">
              <a:buClrTx/>
              <a:defRPr/>
            </a:pPr>
            <a:fld id="{5747CDE5-0717-48E4-9385-7C842E50026E}" type="slidenum">
              <a:rPr lang="da-DK" sz="900" b="1" kern="1200">
                <a:solidFill>
                  <a:srgbClr val="00454E"/>
                </a:solidFill>
                <a:ea typeface="+mn-ea"/>
                <a:cs typeface="Times New Roman"/>
              </a:rPr>
              <a:pPr algn="r" defTabSz="685800">
                <a:buClrTx/>
                <a:defRPr/>
              </a:pPr>
              <a:t>49</a:t>
            </a:fld>
            <a:endParaRPr lang="da-DK" sz="900" b="1" kern="1200" dirty="0">
              <a:solidFill>
                <a:srgbClr val="00454E"/>
              </a:solidFill>
              <a:ea typeface="+mn-ea"/>
              <a:cs typeface="Times New Roman"/>
            </a:endParaRPr>
          </a:p>
        </p:txBody>
      </p:sp>
      <p:sp>
        <p:nvSpPr>
          <p:cNvPr id="3" name="Pladsholder til indhold 2"/>
          <p:cNvSpPr>
            <a:spLocks noGrp="1"/>
          </p:cNvSpPr>
          <p:nvPr>
            <p:ph idx="1"/>
          </p:nvPr>
        </p:nvSpPr>
        <p:spPr>
          <a:xfrm>
            <a:off x="4720591" y="1102996"/>
            <a:ext cx="4222881" cy="3512102"/>
          </a:xfrm>
        </p:spPr>
        <p:txBody>
          <a:bodyPr>
            <a:normAutofit/>
          </a:bodyPr>
          <a:lstStyle/>
          <a:p>
            <a:pPr marL="342900">
              <a:spcAft>
                <a:spcPts val="600"/>
              </a:spcAft>
            </a:pPr>
            <a:r>
              <a:rPr lang="da-DK" sz="1350" dirty="0"/>
              <a:t>-</a:t>
            </a:r>
          </a:p>
        </p:txBody>
      </p:sp>
      <p:sp>
        <p:nvSpPr>
          <p:cNvPr id="2" name="Titel 1"/>
          <p:cNvSpPr>
            <a:spLocks noGrp="1"/>
          </p:cNvSpPr>
          <p:nvPr>
            <p:ph type="title"/>
          </p:nvPr>
        </p:nvSpPr>
        <p:spPr>
          <a:xfrm>
            <a:off x="646176" y="361358"/>
            <a:ext cx="8014887" cy="994172"/>
          </a:xfrm>
        </p:spPr>
        <p:txBody>
          <a:bodyPr/>
          <a:lstStyle/>
          <a:p>
            <a:r>
              <a:rPr lang="da-DK" b="1" i="1" dirty="0"/>
              <a:t>Papegøjer</a:t>
            </a:r>
          </a:p>
        </p:txBody>
      </p:sp>
    </p:spTree>
    <p:extLst>
      <p:ext uri="{BB962C8B-B14F-4D97-AF65-F5344CB8AC3E}">
        <p14:creationId xmlns:p14="http://schemas.microsoft.com/office/powerpoint/2010/main" val="3114263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65381-FB95-86A8-B2D2-4B7ED20DF1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3D7083-114E-A517-089F-386E42DECFC7}"/>
              </a:ext>
            </a:extLst>
          </p:cNvPr>
          <p:cNvSpPr>
            <a:spLocks noGrp="1"/>
          </p:cNvSpPr>
          <p:nvPr>
            <p:ph type="ctrTitle"/>
          </p:nvPr>
        </p:nvSpPr>
        <p:spPr>
          <a:xfrm>
            <a:off x="1180671" y="1661591"/>
            <a:ext cx="6829800" cy="910159"/>
          </a:xfrm>
        </p:spPr>
        <p:txBody>
          <a:bodyPr/>
          <a:lstStyle/>
          <a:p>
            <a:r>
              <a:rPr lang="da-DK" dirty="0"/>
              <a:t>Øvelse: </a:t>
            </a:r>
            <a:r>
              <a:rPr lang="da-DK" dirty="0" err="1"/>
              <a:t>Turing</a:t>
            </a:r>
            <a:br>
              <a:rPr lang="da-DK" dirty="0"/>
            </a:br>
            <a:br>
              <a:rPr lang="da-DK" dirty="0"/>
            </a:br>
            <a:endParaRPr lang="da-DK" dirty="0"/>
          </a:p>
        </p:txBody>
      </p:sp>
      <p:sp>
        <p:nvSpPr>
          <p:cNvPr id="6" name="Pladsholder til indhold 2">
            <a:extLst>
              <a:ext uri="{FF2B5EF4-FFF2-40B4-BE49-F238E27FC236}">
                <a16:creationId xmlns:a16="http://schemas.microsoft.com/office/drawing/2014/main" id="{5C77DF68-776E-4953-51F8-ECBC038DBB44}"/>
              </a:ext>
            </a:extLst>
          </p:cNvPr>
          <p:cNvSpPr txBox="1">
            <a:spLocks/>
          </p:cNvSpPr>
          <p:nvPr/>
        </p:nvSpPr>
        <p:spPr>
          <a:xfrm>
            <a:off x="1164957" y="2341102"/>
            <a:ext cx="6814086" cy="187920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9pPr>
          </a:lstStyle>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Gå sammen 2 og 2</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Få AI til at lave 10 spørgsmål</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Besvar selv 5 spørgsmål</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Lad AI besvare de andre 5</a:t>
            </a:r>
          </a:p>
          <a:p>
            <a:pPr marL="342900" lvl="0" eaLnBrk="0" fontAlgn="base" hangingPunct="0">
              <a:spcBef>
                <a:spcPct val="0"/>
              </a:spcBef>
              <a:spcAft>
                <a:spcPct val="0"/>
              </a:spcAft>
              <a:buClrTx/>
              <a:buSzTx/>
              <a:buFont typeface="+mj-lt"/>
              <a:buAutoNum type="arabicPeriod"/>
            </a:pPr>
            <a:r>
              <a:rPr lang="da-DK" altLang="da-DK" dirty="0">
                <a:solidFill>
                  <a:srgbClr val="00454E"/>
                </a:solidFill>
                <a:latin typeface="Arial" panose="020B0604020202020204" pitchFamily="34" charset="0"/>
              </a:rPr>
              <a:t> Bland alle 10 svar i vilkårlig rækkefølge</a:t>
            </a:r>
          </a:p>
          <a:p>
            <a:pPr>
              <a:buFont typeface="+mj-lt"/>
              <a:buAutoNum type="arabicPeriod"/>
            </a:pPr>
            <a:endParaRPr lang="da-DK" dirty="0">
              <a:solidFill>
                <a:srgbClr val="00454E"/>
              </a:solidFill>
            </a:endParaRPr>
          </a:p>
        </p:txBody>
      </p:sp>
      <p:sp>
        <p:nvSpPr>
          <p:cNvPr id="7" name="Rectangle 3">
            <a:extLst>
              <a:ext uri="{FF2B5EF4-FFF2-40B4-BE49-F238E27FC236}">
                <a16:creationId xmlns:a16="http://schemas.microsoft.com/office/drawing/2014/main" id="{1DB62C62-8429-F82E-0A97-DF5DAAC58B4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latin typeface="Arial" panose="020B0604020202020204" pitchFamily="34" charset="0"/>
            </a:endParaRPr>
          </a:p>
        </p:txBody>
      </p:sp>
      <p:sp>
        <p:nvSpPr>
          <p:cNvPr id="10" name="Tekstfelt 9">
            <a:extLst>
              <a:ext uri="{FF2B5EF4-FFF2-40B4-BE49-F238E27FC236}">
                <a16:creationId xmlns:a16="http://schemas.microsoft.com/office/drawing/2014/main" id="{030CACE3-50ED-B306-25EC-7D7D7FE624E7}"/>
              </a:ext>
            </a:extLst>
          </p:cNvPr>
          <p:cNvSpPr txBox="1"/>
          <p:nvPr/>
        </p:nvSpPr>
        <p:spPr>
          <a:xfrm>
            <a:off x="1164957" y="1678181"/>
            <a:ext cx="6224451" cy="646331"/>
          </a:xfrm>
          <a:prstGeom prst="rect">
            <a:avLst/>
          </a:prstGeom>
          <a:noFill/>
        </p:spPr>
        <p:txBody>
          <a:bodyPr wrap="square" rtlCol="0">
            <a:spAutoFit/>
          </a:bodyPr>
          <a:lstStyle/>
          <a:p>
            <a:r>
              <a:rPr lang="da-DK" sz="3600" i="1" dirty="0">
                <a:solidFill>
                  <a:srgbClr val="00454E"/>
                </a:solidFill>
              </a:rPr>
              <a:t>Del 1</a:t>
            </a:r>
          </a:p>
        </p:txBody>
      </p:sp>
    </p:spTree>
    <p:extLst>
      <p:ext uri="{BB962C8B-B14F-4D97-AF65-F5344CB8AC3E}">
        <p14:creationId xmlns:p14="http://schemas.microsoft.com/office/powerpoint/2010/main" val="3164841317"/>
      </p:ext>
    </p:extLst>
  </p:cSld>
  <p:clrMapOvr>
    <a:masterClrMapping/>
  </p:clrMapOvr>
</p:sld>
</file>

<file path=ppt/theme/theme1.xml><?xml version="1.0" encoding="utf-8"?>
<a:theme xmlns:a="http://schemas.openxmlformats.org/drawingml/2006/main" name="UCL">
  <a:themeElements>
    <a:clrScheme name="Simple Light">
      <a:dk1>
        <a:srgbClr val="000000"/>
      </a:dk1>
      <a:lt1>
        <a:srgbClr val="FFFFFF"/>
      </a:lt1>
      <a:dk2>
        <a:srgbClr val="00454E"/>
      </a:dk2>
      <a:lt2>
        <a:srgbClr val="C1D6D9"/>
      </a:lt2>
      <a:accent1>
        <a:srgbClr val="47B9B3"/>
      </a:accent1>
      <a:accent2>
        <a:srgbClr val="CAE4E3"/>
      </a:accent2>
      <a:accent3>
        <a:srgbClr val="9B3C7D"/>
      </a:accent3>
      <a:accent4>
        <a:srgbClr val="EE866F"/>
      </a:accent4>
      <a:accent5>
        <a:srgbClr val="F2CAC1"/>
      </a:accent5>
      <a:accent6>
        <a:srgbClr val="FAE76A"/>
      </a:accent6>
      <a:hlink>
        <a:srgbClr val="00454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3386</Words>
  <Application>Microsoft Office PowerPoint</Application>
  <PresentationFormat>Skærmshow (16:9)</PresentationFormat>
  <Paragraphs>492</Paragraphs>
  <Slides>50</Slides>
  <Notes>37</Notes>
  <HiddenSlides>4</HiddenSlides>
  <MMClips>0</MMClips>
  <ScaleCrop>false</ScaleCrop>
  <HeadingPairs>
    <vt:vector size="8" baseType="variant">
      <vt:variant>
        <vt:lpstr>Benyttede skrifttyper</vt:lpstr>
      </vt:variant>
      <vt:variant>
        <vt:i4>8</vt:i4>
      </vt:variant>
      <vt:variant>
        <vt:lpstr>Tema</vt:lpstr>
      </vt:variant>
      <vt:variant>
        <vt:i4>1</vt:i4>
      </vt:variant>
      <vt:variant>
        <vt:lpstr>Integrerede OLE-servere</vt:lpstr>
      </vt:variant>
      <vt:variant>
        <vt:i4>1</vt:i4>
      </vt:variant>
      <vt:variant>
        <vt:lpstr>Slidetitler</vt:lpstr>
      </vt:variant>
      <vt:variant>
        <vt:i4>50</vt:i4>
      </vt:variant>
    </vt:vector>
  </HeadingPairs>
  <TitlesOfParts>
    <vt:vector size="60" baseType="lpstr">
      <vt:lpstr>Proxima Nova Alt Rg</vt:lpstr>
      <vt:lpstr>Wingdings</vt:lpstr>
      <vt:lpstr>Calibri Light</vt:lpstr>
      <vt:lpstr>Noto Sans CJK SC</vt:lpstr>
      <vt:lpstr>Segoe UI</vt:lpstr>
      <vt:lpstr>Times New Roman</vt:lpstr>
      <vt:lpstr>Arial</vt:lpstr>
      <vt:lpstr>Calibri</vt:lpstr>
      <vt:lpstr>UCL</vt:lpstr>
      <vt:lpstr>Acrobat Document</vt:lpstr>
      <vt:lpstr>AI i praksis - Praktisk brug og sund skepsis</vt:lpstr>
      <vt:lpstr>PowerPoint-præsentation</vt:lpstr>
      <vt:lpstr>Prompt elementer: De 7 byggeblokke Oversigt</vt:lpstr>
      <vt:lpstr>Prompt elementer: De 7 byggeblokke Hvad er der i en bedre prompt?</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LLM Visualization</vt:lpstr>
      <vt:lpstr>AI’s IQ</vt:lpstr>
      <vt:lpstr>PowerPoint-præsentation</vt:lpstr>
      <vt:lpstr>PowerPoint-præsentation</vt:lpstr>
      <vt:lpstr>Resten af dagen i dag</vt:lpstr>
      <vt:lpstr>Hvorfor skal vi det? - og hvordan?</vt:lpstr>
      <vt:lpstr>Øvelse: Billeder  </vt:lpstr>
      <vt:lpstr>Øvelse: Billeder  </vt:lpstr>
      <vt:lpstr>Øvelse: Billeder  </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Hvad kan AI?</vt:lpstr>
      <vt:lpstr>Hvad kan vi så bruge det til?</vt:lpstr>
      <vt:lpstr>Øvelse: Musik  </vt:lpstr>
      <vt:lpstr>Øvelse: Musik  </vt:lpstr>
      <vt:lpstr>Øvelse: Musik  </vt:lpstr>
      <vt:lpstr>Øvelse: Musik  </vt:lpstr>
      <vt:lpstr>FORSIDE</vt:lpstr>
      <vt:lpstr>PowerPoint-præsentation</vt:lpstr>
      <vt:lpstr>Papegøjer</vt:lpstr>
      <vt:lpstr>Øvelse: Turing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Omlægning til blended learning</dc:title>
  <dc:creator>Kim Hass Rubin</dc:creator>
  <cp:lastModifiedBy>Jesper Qvist</cp:lastModifiedBy>
  <cp:revision>192</cp:revision>
  <dcterms:modified xsi:type="dcterms:W3CDTF">2026-09-07T10:56:49Z</dcterms:modified>
</cp:coreProperties>
</file>